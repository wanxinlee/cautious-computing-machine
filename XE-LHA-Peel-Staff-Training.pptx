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 简介" id="{a64e8ec0-6a5c-9ed4-1a2e-26f3d2e4f4cb}">
          <p14:sldIdLst>
            <p14:sldId id="256"/>
            <p14:sldId id="257"/>
          </p14:sldIdLst>
        </p14:section>
        <p14:section name="Product 产品" id="{ed305c95-f6a6-b071-5d78-e52089995f7c}">
          <p14:sldIdLst>
            <p14:sldId id="258"/>
            <p14:sldId id="259"/>
            <p14:sldId id="260"/>
            <p14:sldId id="261"/>
          </p14:sldIdLst>
        </p14:section>
        <p14:section name="Procedure 操作流程" id="{57ec2797-440d-3fd5-6ad7-05d0815dcf69}">
          <p14:sldIdLst>
            <p14:sldId id="262"/>
            <p14:sldId id="263"/>
            <p14:sldId id="264"/>
          </p14:sldIdLst>
        </p14:section>
        <p14:section name="Safety 安全" id="{3ca879e4-a6aa-61ee-a355-0069577d283e}">
          <p14:sldIdLst>
            <p14:sldId id="265"/>
            <p14:sldId id="266"/>
            <p14:sldId id="267"/>
          </p14:sldIdLst>
        </p14:section>
        <p14:section name="Reference 参考" id="{124f72c6-1329-30c4-1c14-db64dade3d3a}">
          <p14:sldIdLst>
            <p14:sldId id="268"/>
            <p14:sldId id="269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5665C"/>
                </a:solidFill>
              </a:rPr>
              <a:t>XE‑LHA Peel  ·  员工培训 Staff Training  ·  Internal use 内部资料</a:t>
            </a:r>
            <a:endParaRPr lang="en-US" sz="1000" dirty="0"/>
          </a:p>
        </p:txBody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2F4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3.xml"/><Relationship Id="rId8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circle 1"/>
          <p:cNvSpPr/>
          <p:nvPr/>
        </p:nvSpPr>
        <p:spPr>
          <a:xfrm>
            <a:off x="7498080" y="-1463040"/>
            <a:ext cx="5852160" cy="5852160"/>
          </a:xfrm>
          <a:prstGeom prst="ellipse">
            <a:avLst/>
          </a:prstGeom>
          <a:solidFill>
            <a:srgbClr val="3D5F4A"/>
          </a:solidFill>
          <a:ln/>
        </p:spPr>
      </p:sp>
      <p:sp>
        <p:nvSpPr>
          <p:cNvPr id="3" name="deco circle 2"/>
          <p:cNvSpPr/>
          <p:nvPr/>
        </p:nvSpPr>
        <p:spPr>
          <a:xfrm>
            <a:off x="5394960" y="4206240"/>
            <a:ext cx="3291840" cy="3291840"/>
          </a:xfrm>
          <a:prstGeom prst="ellipse">
            <a:avLst/>
          </a:prstGeom>
          <a:solidFill>
            <a:srgbClr val="3A5846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8229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A9D3B0"/>
                </a:solidFill>
              </a:rPr>
              <a:t>INTERNAL TRAINING  内部培训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1371600"/>
            <a:ext cx="6583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chemeClr val="bg1"/>
                </a:solidFill>
              </a:rPr>
              <a:t>XE‑LHA PEEL</a:t>
            </a:r>
            <a:endParaRPr lang="en-US" sz="5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3172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韩国温和焕肤疗程</a:t>
            </a:r>
            <a:endParaRPr lang="en-US" sz="3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06324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CFE0D2"/>
                </a:solidFill>
              </a:rPr>
              <a:t>Korean Gentle Skin Peel Treatment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393192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员工实操 &amp; 销售话术培训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600" dirty="0">
                <a:solidFill>
                  <a:srgbClr val="CFE0D2"/>
                </a:solidFill>
              </a:rPr>
              <a:t>Therapist Practical &amp; Sales Training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530352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FE0D2"/>
                </a:solidFill>
              </a:rPr>
              <a:t>门店 Salon: ______________________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rgbClr val="CFE0D2"/>
                </a:solidFill>
              </a:rPr>
              <a:t>培训日期 Date: ____________________</a:t>
            </a:r>
            <a:endParaRPr lang="en-US" sz="1400" dirty="0"/>
          </a:p>
        </p:txBody>
      </p:sp>
      <p:sp>
        <p:nvSpPr>
          <p:cNvPr id="10" name="product photo placeholder"/>
          <p:cNvSpPr/>
          <p:nvPr/>
        </p:nvSpPr>
        <p:spPr>
          <a:xfrm>
            <a:off x="7772400" y="1371600"/>
            <a:ext cx="3840480" cy="4480560"/>
          </a:xfrm>
          <a:prstGeom prst="roundRect">
            <a:avLst>
              <a:gd name="adj" fmla="val 4762"/>
            </a:avLst>
          </a:prstGeom>
          <a:solidFill>
            <a:srgbClr val="EEF4EC"/>
          </a:solidFill>
          <a:ln w="25400">
            <a:solidFill>
              <a:srgbClr val="8FB996"/>
            </a:solidFill>
            <a:prstDash val="dash"/>
          </a:ln>
        </p:spPr>
      </p:sp>
      <p:sp>
        <p:nvSpPr>
          <p:cNvPr id="11" name="camera bg"/>
          <p:cNvSpPr/>
          <p:nvPr/>
        </p:nvSpPr>
        <p:spPr>
          <a:xfrm>
            <a:off x="9144000" y="2743200"/>
            <a:ext cx="1097280" cy="1097280"/>
          </a:xfrm>
          <a:prstGeom prst="ellipse">
            <a:avLst/>
          </a:prstGeom>
          <a:solidFill>
            <a:srgbClr val="4F8559"/>
          </a:solidFill>
          <a:ln/>
        </p:spPr>
      </p:sp>
      <p:pic>
        <p:nvPicPr>
          <p:cNvPr id="12" name="camera" descr="camer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29293" y="3028493"/>
            <a:ext cx="526694" cy="526694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8046720" y="4023360"/>
            <a:ext cx="3291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插入 XE‑LHA Peel 产品套盒实拍图</a:t>
            </a:r>
            <a:endParaRPr lang="en-US" sz="14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Insert product set photo here</a:t>
            </a:r>
            <a:endParaRPr lang="en-US" sz="1400" dirty="0"/>
          </a:p>
        </p:txBody>
      </p:sp>
      <p:sp>
        <p:nvSpPr>
          <p:cNvPr id="14" name="Text 0"/>
          <p:cNvSpPr/>
          <p:nvPr>
            <p:ph idx="100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endParaRPr lang="en-US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of Contents</a:t>
            </a:r>
            <a:endParaRPr lang="en-US" sz="3000" dirty="0"/>
          </a:p>
        </p:txBody>
      </p:sp>
      <p:sp>
        <p:nvSpPr>
          <p:cNvPr id="3" name="toc card 1"/>
          <p:cNvSpPr/>
          <p:nvPr/>
        </p:nvSpPr>
        <p:spPr>
          <a:xfrm>
            <a:off x="457200" y="1508760"/>
            <a:ext cx="54864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4" name="num 1"/>
          <p:cNvSpPr txBox="1"/>
          <p:nvPr/>
        </p:nvSpPr>
        <p:spPr>
          <a:xfrm>
            <a:off x="640080" y="1682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6184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项目简介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What is XE‑LHA Peel</a:t>
            </a:r>
            <a:endParaRPr lang="en-US" sz="1600" dirty="0"/>
          </a:p>
        </p:txBody>
      </p:sp>
      <p:sp>
        <p:nvSpPr>
          <p:cNvPr id="6" name="toc card 2"/>
          <p:cNvSpPr/>
          <p:nvPr/>
        </p:nvSpPr>
        <p:spPr>
          <a:xfrm>
            <a:off x="457200" y="2450592"/>
            <a:ext cx="54864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7" name="num 2"/>
          <p:cNvSpPr txBox="1"/>
          <p:nvPr/>
        </p:nvSpPr>
        <p:spPr>
          <a:xfrm>
            <a:off x="640080" y="2624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280160" y="2560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核心成分与焕肤原理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Key Ingredients &amp; Working Principle</a:t>
            </a:r>
            <a:endParaRPr lang="en-US" sz="1600" dirty="0"/>
          </a:p>
        </p:txBody>
      </p:sp>
      <p:sp>
        <p:nvSpPr>
          <p:cNvPr id="9" name="toc card 3"/>
          <p:cNvSpPr/>
          <p:nvPr/>
        </p:nvSpPr>
        <p:spPr>
          <a:xfrm>
            <a:off x="457200" y="3392424"/>
            <a:ext cx="54864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0" name="num 3"/>
          <p:cNvSpPr txBox="1"/>
          <p:nvPr/>
        </p:nvSpPr>
        <p:spPr>
          <a:xfrm>
            <a:off x="640080" y="3566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35021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功效与可改善的皮肤问题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Skin Benefits</a:t>
            </a:r>
            <a:endParaRPr lang="en-US" sz="1600" dirty="0"/>
          </a:p>
        </p:txBody>
      </p:sp>
      <p:sp>
        <p:nvSpPr>
          <p:cNvPr id="12" name="toc card 4"/>
          <p:cNvSpPr/>
          <p:nvPr/>
        </p:nvSpPr>
        <p:spPr>
          <a:xfrm>
            <a:off x="457200" y="4334256"/>
            <a:ext cx="54864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3" name="num 4"/>
          <p:cNvSpPr txBox="1"/>
          <p:nvPr/>
        </p:nvSpPr>
        <p:spPr>
          <a:xfrm>
            <a:off x="640080" y="45079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280160" y="44439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标准操作流程（SOP）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Standard Operating Procedure</a:t>
            </a:r>
            <a:endParaRPr lang="en-US" sz="1600" dirty="0"/>
          </a:p>
        </p:txBody>
      </p:sp>
      <p:sp>
        <p:nvSpPr>
          <p:cNvPr id="15" name="toc card 5"/>
          <p:cNvSpPr/>
          <p:nvPr/>
        </p:nvSpPr>
        <p:spPr>
          <a:xfrm>
            <a:off x="457200" y="5276088"/>
            <a:ext cx="54864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6" name="num 5"/>
          <p:cNvSpPr txBox="1"/>
          <p:nvPr/>
        </p:nvSpPr>
        <p:spPr>
          <a:xfrm>
            <a:off x="640080" y="54498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53858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疗程周期与维护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Treatment Cycle &amp; Maintenance</a:t>
            </a:r>
            <a:endParaRPr lang="en-US" sz="1600" dirty="0"/>
          </a:p>
        </p:txBody>
      </p:sp>
      <p:sp>
        <p:nvSpPr>
          <p:cNvPr id="18" name="toc card 6"/>
          <p:cNvSpPr/>
          <p:nvPr/>
        </p:nvSpPr>
        <p:spPr>
          <a:xfrm>
            <a:off x="6217920" y="1508760"/>
            <a:ext cx="54864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19" name="num 6"/>
          <p:cNvSpPr txBox="1"/>
          <p:nvPr/>
        </p:nvSpPr>
        <p:spPr>
          <a:xfrm>
            <a:off x="6400800" y="168249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6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1618488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术前咨询与禁忌症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Consultation &amp; Contraindications</a:t>
            </a:r>
            <a:endParaRPr lang="en-US" sz="1600" dirty="0"/>
          </a:p>
        </p:txBody>
      </p:sp>
      <p:sp>
        <p:nvSpPr>
          <p:cNvPr id="21" name="toc card 7"/>
          <p:cNvSpPr/>
          <p:nvPr/>
        </p:nvSpPr>
        <p:spPr>
          <a:xfrm>
            <a:off x="6217920" y="2450592"/>
            <a:ext cx="54864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2" name="num 7"/>
          <p:cNvSpPr txBox="1"/>
          <p:nvPr/>
        </p:nvSpPr>
        <p:spPr>
          <a:xfrm>
            <a:off x="6400800" y="262432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7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7040880" y="2560320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术后护理与居家建议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After‑care &amp; Home Advice</a:t>
            </a:r>
            <a:endParaRPr lang="en-US" sz="1600" dirty="0"/>
          </a:p>
        </p:txBody>
      </p:sp>
      <p:sp>
        <p:nvSpPr>
          <p:cNvPr id="24" name="toc card 8"/>
          <p:cNvSpPr/>
          <p:nvPr/>
        </p:nvSpPr>
        <p:spPr>
          <a:xfrm>
            <a:off x="6217920" y="3392424"/>
            <a:ext cx="54864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5" name="num 8"/>
          <p:cNvSpPr txBox="1"/>
          <p:nvPr/>
        </p:nvSpPr>
        <p:spPr>
          <a:xfrm>
            <a:off x="6400800" y="35661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8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040880" y="3502152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异常状况处理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Side Effects &amp; Emergency Handling</a:t>
            </a:r>
            <a:endParaRPr lang="en-US" sz="1600" dirty="0"/>
          </a:p>
        </p:txBody>
      </p:sp>
      <p:sp>
        <p:nvSpPr>
          <p:cNvPr id="27" name="toc card 9"/>
          <p:cNvSpPr/>
          <p:nvPr/>
        </p:nvSpPr>
        <p:spPr>
          <a:xfrm>
            <a:off x="6217920" y="4334256"/>
            <a:ext cx="54864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28" name="num 9"/>
          <p:cNvSpPr txBox="1"/>
          <p:nvPr/>
        </p:nvSpPr>
        <p:spPr>
          <a:xfrm>
            <a:off x="6400800" y="4507992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9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040880" y="4443984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客户前后案例对比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Before &amp; After Gallery</a:t>
            </a:r>
            <a:endParaRPr lang="en-US" sz="1600" dirty="0"/>
          </a:p>
        </p:txBody>
      </p:sp>
      <p:sp>
        <p:nvSpPr>
          <p:cNvPr id="30" name="toc card 10"/>
          <p:cNvSpPr/>
          <p:nvPr/>
        </p:nvSpPr>
        <p:spPr>
          <a:xfrm>
            <a:off x="6217920" y="5276088"/>
            <a:ext cx="5486400" cy="804672"/>
          </a:xfrm>
          <a:prstGeom prst="roundRect">
            <a:avLst>
              <a:gd name="adj" fmla="val 13636"/>
            </a:avLst>
          </a:prstGeom>
          <a:solidFill>
            <a:schemeClr val="bg2"/>
          </a:solidFill>
          <a:ln/>
        </p:spPr>
      </p:sp>
      <p:sp>
        <p:nvSpPr>
          <p:cNvPr id="31" name="num 10"/>
          <p:cNvSpPr txBox="1"/>
          <p:nvPr/>
        </p:nvSpPr>
        <p:spPr>
          <a:xfrm>
            <a:off x="6400800" y="544982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10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7040880" y="5385816"/>
            <a:ext cx="4480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美疗师常见问答 FAQ</a:t>
            </a:r>
            <a:endParaRPr lang="en-US" sz="16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Frequently Asked Questions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项目简介｜什么是 XE‑LHA Peel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XE‑LHA Peel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11247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XE‑LHA Peel 来自韩国，是第四代无脱皮温和焕肤，区别于传统果酸、水杨酸焕肤</a:t>
            </a:r>
            <a:endParaRPr lang="en-US" sz="16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A 4th‑generation gentle peeling solution developed in Korea — different from traditional AHA / BHA chemical peels.</a:t>
            </a:r>
            <a:endParaRPr lang="en-US" sz="1600" dirty="0"/>
          </a:p>
        </p:txBody>
      </p:sp>
      <p:sp>
        <p:nvSpPr>
          <p:cNvPr id="4" name="feature card 1"/>
          <p:cNvSpPr/>
          <p:nvPr/>
        </p:nvSpPr>
        <p:spPr>
          <a:xfrm>
            <a:off x="457200" y="2423160"/>
            <a:ext cx="35661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5" name="feature icon 1 bg"/>
          <p:cNvSpPr/>
          <p:nvPr/>
        </p:nvSpPr>
        <p:spPr>
          <a:xfrm>
            <a:off x="685800" y="2651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feature icon 1" descr="feature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4108" y="283006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50876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低刺激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Low irritation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685800" y="35204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几乎无结痂、无明显脱皮、几乎没有恢复期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Minimal peeling, little‑to‑zero downtime</a:t>
            </a:r>
            <a:endParaRPr lang="en-US" sz="1400" dirty="0"/>
          </a:p>
        </p:txBody>
      </p:sp>
      <p:sp>
        <p:nvSpPr>
          <p:cNvPr id="9" name="feature card 2"/>
          <p:cNvSpPr/>
          <p:nvPr/>
        </p:nvSpPr>
        <p:spPr>
          <a:xfrm>
            <a:off x="4297680" y="2423160"/>
            <a:ext cx="35661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0" name="feature icon 2 bg"/>
          <p:cNvSpPr/>
          <p:nvPr/>
        </p:nvSpPr>
        <p:spPr>
          <a:xfrm>
            <a:off x="4526280" y="2651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feature icon 2" descr="feature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04588" y="2830068"/>
            <a:ext cx="329184" cy="32918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34924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修护屏障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Repairs the barrier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4526280" y="35204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焕肤同时修护皮肤屏障，越做耐受度越好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Exfoliates while repairing the barrier; skin gets healthier with regular sessions</a:t>
            </a:r>
            <a:endParaRPr lang="en-US" sz="1400" dirty="0"/>
          </a:p>
        </p:txBody>
      </p:sp>
      <p:sp>
        <p:nvSpPr>
          <p:cNvPr id="14" name="feature card 3"/>
          <p:cNvSpPr/>
          <p:nvPr/>
        </p:nvSpPr>
        <p:spPr>
          <a:xfrm>
            <a:off x="8138160" y="2423160"/>
            <a:ext cx="3566160" cy="2377440"/>
          </a:xfrm>
          <a:prstGeom prst="roundRect">
            <a:avLst>
              <a:gd name="adj" fmla="val 4615"/>
            </a:avLst>
          </a:prstGeom>
          <a:solidFill>
            <a:schemeClr val="bg2"/>
          </a:solidFill>
          <a:ln/>
        </p:spPr>
      </p:sp>
      <p:sp>
        <p:nvSpPr>
          <p:cNvPr id="15" name="feature icon 3 bg"/>
          <p:cNvSpPr/>
          <p:nvPr/>
        </p:nvSpPr>
        <p:spPr>
          <a:xfrm>
            <a:off x="8366760" y="265176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6" name="feature icon 3" descr="feature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068" y="2830068"/>
            <a:ext cx="329184" cy="329184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9189720" y="2697480"/>
            <a:ext cx="23774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适合亚洲肤质</a:t>
            </a:r>
            <a:endParaRPr lang="en-US" sz="17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Suits Asian skin &amp; climate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8366760" y="3520440"/>
            <a:ext cx="3108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非常适合湿热气候，敏感肌经评估也可操作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Ideal for humid tropical weather; sensitive skin after skin assessment</a:t>
            </a:r>
            <a:endParaRPr lang="en-US" sz="1400" dirty="0"/>
          </a:p>
        </p:txBody>
      </p:sp>
      <p:sp>
        <p:nvSpPr>
          <p:cNvPr id="19" name="patent banner"/>
          <p:cNvSpPr/>
          <p:nvPr/>
        </p:nvSpPr>
        <p:spPr>
          <a:xfrm>
            <a:off x="457200" y="5029200"/>
            <a:ext cx="11247120" cy="1188720"/>
          </a:xfrm>
          <a:prstGeom prst="roundRect">
            <a:avLst>
              <a:gd name="adj" fmla="val 9231"/>
            </a:avLst>
          </a:prstGeom>
          <a:solidFill>
            <a:schemeClr val="tx2"/>
          </a:solidFill>
          <a:ln/>
        </p:spPr>
      </p:sp>
      <p:sp>
        <p:nvSpPr>
          <p:cNvPr id="20" name="patent icon bg"/>
          <p:cNvSpPr/>
          <p:nvPr/>
        </p:nvSpPr>
        <p:spPr>
          <a:xfrm>
            <a:off x="731520" y="534924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1" name="patent icon" descr="patent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166" y="5491886"/>
            <a:ext cx="263347" cy="263347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1508760" y="516636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核心专利：Youth P‑Sol™ 橄榄油天然焕肤系统 — 温和代谢老废角质，不伤健康表皮细胞</a:t>
            </a:r>
            <a:endParaRPr lang="en-US" sz="15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CFE0D2"/>
                </a:solidFill>
              </a:rPr>
              <a:t>Patented Youth P‑Sol™ natural peeling complex derived from olive oil — selectively removes dead keratin without harming healthy skin cells.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核心成分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Ingredients</a:t>
            </a:r>
            <a:endParaRPr lang="en-US" sz="3000" dirty="0"/>
          </a:p>
        </p:txBody>
      </p:sp>
      <p:sp>
        <p:nvSpPr>
          <p:cNvPr id="3" name="ingredient card 1"/>
          <p:cNvSpPr/>
          <p:nvPr/>
        </p:nvSpPr>
        <p:spPr>
          <a:xfrm>
            <a:off x="457200" y="1417320"/>
            <a:ext cx="4754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4" name="num 1"/>
          <p:cNvSpPr txBox="1"/>
          <p:nvPr/>
        </p:nvSpPr>
        <p:spPr>
          <a:xfrm>
            <a:off x="685800" y="1645920"/>
            <a:ext cx="548640" cy="54864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1417320" y="160020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LHA 脂羟基酸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水杨酸衍生物 (salicylic acid derivative)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亲脂性，钻进毛孔溶解油脂、黑头、老废角质，疏通毛孔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Lipohydroxy Acid — lipophilic: unclogs pores, dissolves sebum, blackheads &amp; dead skin</a:t>
            </a:r>
            <a:endParaRPr lang="en-US" sz="1500" dirty="0"/>
          </a:p>
        </p:txBody>
      </p:sp>
      <p:sp>
        <p:nvSpPr>
          <p:cNvPr id="6" name="ingredient card 2"/>
          <p:cNvSpPr/>
          <p:nvPr/>
        </p:nvSpPr>
        <p:spPr>
          <a:xfrm>
            <a:off x="6976872" y="1417320"/>
            <a:ext cx="4754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7" name="num 2"/>
          <p:cNvSpPr txBox="1"/>
          <p:nvPr/>
        </p:nvSpPr>
        <p:spPr>
          <a:xfrm>
            <a:off x="7205472" y="1645920"/>
            <a:ext cx="548640" cy="548640"/>
          </a:xfrm>
          <a:prstGeom prst="ellipse">
            <a:avLst/>
          </a:prstGeom>
          <a:solidFill>
            <a:schemeClr val="accent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7936992" y="160020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Youth P‑Sol™ 专利成分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橄榄、椰子油脂萃取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降低酸类刺激，激活成纤维细胞，修护屏障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Olive &amp; coconut lipid extract — reduces irritation, boosts fibroblast activity, repairs the barrier</a:t>
            </a:r>
            <a:endParaRPr lang="en-US" sz="1500" dirty="0"/>
          </a:p>
        </p:txBody>
      </p:sp>
      <p:sp>
        <p:nvSpPr>
          <p:cNvPr id="9" name="ingredient card 3"/>
          <p:cNvSpPr/>
          <p:nvPr/>
        </p:nvSpPr>
        <p:spPr>
          <a:xfrm>
            <a:off x="457200" y="3657600"/>
            <a:ext cx="4754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0" name="num 3"/>
          <p:cNvSpPr txBox="1"/>
          <p:nvPr/>
        </p:nvSpPr>
        <p:spPr>
          <a:xfrm>
            <a:off x="685800" y="3886200"/>
            <a:ext cx="548640" cy="548640"/>
          </a:xfrm>
          <a:prstGeom prst="ellipse">
            <a:avLst/>
          </a:prstGeom>
          <a:solidFill>
            <a:schemeClr val="accent4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8404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DactorTec™ KIS 益生菌发酵物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Probiotic complex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调理皮肤微生态，改善泛红、易敏肤质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Balances the skin microbiome; reduces redness &amp; sensitivity</a:t>
            </a:r>
            <a:endParaRPr lang="en-US" sz="1500" dirty="0"/>
          </a:p>
        </p:txBody>
      </p:sp>
      <p:sp>
        <p:nvSpPr>
          <p:cNvPr id="12" name="ingredient card 4"/>
          <p:cNvSpPr/>
          <p:nvPr/>
        </p:nvSpPr>
        <p:spPr>
          <a:xfrm>
            <a:off x="6976872" y="3657600"/>
            <a:ext cx="4754880" cy="2103120"/>
          </a:xfrm>
          <a:prstGeom prst="roundRect">
            <a:avLst>
              <a:gd name="adj" fmla="val 5217"/>
            </a:avLst>
          </a:prstGeom>
          <a:solidFill>
            <a:schemeClr val="bg2"/>
          </a:solidFill>
          <a:ln/>
        </p:spPr>
      </p:sp>
      <p:sp>
        <p:nvSpPr>
          <p:cNvPr id="13" name="num 4"/>
          <p:cNvSpPr txBox="1"/>
          <p:nvPr/>
        </p:nvSpPr>
        <p:spPr>
          <a:xfrm>
            <a:off x="7205472" y="388620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7936992" y="3840480"/>
            <a:ext cx="3657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500" b="1" dirty="0">
                <a:solidFill>
                  <a:schemeClr val="tx2"/>
                </a:solidFill>
              </a:rPr>
              <a:t>Rucinol 丁基间苯二酚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4‑Butylresorcinol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高效抑黑，改善暗沉、痘印、色素沉淀，提亮肤色</a:t>
            </a:r>
            <a:endParaRPr lang="en-US" sz="15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Powerful brightening: fades acne marks &amp; pigmentation</a:t>
            </a:r>
            <a:endParaRPr lang="en-US" sz="1500" dirty="0"/>
          </a:p>
        </p:txBody>
      </p:sp>
      <p:sp>
        <p:nvSpPr>
          <p:cNvPr id="15" name="hub"/>
          <p:cNvSpPr/>
          <p:nvPr/>
        </p:nvSpPr>
        <p:spPr>
          <a:xfrm>
            <a:off x="5413248" y="2880360"/>
            <a:ext cx="1371600" cy="1371600"/>
          </a:xfrm>
          <a:prstGeom prst="ellipse">
            <a:avLst/>
          </a:prstGeom>
          <a:solidFill>
            <a:schemeClr val="tx2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13248" y="288036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XE‑LHA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Peel</a:t>
            </a:r>
            <a:endParaRPr lang="en-US" sz="1600" dirty="0"/>
          </a:p>
        </p:txBody>
      </p:sp>
      <p:sp>
        <p:nvSpPr>
          <p:cNvPr id="17" name="formula note"/>
          <p:cNvSpPr/>
          <p:nvPr/>
        </p:nvSpPr>
        <p:spPr>
          <a:xfrm>
            <a:off x="457200" y="5897880"/>
            <a:ext cx="11247120" cy="457200"/>
          </a:xfrm>
          <a:prstGeom prst="roundRect">
            <a:avLst>
              <a:gd name="adj" fmla="val 24000"/>
            </a:avLst>
          </a:prstGeom>
          <a:solidFill>
            <a:schemeClr val="accent5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89788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配方特点：焕肤 + 修护二合一，不是单纯剥脱角质   </a:t>
            </a:r>
            <a:pPr indent="0" marL="0">
              <a:buNone/>
            </a:pPr>
            <a:r>
              <a:rPr lang="en-US" sz="1400" dirty="0">
                <a:solidFill>
                  <a:srgbClr val="55665C"/>
                </a:solidFill>
              </a:rPr>
              <a:t>Exfoliation + barrier repair in one step — not just peeling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作用原理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Principle</a:t>
            </a:r>
            <a:endParaRPr lang="en-US" sz="3000" dirty="0"/>
          </a:p>
        </p:txBody>
      </p:sp>
      <p:sp>
        <p:nvSpPr>
          <p:cNvPr id="3" name="layer stratum corneum"/>
          <p:cNvSpPr/>
          <p:nvPr/>
        </p:nvSpPr>
        <p:spPr>
          <a:xfrm>
            <a:off x="457200" y="1417320"/>
            <a:ext cx="4389120" cy="685800"/>
          </a:xfrm>
          <a:prstGeom prst="rect">
            <a:avLst/>
          </a:prstGeom>
          <a:solidFill>
            <a:srgbClr val="D8B98C"/>
          </a:solidFill>
          <a:ln/>
        </p:spPr>
      </p:sp>
      <p:sp>
        <p:nvSpPr>
          <p:cNvPr id="4" name="layer epidermis"/>
          <p:cNvSpPr/>
          <p:nvPr/>
        </p:nvSpPr>
        <p:spPr>
          <a:xfrm>
            <a:off x="457200" y="2103120"/>
            <a:ext cx="4389120" cy="1188720"/>
          </a:xfrm>
          <a:prstGeom prst="rect">
            <a:avLst/>
          </a:prstGeom>
          <a:solidFill>
            <a:srgbClr val="F2C4A8"/>
          </a:solidFill>
          <a:ln/>
        </p:spPr>
      </p:sp>
      <p:sp>
        <p:nvSpPr>
          <p:cNvPr id="5" name="layer dermis"/>
          <p:cNvSpPr/>
          <p:nvPr/>
        </p:nvSpPr>
        <p:spPr>
          <a:xfrm>
            <a:off x="457200" y="3291840"/>
            <a:ext cx="4389120" cy="1874520"/>
          </a:xfrm>
          <a:prstGeom prst="rect">
            <a:avLst/>
          </a:prstGeom>
          <a:solidFill>
            <a:srgbClr val="E69D8E"/>
          </a:solidFill>
          <a:ln/>
        </p:spPr>
      </p:sp>
      <p:sp>
        <p:nvSpPr>
          <p:cNvPr id="6" name="pore"/>
          <p:cNvSpPr/>
          <p:nvPr/>
        </p:nvSpPr>
        <p:spPr>
          <a:xfrm>
            <a:off x="3611880" y="1417320"/>
            <a:ext cx="502920" cy="2194560"/>
          </a:xfrm>
          <a:prstGeom prst="roundRect">
            <a:avLst>
              <a:gd name="adj" fmla="val 36364"/>
            </a:avLst>
          </a:prstGeom>
          <a:solidFill>
            <a:srgbClr val="FFF1B8"/>
          </a:solidFill>
          <a:ln w="19050">
            <a:solidFill>
              <a:schemeClr val="accent2"/>
            </a:solidFill>
            <a:prstDash val="solid"/>
          </a:ln>
        </p:spPr>
      </p:sp>
      <p:sp>
        <p:nvSpPr>
          <p:cNvPr id="7" name="sebum 0"/>
          <p:cNvSpPr/>
          <p:nvPr/>
        </p:nvSpPr>
        <p:spPr>
          <a:xfrm>
            <a:off x="3749040" y="182880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8" name="sebum 1"/>
          <p:cNvSpPr/>
          <p:nvPr/>
        </p:nvSpPr>
        <p:spPr>
          <a:xfrm>
            <a:off x="3840480" y="237744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9" name="sebum 2"/>
          <p:cNvSpPr/>
          <p:nvPr/>
        </p:nvSpPr>
        <p:spPr>
          <a:xfrm>
            <a:off x="3730752" y="2926080"/>
            <a:ext cx="201168" cy="201168"/>
          </a:xfrm>
          <a:prstGeom prst="ellipse">
            <a:avLst/>
          </a:prstGeom>
          <a:solidFill>
            <a:schemeClr val="accent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94360" y="15087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B2A14"/>
                </a:solidFill>
              </a:rPr>
              <a:t>角质层 Stratum corneum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B2A14"/>
                </a:solidFill>
              </a:rPr>
              <a:t>老废角质 · dead keratin (LHA 软化)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22860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3F2316"/>
                </a:solidFill>
              </a:rPr>
              <a:t>表皮层 Epidermis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3F2316"/>
                </a:solidFill>
              </a:rPr>
              <a:t>健康细胞不受伤害 · healthy cells protected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594360" y="352044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b="1" dirty="0">
                <a:solidFill>
                  <a:srgbClr val="FFFFFF"/>
                </a:solidFill>
              </a:rPr>
              <a:t>真皮层 Dermis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益生菌 + 美白营养导入 · probiotic &amp; brightening nutrients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</a:rPr>
              <a:t>胶原新生 · collagen regeneration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133088" y="246888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b="1" dirty="0">
                <a:solidFill>
                  <a:srgbClr val="3B2A14"/>
                </a:solidFill>
              </a:rPr>
              <a:t>毛孔 Pore</a:t>
            </a:r>
            <a:endParaRPr lang="en-US" sz="1100" dirty="0"/>
          </a:p>
        </p:txBody>
      </p:sp>
      <p:sp>
        <p:nvSpPr>
          <p:cNvPr id="14" name="traditional peel box"/>
          <p:cNvSpPr/>
          <p:nvPr/>
        </p:nvSpPr>
        <p:spPr>
          <a:xfrm>
            <a:off x="5212080" y="1417320"/>
            <a:ext cx="6492240" cy="914400"/>
          </a:xfrm>
          <a:prstGeom prst="roundRect">
            <a:avLst>
              <a:gd name="adj" fmla="val 12000"/>
            </a:avLst>
          </a:prstGeom>
          <a:solidFill>
            <a:srgbClr val="FCEDE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394960" y="1481328"/>
            <a:ext cx="612648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传统焕肤：无差别腐蚀角质层 — 刺激大、脱皮、泛红、屏障易受损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Traditional peel: non‑selective — heavy peeling, irritation, barrier damage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5212080" y="245059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600" b="1" dirty="0">
                <a:solidFill>
                  <a:schemeClr val="tx2"/>
                </a:solidFill>
              </a:rPr>
              <a:t>XE‑LHA Peel 原理 Mechanism</a:t>
            </a:r>
            <a:endParaRPr lang="en-US" sz="1600" dirty="0"/>
          </a:p>
        </p:txBody>
      </p:sp>
      <p:sp>
        <p:nvSpPr>
          <p:cNvPr id="17" name="num 1"/>
          <p:cNvSpPr txBox="1"/>
          <p:nvPr/>
        </p:nvSpPr>
        <p:spPr>
          <a:xfrm>
            <a:off x="5212080" y="288036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1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5852160" y="283464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LHA 油脂亲和力高，只软化老化粘连的角质细胞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LHA selectively loosens only dead, aged keratin cells</a:t>
            </a:r>
            <a:endParaRPr lang="en-US" sz="1400" dirty="0"/>
          </a:p>
        </p:txBody>
      </p:sp>
      <p:sp>
        <p:nvSpPr>
          <p:cNvPr id="19" name="num 2"/>
          <p:cNvSpPr txBox="1"/>
          <p:nvPr/>
        </p:nvSpPr>
        <p:spPr>
          <a:xfrm>
            <a:off x="5212080" y="35204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2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5852160" y="347472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专利油脂成分包裹活性物，缓慢渗透，降低刺激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Lipid‑based patented carrier slows penetration &amp; minimises irritation</a:t>
            </a:r>
            <a:endParaRPr lang="en-US" sz="1400" dirty="0"/>
          </a:p>
        </p:txBody>
      </p:sp>
      <p:sp>
        <p:nvSpPr>
          <p:cNvPr id="21" name="num 3"/>
          <p:cNvSpPr txBox="1"/>
          <p:nvPr/>
        </p:nvSpPr>
        <p:spPr>
          <a:xfrm>
            <a:off x="5212080" y="416052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3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5852160" y="411480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益生菌 + 美白营养同步导入真皮浅层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Probiotic &amp; brightening nutrients reach the superficial dermis</a:t>
            </a:r>
            <a:endParaRPr lang="en-US" sz="1400" dirty="0"/>
          </a:p>
        </p:txBody>
      </p:sp>
      <p:sp>
        <p:nvSpPr>
          <p:cNvPr id="23" name="num 4"/>
          <p:cNvSpPr txBox="1"/>
          <p:nvPr/>
        </p:nvSpPr>
        <p:spPr>
          <a:xfrm>
            <a:off x="5212080" y="480060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4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5852160" y="4754880"/>
            <a:ext cx="5852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加速皮肤自然新陈代谢，促进胶原新生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Speeds up natural skin turnover &amp; collagen regeneration</a:t>
            </a:r>
            <a:endParaRPr lang="en-US" sz="1400" dirty="0"/>
          </a:p>
        </p:txBody>
      </p:sp>
      <p:sp>
        <p:nvSpPr>
          <p:cNvPr id="25" name="outcome banner"/>
          <p:cNvSpPr/>
          <p:nvPr/>
        </p:nvSpPr>
        <p:spPr>
          <a:xfrm>
            <a:off x="457200" y="5440680"/>
            <a:ext cx="11247120" cy="822960"/>
          </a:xfrm>
          <a:prstGeom prst="roundRect">
            <a:avLst>
              <a:gd name="adj" fmla="val 13333"/>
            </a:avLst>
          </a:prstGeom>
          <a:solidFill>
            <a:schemeClr val="tx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731520" y="5440680"/>
            <a:ext cx="10698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结果：毛孔干净、肤质细腻透亮，皮肤屏障反而变强，越做越不容易敏感</a:t>
            </a:r>
            <a:endParaRPr lang="en-US" sz="15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FE0D2"/>
                </a:solidFill>
              </a:rPr>
              <a:t>Outcome: clean pores, smooth glowing texture, a stronger barrier and less long‑term sensitivity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功效｜可改善的皮肤问题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Skin Benefits</a:t>
            </a:r>
            <a:endParaRPr lang="en-US" sz="3000" dirty="0"/>
          </a:p>
        </p:txBody>
      </p:sp>
      <p:sp>
        <p:nvSpPr>
          <p:cNvPr id="3" name="benefit card 1"/>
          <p:cNvSpPr/>
          <p:nvPr/>
        </p:nvSpPr>
        <p:spPr>
          <a:xfrm>
            <a:off x="457200" y="141732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4" name="benefit icon 1 bg"/>
          <p:cNvSpPr/>
          <p:nvPr/>
        </p:nvSpPr>
        <p:spPr>
          <a:xfrm>
            <a:off x="64008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benefit icon 1" descr="benefit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4614" y="1754734"/>
            <a:ext cx="285293" cy="285293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417320" y="158191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改善毛孔粗大、黑头粉刺、油脂分泌旺盛（湿热出油肌首选）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Minimises large pores, blackheads &amp; excess sebum — ideal for humid, oily skin</a:t>
            </a:r>
            <a:endParaRPr lang="en-US" sz="1400" dirty="0"/>
          </a:p>
        </p:txBody>
      </p:sp>
      <p:sp>
        <p:nvSpPr>
          <p:cNvPr id="7" name="benefit card 2"/>
          <p:cNvSpPr/>
          <p:nvPr/>
        </p:nvSpPr>
        <p:spPr>
          <a:xfrm>
            <a:off x="4297680" y="141732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8" name="benefit icon 2 bg"/>
          <p:cNvSpPr/>
          <p:nvPr/>
        </p:nvSpPr>
        <p:spPr>
          <a:xfrm>
            <a:off x="448056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benefit icon 2" descr="benefit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5094" y="1754734"/>
            <a:ext cx="285293" cy="285293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257800" y="158191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肤色暗沉、发黄、粗糙无光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Dull, sallow, rough skin texture</a:t>
            </a:r>
            <a:endParaRPr lang="en-US" sz="1400" dirty="0"/>
          </a:p>
        </p:txBody>
      </p:sp>
      <p:sp>
        <p:nvSpPr>
          <p:cNvPr id="11" name="benefit card 3"/>
          <p:cNvSpPr/>
          <p:nvPr/>
        </p:nvSpPr>
        <p:spPr>
          <a:xfrm>
            <a:off x="8138160" y="141732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2" name="benefit icon 3 bg"/>
          <p:cNvSpPr/>
          <p:nvPr/>
        </p:nvSpPr>
        <p:spPr>
          <a:xfrm>
            <a:off x="8321040" y="160020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benefit icon 3" descr="benefit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75574" y="1754734"/>
            <a:ext cx="285293" cy="285293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9098280" y="158191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痘痘肌、闭口、红色褐色痘印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Acne, clogged comedones, red &amp; brown post‑acne marks</a:t>
            </a:r>
            <a:endParaRPr lang="en-US" sz="1400" dirty="0"/>
          </a:p>
        </p:txBody>
      </p:sp>
      <p:sp>
        <p:nvSpPr>
          <p:cNvPr id="15" name="benefit card 4"/>
          <p:cNvSpPr/>
          <p:nvPr/>
        </p:nvSpPr>
        <p:spPr>
          <a:xfrm>
            <a:off x="457200" y="333756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16" name="benefit icon 4 bg"/>
          <p:cNvSpPr/>
          <p:nvPr/>
        </p:nvSpPr>
        <p:spPr>
          <a:xfrm>
            <a:off x="640080" y="35204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benefit icon 4" descr="benefit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4614" y="3674974"/>
            <a:ext cx="285293" cy="285293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1417320" y="350215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轻度色素沉着、晒后暗沉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Mild pigmentation &amp; sun‑related dullness</a:t>
            </a:r>
            <a:endParaRPr lang="en-US" sz="1400" dirty="0"/>
          </a:p>
        </p:txBody>
      </p:sp>
      <p:sp>
        <p:nvSpPr>
          <p:cNvPr id="19" name="benefit card 5"/>
          <p:cNvSpPr/>
          <p:nvPr/>
        </p:nvSpPr>
        <p:spPr>
          <a:xfrm>
            <a:off x="4297680" y="333756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0" name="benefit icon 5 bg"/>
          <p:cNvSpPr/>
          <p:nvPr/>
        </p:nvSpPr>
        <p:spPr>
          <a:xfrm>
            <a:off x="4480560" y="35204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benefit icon 5" descr="benefit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35094" y="3674974"/>
            <a:ext cx="285293" cy="285293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257800" y="350215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肌肤屏障脆弱、反复轻微泛红、肤质粗糙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Fragile skin barrier, mild recurring redness, rough texture</a:t>
            </a:r>
            <a:endParaRPr lang="en-US" sz="1400" dirty="0"/>
          </a:p>
        </p:txBody>
      </p:sp>
      <p:sp>
        <p:nvSpPr>
          <p:cNvPr id="23" name="benefit card 6"/>
          <p:cNvSpPr/>
          <p:nvPr/>
        </p:nvSpPr>
        <p:spPr>
          <a:xfrm>
            <a:off x="8138160" y="3337560"/>
            <a:ext cx="3566160" cy="1783080"/>
          </a:xfrm>
          <a:prstGeom prst="roundRect">
            <a:avLst>
              <a:gd name="adj" fmla="val 6154"/>
            </a:avLst>
          </a:prstGeom>
          <a:solidFill>
            <a:schemeClr val="bg2"/>
          </a:solidFill>
          <a:ln/>
        </p:spPr>
      </p:sp>
      <p:sp>
        <p:nvSpPr>
          <p:cNvPr id="24" name="benefit icon 6 bg"/>
          <p:cNvSpPr/>
          <p:nvPr/>
        </p:nvSpPr>
        <p:spPr>
          <a:xfrm>
            <a:off x="8321040" y="3520440"/>
            <a:ext cx="594360" cy="59436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benefit icon 6" descr="benefit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75574" y="3674974"/>
            <a:ext cx="285293" cy="285293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9098280" y="3502152"/>
            <a:ext cx="24688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改善表层干纹，提升水润光泽度</a:t>
            </a:r>
            <a:endParaRPr lang="en-US" sz="14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Softens fine superficial lines; boosts hydration &amp; radiance</a:t>
            </a:r>
            <a:endParaRPr lang="en-US" sz="1400" dirty="0"/>
          </a:p>
        </p:txBody>
      </p:sp>
      <p:sp>
        <p:nvSpPr>
          <p:cNvPr id="27" name="note banner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FBF1D6"/>
          </a:solidFill>
          <a:ln/>
        </p:spPr>
      </p:sp>
      <p:sp>
        <p:nvSpPr>
          <p:cNvPr id="28" name="note icon bg"/>
          <p:cNvSpPr/>
          <p:nvPr/>
        </p:nvSpPr>
        <p:spPr>
          <a:xfrm>
            <a:off x="685800" y="55504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note icon" descr="note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5669280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371600" y="5349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注意：重度痘坑、深层色斑无法单次根治，需要疗程搭配其他仪器项目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Note: severe acne scars &amp; deep pigmentation cannot be fully solved by a single peel — a combined treatment plan is needed.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标准操作流程 (1/2)｜60分钟疗程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Procedure (1/2) · 60 minutes · monitor skin reaction at all times 全程观察皮肤反应</a:t>
            </a:r>
            <a:endParaRPr lang="en-US" sz="3000" dirty="0"/>
          </a:p>
        </p:txBody>
      </p:sp>
      <p:sp>
        <p:nvSpPr>
          <p:cNvPr id="3" name="step card 1"/>
          <p:cNvSpPr/>
          <p:nvPr/>
        </p:nvSpPr>
        <p:spPr>
          <a:xfrm>
            <a:off x="457200" y="1417320"/>
            <a:ext cx="2697480" cy="40690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num 1"/>
          <p:cNvSpPr txBox="1"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5" name="time pill 1"/>
          <p:cNvSpPr txBox="1"/>
          <p:nvPr/>
        </p:nvSpPr>
        <p:spPr>
          <a:xfrm>
            <a:off x="1828800" y="1719072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 min 分钟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卸妆清洁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Double Cleanse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918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彻底卸妆，温和洁面，二次清洁，擦干皮肤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Remove makeup, gentle wash, second cleanse, pat skin dry</a:t>
            </a:r>
            <a:endParaRPr lang="en-US" sz="1400" dirty="0"/>
          </a:p>
        </p:txBody>
      </p:sp>
      <p:sp>
        <p:nvSpPr>
          <p:cNvPr id="8" name="step card 2"/>
          <p:cNvSpPr/>
          <p:nvPr/>
        </p:nvSpPr>
        <p:spPr>
          <a:xfrm>
            <a:off x="3310128" y="1417320"/>
            <a:ext cx="2697480" cy="40690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9" name="num 2"/>
          <p:cNvSpPr txBox="1"/>
          <p:nvPr/>
        </p:nvSpPr>
        <p:spPr>
          <a:xfrm>
            <a:off x="3493008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10" name="time pill 2"/>
          <p:cNvSpPr txBox="1"/>
          <p:nvPr/>
        </p:nvSpPr>
        <p:spPr>
          <a:xfrm>
            <a:off x="4681728" y="1719072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 min 分钟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皮肤评估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Skin Assessment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493008" y="32918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检查泛红、破损、伤口，确认适合操作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Check redness, cuts, wounds &amp; active inflammation; confirm client is suitable</a:t>
            </a:r>
            <a:endParaRPr lang="en-US" sz="1400" dirty="0"/>
          </a:p>
        </p:txBody>
      </p:sp>
      <p:sp>
        <p:nvSpPr>
          <p:cNvPr id="13" name="step card 3"/>
          <p:cNvSpPr/>
          <p:nvPr/>
        </p:nvSpPr>
        <p:spPr>
          <a:xfrm>
            <a:off x="6163056" y="1417320"/>
            <a:ext cx="2697480" cy="40690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4" name="num 3"/>
          <p:cNvSpPr txBox="1"/>
          <p:nvPr/>
        </p:nvSpPr>
        <p:spPr>
          <a:xfrm>
            <a:off x="6345936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5" name="time pill 3"/>
          <p:cNvSpPr txBox="1"/>
          <p:nvPr/>
        </p:nvSpPr>
        <p:spPr>
          <a:xfrm>
            <a:off x="7534656" y="1719072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3‑5 min 分钟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一号液 Basic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Apply XE‑LHA Basic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6345936" y="32918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专用毛刷Z字型薄刷全脸，避开眼周、嘴唇。刺痛明显立即提前擦拭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Thin zig‑zag strokes with the special brush; avoid eye &amp; lip area. Stop early if stinging is severe</a:t>
            </a:r>
            <a:endParaRPr lang="en-US" sz="1400" dirty="0"/>
          </a:p>
        </p:txBody>
      </p:sp>
      <p:sp>
        <p:nvSpPr>
          <p:cNvPr id="18" name="step card 4"/>
          <p:cNvSpPr/>
          <p:nvPr/>
        </p:nvSpPr>
        <p:spPr>
          <a:xfrm>
            <a:off x="9015984" y="1417320"/>
            <a:ext cx="2697480" cy="40690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9" name="num 4"/>
          <p:cNvSpPr txBox="1"/>
          <p:nvPr/>
        </p:nvSpPr>
        <p:spPr>
          <a:xfrm>
            <a:off x="9198864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20" name="time pill 4"/>
          <p:cNvSpPr txBox="1"/>
          <p:nvPr/>
        </p:nvSpPr>
        <p:spPr>
          <a:xfrm>
            <a:off x="10387584" y="1719072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5‑8 min 分钟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9198864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二号液 Ultra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Apply XE‑LHA Ultra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9198864" y="32918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不需洗掉一号液，直接叠加二号液，均匀涂刷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Do not rinse Basic. Layer Ultra evenly on top</a:t>
            </a:r>
            <a:endParaRPr lang="en-US" sz="1400" dirty="0"/>
          </a:p>
        </p:txBody>
      </p:sp>
      <p:sp>
        <p:nvSpPr>
          <p:cNvPr id="23" name="tip bar"/>
          <p:cNvSpPr/>
          <p:nvPr/>
        </p:nvSpPr>
        <p:spPr>
          <a:xfrm>
            <a:off x="457200" y="5623560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FBF1D6"/>
          </a:solidFill>
          <a:ln/>
        </p:spPr>
      </p:sp>
      <p:sp>
        <p:nvSpPr>
          <p:cNvPr id="24" name="tip icon bg"/>
          <p:cNvSpPr/>
          <p:nvPr/>
        </p:nvSpPr>
        <p:spPr>
          <a:xfrm>
            <a:off x="640080" y="57150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5" name="tip icon" descr="ti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5833872"/>
            <a:ext cx="219456" cy="219456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280160" y="56235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新手美疗师请缩短停留时间；敏感肌总停留时间不超过6分钟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Trainee therapists: shorten dwell time. Sensitive skin: maximum 6 minutes in total.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标准操作流程 (2/2)｜收尾与护理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Operating Procedure (2/2) · removal, soothing &amp; finishing</a:t>
            </a:r>
            <a:endParaRPr lang="en-US" sz="3000" dirty="0"/>
          </a:p>
        </p:txBody>
      </p:sp>
      <p:sp>
        <p:nvSpPr>
          <p:cNvPr id="3" name="step card 5"/>
          <p:cNvSpPr/>
          <p:nvPr/>
        </p:nvSpPr>
        <p:spPr>
          <a:xfrm>
            <a:off x="457200" y="1417320"/>
            <a:ext cx="2697480" cy="40690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4" name="num 5"/>
          <p:cNvSpPr txBox="1"/>
          <p:nvPr/>
        </p:nvSpPr>
        <p:spPr>
          <a:xfrm>
            <a:off x="640080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擦拭清洁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Remove Solution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918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用常温纱布/化妆棉蘸凉清水，轻柔擦净焕肤液。禁止热水冲洗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Wipe off all peel solution gently with cool damp gauze. NO HOT WATER</a:t>
            </a:r>
            <a:endParaRPr lang="en-US" sz="1400" dirty="0"/>
          </a:p>
        </p:txBody>
      </p:sp>
      <p:sp>
        <p:nvSpPr>
          <p:cNvPr id="7" name="step card 6"/>
          <p:cNvSpPr/>
          <p:nvPr/>
        </p:nvSpPr>
        <p:spPr>
          <a:xfrm>
            <a:off x="3310128" y="1417320"/>
            <a:ext cx="2697480" cy="40690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8" name="num 6"/>
          <p:cNvSpPr txBox="1"/>
          <p:nvPr/>
        </p:nvSpPr>
        <p:spPr>
          <a:xfrm>
            <a:off x="3493008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9" name="time pill 6"/>
          <p:cNvSpPr txBox="1"/>
          <p:nvPr/>
        </p:nvSpPr>
        <p:spPr>
          <a:xfrm>
            <a:off x="4681728" y="1719072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10 min 分钟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3493008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舒缓镇静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Soothe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3493008" y="32918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导入舒缓补水修护精华 / 冷喷镇静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Soothing, hydrating repair serum + cool mist</a:t>
            </a:r>
            <a:endParaRPr lang="en-US" sz="1400" dirty="0"/>
          </a:p>
        </p:txBody>
      </p:sp>
      <p:sp>
        <p:nvSpPr>
          <p:cNvPr id="12" name="step card 7"/>
          <p:cNvSpPr/>
          <p:nvPr/>
        </p:nvSpPr>
        <p:spPr>
          <a:xfrm>
            <a:off x="6163056" y="1417320"/>
            <a:ext cx="2697480" cy="40690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3" name="num 7"/>
          <p:cNvSpPr txBox="1"/>
          <p:nvPr/>
        </p:nvSpPr>
        <p:spPr>
          <a:xfrm>
            <a:off x="6345936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14" name="time pill 7"/>
          <p:cNvSpPr txBox="1"/>
          <p:nvPr/>
        </p:nvSpPr>
        <p:spPr>
          <a:xfrm>
            <a:off x="7534656" y="1719072"/>
            <a:ext cx="1143000" cy="32918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15 min 分钟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345936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修护面膜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Repair Mask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345936" y="32918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厚敷修护补水面膜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Apply a thick layer of nourishing repair mask</a:t>
            </a:r>
            <a:endParaRPr lang="en-US" sz="1400" dirty="0"/>
          </a:p>
        </p:txBody>
      </p:sp>
      <p:sp>
        <p:nvSpPr>
          <p:cNvPr id="17" name="step card 8"/>
          <p:cNvSpPr/>
          <p:nvPr/>
        </p:nvSpPr>
        <p:spPr>
          <a:xfrm>
            <a:off x="9015984" y="1417320"/>
            <a:ext cx="2697480" cy="4069080"/>
          </a:xfrm>
          <a:prstGeom prst="roundRect">
            <a:avLst>
              <a:gd name="adj" fmla="val 4068"/>
            </a:avLst>
          </a:prstGeom>
          <a:solidFill>
            <a:schemeClr val="bg2"/>
          </a:solidFill>
          <a:ln/>
        </p:spPr>
      </p:sp>
      <p:sp>
        <p:nvSpPr>
          <p:cNvPr id="18" name="num 8"/>
          <p:cNvSpPr txBox="1"/>
          <p:nvPr/>
        </p:nvSpPr>
        <p:spPr>
          <a:xfrm>
            <a:off x="9198864" y="16002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19" name="Text 17"/>
          <p:cNvSpPr txBox="1"/>
          <p:nvPr/>
        </p:nvSpPr>
        <p:spPr>
          <a:xfrm>
            <a:off x="9198864" y="2377440"/>
            <a:ext cx="2377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600" b="1" dirty="0">
                <a:solidFill>
                  <a:schemeClr val="tx1"/>
                </a:solidFill>
              </a:rPr>
              <a:t>收尾</a:t>
            </a:r>
            <a:endParaRPr lang="en-US" sz="16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300" dirty="0">
                <a:solidFill>
                  <a:schemeClr val="accent1"/>
                </a:solidFill>
              </a:rPr>
              <a:t>Finish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98864" y="32918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涂保湿乳、物理防晒，并向客人讲解居家护理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Moisturiser, broad‑spectrum (physical) sunscreen, then brief the client on home care</a:t>
            </a:r>
            <a:endParaRPr lang="en-US" sz="1400" dirty="0"/>
          </a:p>
        </p:txBody>
      </p:sp>
      <p:sp>
        <p:nvSpPr>
          <p:cNvPr id="21" name="tip bar"/>
          <p:cNvSpPr/>
          <p:nvPr/>
        </p:nvSpPr>
        <p:spPr>
          <a:xfrm>
            <a:off x="457200" y="5623560"/>
            <a:ext cx="11247120" cy="640080"/>
          </a:xfrm>
          <a:prstGeom prst="roundRect">
            <a:avLst>
              <a:gd name="adj" fmla="val 17143"/>
            </a:avLst>
          </a:prstGeom>
          <a:solidFill>
            <a:srgbClr val="FBF1D6"/>
          </a:solidFill>
          <a:ln/>
        </p:spPr>
      </p:sp>
      <p:sp>
        <p:nvSpPr>
          <p:cNvPr id="22" name="tip icon bg"/>
          <p:cNvSpPr/>
          <p:nvPr/>
        </p:nvSpPr>
        <p:spPr>
          <a:xfrm>
            <a:off x="640080" y="5715000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3" name="tip icon" descr="ti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" y="5833872"/>
            <a:ext cx="219456" cy="219456"/>
          </a:xfrm>
          <a:prstGeom prst="rect">
            <a:avLst/>
          </a:prstGeom>
        </p:spPr>
      </p:pic>
      <p:sp>
        <p:nvSpPr>
          <p:cNvPr id="24" name="Text 21"/>
          <p:cNvSpPr txBox="1"/>
          <p:nvPr/>
        </p:nvSpPr>
        <p:spPr>
          <a:xfrm>
            <a:off x="1280160" y="562356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</a:rPr>
              <a:t>操作提示：全程不要来回大力反复涂刷，容易过度刺激皮肤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Tip: never scrub or brush back and forth with force — it over‑irritates the skin.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疗程周期与维护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Treatment Cycle &amp; Maintenance</a:t>
            </a:r>
            <a:endParaRPr lang="en-US" sz="3000" dirty="0"/>
          </a:p>
        </p:txBody>
      </p:sp>
      <p:sp>
        <p:nvSpPr>
          <p:cNvPr id="3" name="stat card 1"/>
          <p:cNvSpPr/>
          <p:nvPr/>
        </p:nvSpPr>
        <p:spPr>
          <a:xfrm>
            <a:off x="457200" y="141732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4173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4‑6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2011680" y="14630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次为1个完整疗程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sessions per full course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4297680" y="141732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434840" y="14173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2‑3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5852160" y="14630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周操作1次（湿热肌建议2周）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weeks between sessions (2 weeks preferred for humid skin)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8138160" y="1417320"/>
            <a:ext cx="3566160" cy="1463040"/>
          </a:xfrm>
          <a:prstGeom prst="roundRect">
            <a:avLst>
              <a:gd name="adj" fmla="val 7500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75320" y="1417320"/>
            <a:ext cx="1371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1‑2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9692640" y="1463040"/>
            <a:ext cx="19202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周：单次即时提亮维持时间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weeks: how long the instant glow lasts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700" b="1" dirty="0">
                <a:solidFill>
                  <a:schemeClr val="tx2"/>
                </a:solidFill>
              </a:rPr>
              <a:t>效果变化  Progress Timeline</a:t>
            </a:r>
            <a:endParaRPr lang="en-US" sz="1700" dirty="0"/>
          </a:p>
        </p:txBody>
      </p:sp>
      <p:sp>
        <p:nvSpPr>
          <p:cNvPr id="13" name="timeline card 1"/>
          <p:cNvSpPr/>
          <p:nvPr/>
        </p:nvSpPr>
        <p:spPr>
          <a:xfrm>
            <a:off x="457200" y="352044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</p:spPr>
      </p:sp>
      <p:sp>
        <p:nvSpPr>
          <p:cNvPr id="14" name="timeline outline 1"/>
          <p:cNvSpPr/>
          <p:nvPr/>
        </p:nvSpPr>
        <p:spPr>
          <a:xfrm>
            <a:off x="457200" y="3520440"/>
            <a:ext cx="3566160" cy="1691640"/>
          </a:xfrm>
          <a:prstGeom prst="roundRect">
            <a:avLst>
              <a:gd name="adj" fmla="val 6486"/>
            </a:avLst>
          </a:prstGeom>
          <a:ln w="19050">
            <a:solidFill>
              <a:schemeClr val="accent4"/>
            </a:solidFill>
            <a:prstDash val="solid"/>
          </a:ln>
        </p:spPr>
      </p:sp>
      <p:sp>
        <p:nvSpPr>
          <p:cNvPr id="15" name="phase pill 1"/>
          <p:cNvSpPr txBox="1"/>
          <p:nvPr/>
        </p:nvSpPr>
        <p:spPr>
          <a:xfrm>
            <a:off x="640080" y="3657600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第1‑2次 Sessions 1‑2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41148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出油减少，皮肤透亮，黑头改善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Less oily, brighter complexion, improved blackheads</a:t>
            </a:r>
            <a:endParaRPr lang="en-US" sz="1400" dirty="0"/>
          </a:p>
        </p:txBody>
      </p:sp>
      <p:sp>
        <p:nvSpPr>
          <p:cNvPr id="17" name="chevron 1"/>
          <p:cNvSpPr/>
          <p:nvPr/>
        </p:nvSpPr>
        <p:spPr>
          <a:xfrm>
            <a:off x="4069080" y="4114800"/>
            <a:ext cx="182880" cy="36576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18" name="timeline card 2"/>
          <p:cNvSpPr/>
          <p:nvPr/>
        </p:nvSpPr>
        <p:spPr>
          <a:xfrm>
            <a:off x="4297680" y="352044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</p:spPr>
      </p:sp>
      <p:sp>
        <p:nvSpPr>
          <p:cNvPr id="19" name="timeline outline 2"/>
          <p:cNvSpPr/>
          <p:nvPr/>
        </p:nvSpPr>
        <p:spPr>
          <a:xfrm>
            <a:off x="4297680" y="3520440"/>
            <a:ext cx="3566160" cy="1691640"/>
          </a:xfrm>
          <a:prstGeom prst="roundRect">
            <a:avLst>
              <a:gd name="adj" fmla="val 6486"/>
            </a:avLst>
          </a:prstGeom>
          <a:ln w="19050">
            <a:solidFill>
              <a:schemeClr val="accent4"/>
            </a:solidFill>
            <a:prstDash val="solid"/>
          </a:ln>
        </p:spPr>
      </p:sp>
      <p:sp>
        <p:nvSpPr>
          <p:cNvPr id="20" name="phase pill 2"/>
          <p:cNvSpPr txBox="1"/>
          <p:nvPr/>
        </p:nvSpPr>
        <p:spPr>
          <a:xfrm>
            <a:off x="4480560" y="3657600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第3‑4次 Sessions 3‑4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4480560" y="41148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毛孔细腻，痘印淡化，屏障逐步稳定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Finer pores, faded acne marks, barrier gradually stabilises</a:t>
            </a:r>
            <a:endParaRPr lang="en-US" sz="1400" dirty="0"/>
          </a:p>
        </p:txBody>
      </p:sp>
      <p:sp>
        <p:nvSpPr>
          <p:cNvPr id="22" name="chevron 2"/>
          <p:cNvSpPr/>
          <p:nvPr/>
        </p:nvSpPr>
        <p:spPr>
          <a:xfrm>
            <a:off x="7909560" y="4114800"/>
            <a:ext cx="182880" cy="365760"/>
          </a:xfrm>
          <a:prstGeom prst="chevron">
            <a:avLst/>
          </a:prstGeom>
          <a:solidFill>
            <a:schemeClr val="accent4"/>
          </a:solidFill>
          <a:ln/>
        </p:spPr>
      </p:sp>
      <p:sp>
        <p:nvSpPr>
          <p:cNvPr id="23" name="timeline card 3"/>
          <p:cNvSpPr/>
          <p:nvPr/>
        </p:nvSpPr>
        <p:spPr>
          <a:xfrm>
            <a:off x="8138160" y="3520440"/>
            <a:ext cx="3566160" cy="1691640"/>
          </a:xfrm>
          <a:prstGeom prst="roundRect">
            <a:avLst>
              <a:gd name="adj" fmla="val 6486"/>
            </a:avLst>
          </a:prstGeom>
          <a:solidFill>
            <a:schemeClr val="bg1"/>
          </a:solidFill>
          <a:ln/>
        </p:spPr>
      </p:sp>
      <p:sp>
        <p:nvSpPr>
          <p:cNvPr id="24" name="timeline outline 3"/>
          <p:cNvSpPr/>
          <p:nvPr/>
        </p:nvSpPr>
        <p:spPr>
          <a:xfrm>
            <a:off x="8138160" y="3520440"/>
            <a:ext cx="3566160" cy="1691640"/>
          </a:xfrm>
          <a:prstGeom prst="roundRect">
            <a:avLst>
              <a:gd name="adj" fmla="val 6486"/>
            </a:avLst>
          </a:prstGeom>
          <a:ln w="19050">
            <a:solidFill>
              <a:schemeClr val="accent4"/>
            </a:solidFill>
            <a:prstDash val="solid"/>
          </a:ln>
        </p:spPr>
      </p:sp>
      <p:sp>
        <p:nvSpPr>
          <p:cNvPr id="25" name="phase pill 3"/>
          <p:cNvSpPr txBox="1"/>
          <p:nvPr/>
        </p:nvSpPr>
        <p:spPr>
          <a:xfrm>
            <a:off x="8321040" y="3657600"/>
            <a:ext cx="2377440" cy="34747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第5‑6次 Sessions 5‑6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8321040" y="4114800"/>
            <a:ext cx="32004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肤质整体改善，肤色均匀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Overall refined texture, even skin tone</a:t>
            </a:r>
            <a:endParaRPr lang="en-US" sz="1400" dirty="0"/>
          </a:p>
        </p:txBody>
      </p:sp>
      <p:sp>
        <p:nvSpPr>
          <p:cNvPr id="27" name="maintenance banner"/>
          <p:cNvSpPr/>
          <p:nvPr/>
        </p:nvSpPr>
        <p:spPr>
          <a:xfrm>
            <a:off x="457200" y="5394960"/>
            <a:ext cx="1124712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28" name="maintenance icon bg"/>
          <p:cNvSpPr/>
          <p:nvPr/>
        </p:nvSpPr>
        <p:spPr>
          <a:xfrm>
            <a:off x="731520" y="5596128"/>
            <a:ext cx="475488" cy="475488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maintenance icon" descr="maintenanc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147" y="5719755"/>
            <a:ext cx="228234" cy="228234"/>
          </a:xfrm>
          <a:prstGeom prst="rect">
            <a:avLst/>
          </a:prstGeom>
        </p:spPr>
      </p:pic>
      <p:sp>
        <p:nvSpPr>
          <p:cNvPr id="30" name="Text 27"/>
          <p:cNvSpPr txBox="1"/>
          <p:nvPr/>
        </p:nvSpPr>
        <p:spPr>
          <a:xfrm>
            <a:off x="1463040" y="539496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保养维持：疗程结束后每4‑6周1次，长期维稳，防止油脂、毛孔问题复发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FE0D2"/>
                </a:solidFill>
              </a:rPr>
              <a:t>Maintenance: once every 4–6 weeks after the full course to keep skin stable and prevent oil &amp; pore problems returning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术前禁忌症｜绝对不能操作的客人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Pre‑treatment Contraindications · clients we must NOT treat</a:t>
            </a:r>
            <a:endParaRPr lang="en-US" sz="3000" dirty="0"/>
          </a:p>
        </p:txBody>
      </p:sp>
      <p:sp>
        <p:nvSpPr>
          <p:cNvPr id="3" name="contraindication card 1"/>
          <p:cNvSpPr/>
          <p:nvPr/>
        </p:nvSpPr>
        <p:spPr>
          <a:xfrm>
            <a:off x="457200" y="141732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FCEDE8"/>
          </a:solidFill>
          <a:ln/>
        </p:spPr>
      </p:sp>
      <p:sp>
        <p:nvSpPr>
          <p:cNvPr id="4" name="no icon 1 bg"/>
          <p:cNvSpPr/>
          <p:nvPr/>
        </p:nvSpPr>
        <p:spPr>
          <a:xfrm>
            <a:off x="640080" y="1719072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5" name="no icon 1" descr="no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972" y="1856964"/>
            <a:ext cx="254569" cy="25456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371600" y="15087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面部有伤口、破皮、疱疹、严重急性皮炎、大面积湿疹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Open wounds, cold sores, severe active dermatitis or eczema on the face</a:t>
            </a:r>
            <a:endParaRPr lang="en-US" sz="1400" dirty="0"/>
          </a:p>
        </p:txBody>
      </p:sp>
      <p:sp>
        <p:nvSpPr>
          <p:cNvPr id="7" name="contraindication card 2"/>
          <p:cNvSpPr/>
          <p:nvPr/>
        </p:nvSpPr>
        <p:spPr>
          <a:xfrm>
            <a:off x="6217920" y="141732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FCEDE8"/>
          </a:solidFill>
          <a:ln/>
        </p:spPr>
      </p:sp>
      <p:sp>
        <p:nvSpPr>
          <p:cNvPr id="8" name="no icon 2 bg"/>
          <p:cNvSpPr/>
          <p:nvPr/>
        </p:nvSpPr>
        <p:spPr>
          <a:xfrm>
            <a:off x="6400800" y="1719072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9" name="no icon 2" descr="no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8692" y="1856964"/>
            <a:ext cx="254569" cy="254569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7132320" y="150876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近2周做过热玛吉、皮秒、点阵激光、微针，皮肤屏障破损期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Within 2 weeks of heat (RF) treatment, pico laser, fractional laser or microneedling</a:t>
            </a:r>
            <a:endParaRPr lang="en-US" sz="1400" dirty="0"/>
          </a:p>
        </p:txBody>
      </p:sp>
      <p:sp>
        <p:nvSpPr>
          <p:cNvPr id="11" name="contraindication card 3"/>
          <p:cNvSpPr/>
          <p:nvPr/>
        </p:nvSpPr>
        <p:spPr>
          <a:xfrm>
            <a:off x="457200" y="269748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FCEDE8"/>
          </a:solidFill>
          <a:ln/>
        </p:spPr>
      </p:sp>
      <p:sp>
        <p:nvSpPr>
          <p:cNvPr id="12" name="no icon 3 bg"/>
          <p:cNvSpPr/>
          <p:nvPr/>
        </p:nvSpPr>
        <p:spPr>
          <a:xfrm>
            <a:off x="640080" y="2999232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3" name="no icon 3" descr="no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972" y="3137124"/>
            <a:ext cx="254569" cy="254569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371600" y="27889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孕期、哺乳期女性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Pregnant &amp; breastfeeding clients</a:t>
            </a:r>
            <a:endParaRPr lang="en-US" sz="1400" dirty="0"/>
          </a:p>
        </p:txBody>
      </p:sp>
      <p:sp>
        <p:nvSpPr>
          <p:cNvPr id="15" name="contraindication card 4"/>
          <p:cNvSpPr/>
          <p:nvPr/>
        </p:nvSpPr>
        <p:spPr>
          <a:xfrm>
            <a:off x="6217920" y="269748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FCEDE8"/>
          </a:solidFill>
          <a:ln/>
        </p:spPr>
      </p:sp>
      <p:sp>
        <p:nvSpPr>
          <p:cNvPr id="16" name="no icon 4 bg"/>
          <p:cNvSpPr/>
          <p:nvPr/>
        </p:nvSpPr>
        <p:spPr>
          <a:xfrm>
            <a:off x="6400800" y="2999232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no icon 4" descr="no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38692" y="3137124"/>
            <a:ext cx="254569" cy="25456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132320" y="278892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严重玫瑰痤疮急性爆发期、皮肤持续红肿刺痛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Severe active rosacea with constant redness &amp; stinging</a:t>
            </a:r>
            <a:endParaRPr lang="en-US" sz="1400" dirty="0"/>
          </a:p>
        </p:txBody>
      </p:sp>
      <p:sp>
        <p:nvSpPr>
          <p:cNvPr id="19" name="contraindication card 5"/>
          <p:cNvSpPr/>
          <p:nvPr/>
        </p:nvSpPr>
        <p:spPr>
          <a:xfrm>
            <a:off x="457200" y="397764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FCEDE8"/>
          </a:solidFill>
          <a:ln/>
        </p:spPr>
      </p:sp>
      <p:sp>
        <p:nvSpPr>
          <p:cNvPr id="20" name="no icon 5 bg"/>
          <p:cNvSpPr/>
          <p:nvPr/>
        </p:nvSpPr>
        <p:spPr>
          <a:xfrm>
            <a:off x="640080" y="4279392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1" name="no icon 5" descr="no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972" y="4417284"/>
            <a:ext cx="254569" cy="254569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1371600" y="40690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近期大量暴晒、晒伤脱皮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Recent heavy sun exposure, sunburn &amp; peeling skin</a:t>
            </a:r>
            <a:endParaRPr lang="en-US" sz="1400" dirty="0"/>
          </a:p>
        </p:txBody>
      </p:sp>
      <p:sp>
        <p:nvSpPr>
          <p:cNvPr id="23" name="contraindication card 6"/>
          <p:cNvSpPr/>
          <p:nvPr/>
        </p:nvSpPr>
        <p:spPr>
          <a:xfrm>
            <a:off x="6217920" y="3977640"/>
            <a:ext cx="5486400" cy="1143000"/>
          </a:xfrm>
          <a:prstGeom prst="roundRect">
            <a:avLst>
              <a:gd name="adj" fmla="val 9600"/>
            </a:avLst>
          </a:prstGeom>
          <a:solidFill>
            <a:srgbClr val="FCEDE8"/>
          </a:solidFill>
          <a:ln/>
        </p:spPr>
      </p:sp>
      <p:sp>
        <p:nvSpPr>
          <p:cNvPr id="24" name="no icon 6 bg"/>
          <p:cNvSpPr/>
          <p:nvPr/>
        </p:nvSpPr>
        <p:spPr>
          <a:xfrm>
            <a:off x="6400800" y="4279392"/>
            <a:ext cx="530352" cy="530352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5" name="no icon 6" descr="no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692" y="4417284"/>
            <a:ext cx="254569" cy="254569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7132320" y="4069080"/>
            <a:ext cx="44348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对水杨酸、酸类护肤品严重过敏体质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Severe known allergy to salicylic acid / acid skincare</a:t>
            </a:r>
            <a:endParaRPr lang="en-US" sz="1400" dirty="0"/>
          </a:p>
        </p:txBody>
      </p:sp>
      <p:sp>
        <p:nvSpPr>
          <p:cNvPr id="27" name="patch test banner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12632"/>
            </a:avLst>
          </a:prstGeom>
          <a:solidFill>
            <a:srgbClr val="FBF1D6"/>
          </a:solidFill>
          <a:ln/>
        </p:spPr>
      </p:sp>
      <p:sp>
        <p:nvSpPr>
          <p:cNvPr id="28" name="caution icon bg"/>
          <p:cNvSpPr/>
          <p:nvPr/>
        </p:nvSpPr>
        <p:spPr>
          <a:xfrm>
            <a:off x="685800" y="5550408"/>
            <a:ext cx="457200" cy="45720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29" name="caution icon" descr="caution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" y="5669280"/>
            <a:ext cx="219456" cy="219456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1371600" y="5349240"/>
            <a:ext cx="10058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谨慎操作：重度敏感肌请先做耳后皮试，再做全脸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Caution: for extremely sensitive skin, do a patch test (behind the ear) before full‑face treatment.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术后居家护理指南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After‑care Home Instructions · give to every client</a:t>
            </a:r>
            <a:endParaRPr lang="en-US" sz="3000" dirty="0"/>
          </a:p>
        </p:txBody>
      </p:sp>
      <p:sp>
        <p:nvSpPr>
          <p:cNvPr id="3" name="key rule banner"/>
          <p:cNvSpPr/>
          <p:nvPr/>
        </p:nvSpPr>
        <p:spPr>
          <a:xfrm>
            <a:off x="457200" y="1417320"/>
            <a:ext cx="11247120" cy="777240"/>
          </a:xfrm>
          <a:prstGeom prst="roundRect">
            <a:avLst>
              <a:gd name="adj" fmla="val 14118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31520" y="1417320"/>
            <a:ext cx="106984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1500" b="1" dirty="0">
                <a:solidFill>
                  <a:schemeClr val="bg1"/>
                </a:solidFill>
              </a:rPr>
              <a:t>7天核心守则：充分保湿 + 严格防晒！紫外线强，防晒重中之重</a:t>
            </a:r>
            <a:endParaRPr lang="en-US" sz="15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FE0D2"/>
                </a:solidFill>
              </a:rPr>
              <a:t>Key rule for the first 7 days: heavy hydration + strict sun protection (strong UV in the tropics)</a:t>
            </a:r>
            <a:endParaRPr lang="en-US" sz="1500" dirty="0"/>
          </a:p>
        </p:txBody>
      </p:sp>
      <p:sp>
        <p:nvSpPr>
          <p:cNvPr id="5" name="aftercare row 1"/>
          <p:cNvSpPr/>
          <p:nvPr/>
        </p:nvSpPr>
        <p:spPr>
          <a:xfrm>
            <a:off x="457200" y="2377440"/>
            <a:ext cx="72237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6" name="num 1"/>
          <p:cNvSpPr txBox="1"/>
          <p:nvPr/>
        </p:nvSpPr>
        <p:spPr>
          <a:xfrm>
            <a:off x="594360" y="2468880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77440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治疗当天：不要热水洗脸、蒸桑拿、剧烈大量出汗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Day of treatment: no hot water, sauna or heavy sweating</a:t>
            </a:r>
            <a:endParaRPr lang="en-US" sz="1400" dirty="0"/>
          </a:p>
        </p:txBody>
      </p:sp>
      <p:sp>
        <p:nvSpPr>
          <p:cNvPr id="8" name="aftercare row 2"/>
          <p:cNvSpPr/>
          <p:nvPr/>
        </p:nvSpPr>
        <p:spPr>
          <a:xfrm>
            <a:off x="457200" y="3145536"/>
            <a:ext cx="72237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9" name="num 2"/>
          <p:cNvSpPr txBox="1"/>
          <p:nvPr/>
        </p:nvSpPr>
        <p:spPr>
          <a:xfrm>
            <a:off x="594360" y="3236976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145536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3‑7天内：停用A醇、高浓度维C、果酸、去角质磨砂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Days 3–7: stop retinol, high‑dose vitamin C, acid exfoliants &amp; scrubs</a:t>
            </a:r>
            <a:endParaRPr lang="en-US" sz="1400" dirty="0"/>
          </a:p>
        </p:txBody>
      </p:sp>
      <p:sp>
        <p:nvSpPr>
          <p:cNvPr id="11" name="aftercare row 3"/>
          <p:cNvSpPr/>
          <p:nvPr/>
        </p:nvSpPr>
        <p:spPr>
          <a:xfrm>
            <a:off x="457200" y="3913632"/>
            <a:ext cx="72237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2" name="num 3"/>
          <p:cNvSpPr txBox="1"/>
          <p:nvPr/>
        </p:nvSpPr>
        <p:spPr>
          <a:xfrm>
            <a:off x="594360" y="4005072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3913632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早晚使用修护精华、面霜，精简护肤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Keep it simple: repair serum &amp; moisturiser, morning and night</a:t>
            </a:r>
            <a:endParaRPr lang="en-US" sz="1400" dirty="0"/>
          </a:p>
        </p:txBody>
      </p:sp>
      <p:sp>
        <p:nvSpPr>
          <p:cNvPr id="14" name="aftercare row 4"/>
          <p:cNvSpPr/>
          <p:nvPr/>
        </p:nvSpPr>
        <p:spPr>
          <a:xfrm>
            <a:off x="457200" y="4681728"/>
            <a:ext cx="72237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5" name="num 4"/>
          <p:cNvSpPr txBox="1"/>
          <p:nvPr/>
        </p:nvSpPr>
        <p:spPr>
          <a:xfrm>
            <a:off x="594360" y="4773168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4681728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白天必须涂 SPF50+ 防晒霜，并配合帽子、遮阳伞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Daily SPF50+ sunscreen, plus a hat &amp; umbrella outdoors</a:t>
            </a:r>
            <a:endParaRPr lang="en-US" sz="1400" dirty="0"/>
          </a:p>
        </p:txBody>
      </p:sp>
      <p:sp>
        <p:nvSpPr>
          <p:cNvPr id="17" name="aftercare row 5"/>
          <p:cNvSpPr/>
          <p:nvPr/>
        </p:nvSpPr>
        <p:spPr>
          <a:xfrm>
            <a:off x="457200" y="5449824"/>
            <a:ext cx="7223760" cy="658368"/>
          </a:xfrm>
          <a:prstGeom prst="roundRect">
            <a:avLst>
              <a:gd name="adj" fmla="val 16667"/>
            </a:avLst>
          </a:prstGeom>
          <a:solidFill>
            <a:schemeClr val="bg2"/>
          </a:solidFill>
          <a:ln/>
        </p:spPr>
      </p:sp>
      <p:sp>
        <p:nvSpPr>
          <p:cNvPr id="18" name="num 5"/>
          <p:cNvSpPr txBox="1"/>
          <p:nvPr/>
        </p:nvSpPr>
        <p:spPr>
          <a:xfrm>
            <a:off x="594360" y="5541264"/>
            <a:ext cx="475488" cy="475488"/>
          </a:xfrm>
          <a:prstGeom prst="ellipse">
            <a:avLst/>
          </a:prstGeom>
          <a:solidFill>
            <a:schemeClr val="accent1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5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5449824"/>
            <a:ext cx="6355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轻微紧绷、微微泛红属正常，2‑3天自行消退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Mild tightness &amp; a slight pink flush are normal — fades in 2–3 days</a:t>
            </a:r>
            <a:endParaRPr lang="en-US" sz="1400" dirty="0"/>
          </a:p>
        </p:txBody>
      </p:sp>
      <p:sp>
        <p:nvSpPr>
          <p:cNvPr id="20" name="avoid panel"/>
          <p:cNvSpPr/>
          <p:nvPr/>
        </p:nvSpPr>
        <p:spPr>
          <a:xfrm>
            <a:off x="7955280" y="2377440"/>
            <a:ext cx="3749040" cy="3730752"/>
          </a:xfrm>
          <a:prstGeom prst="roundRect">
            <a:avLst>
              <a:gd name="adj" fmla="val 2941"/>
            </a:avLst>
          </a:prstGeom>
          <a:solidFill>
            <a:srgbClr val="FCEDE8"/>
          </a:solidFill>
          <a:ln/>
        </p:spPr>
      </p:sp>
      <p:sp>
        <p:nvSpPr>
          <p:cNvPr id="21" name="avoid icon bg"/>
          <p:cNvSpPr/>
          <p:nvPr/>
        </p:nvSpPr>
        <p:spPr>
          <a:xfrm>
            <a:off x="8183880" y="2560320"/>
            <a:ext cx="548640" cy="54864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avoid icon" descr="avoi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6526" y="2702966"/>
            <a:ext cx="263347" cy="263347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8915400" y="256032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禁止</a:t>
            </a:r>
            <a:endParaRPr lang="en-US" sz="1800" dirty="0"/>
          </a:p>
          <a:p>
            <a:pPr indent="0" marL="0">
              <a:buNone/>
            </a:pPr>
            <a:r>
              <a:rPr lang="en-US" sz="1300" dirty="0">
                <a:solidFill>
                  <a:schemeClr val="accent6"/>
                </a:solidFill>
              </a:rPr>
              <a:t>Avoid</a:t>
            </a:r>
            <a:endParaRPr lang="en-US" sz="1800" dirty="0"/>
          </a:p>
        </p:txBody>
      </p:sp>
      <p:sp>
        <p:nvSpPr>
          <p:cNvPr id="24" name="Text 21"/>
          <p:cNvSpPr txBox="1"/>
          <p:nvPr/>
        </p:nvSpPr>
        <p:spPr>
          <a:xfrm>
            <a:off x="8229600" y="33375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去海边暴晒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Beach sun‑tanning</a:t>
            </a:r>
            <a:endParaRPr lang="en-US" sz="1400" dirty="0"/>
          </a:p>
        </p:txBody>
      </p:sp>
      <p:sp>
        <p:nvSpPr>
          <p:cNvPr id="25" name="Text 22"/>
          <p:cNvSpPr txBox="1"/>
          <p:nvPr/>
        </p:nvSpPr>
        <p:spPr>
          <a:xfrm>
            <a:off x="8229600" y="40233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游泳（海水刺激）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Swimming in seawater</a:t>
            </a:r>
            <a:endParaRPr lang="en-US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8229600" y="47091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热敷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Hot compress</a:t>
            </a:r>
            <a:endParaRPr lang="en-US" sz="1400" dirty="0"/>
          </a:p>
        </p:txBody>
      </p:sp>
      <p:sp>
        <p:nvSpPr>
          <p:cNvPr id="27" name="Text 24"/>
          <p:cNvSpPr txBox="1"/>
          <p:nvPr/>
        </p:nvSpPr>
        <p:spPr>
          <a:xfrm>
            <a:off x="8229600" y="5394960"/>
            <a:ext cx="3291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频繁敷功效面膜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Frequent intensive masks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异常状况与应急处理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Adverse Reaction Management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3"/>
                </a:solidFill>
              </a:rPr>
              <a:t>情况 Situation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852160" y="13716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处理 Action</a:t>
            </a:r>
            <a:endParaRPr lang="en-US" sz="1300" dirty="0"/>
          </a:p>
        </p:txBody>
      </p:sp>
      <p:sp>
        <p:nvSpPr>
          <p:cNvPr id="5" name="situation 1"/>
          <p:cNvSpPr/>
          <p:nvPr/>
        </p:nvSpPr>
        <p:spPr>
          <a:xfrm>
            <a:off x="457200" y="169164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CEDE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73736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操作中持续明显刺痛、灼烧感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Severe, persistent stinging or burning during treatment</a:t>
            </a:r>
            <a:endParaRPr lang="en-US" sz="1400" dirty="0"/>
          </a:p>
        </p:txBody>
      </p:sp>
      <p:sp>
        <p:nvSpPr>
          <p:cNvPr id="7" name="arrow 1"/>
          <p:cNvSpPr/>
          <p:nvPr/>
        </p:nvSpPr>
        <p:spPr>
          <a:xfrm>
            <a:off x="5650992" y="2011680"/>
            <a:ext cx="457200" cy="41148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8" name="action 1"/>
          <p:cNvSpPr/>
          <p:nvPr/>
        </p:nvSpPr>
        <p:spPr>
          <a:xfrm>
            <a:off x="6181344" y="1691640"/>
            <a:ext cx="5522976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364224" y="1737360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立刻全部擦拭干净，冷喷降温；下次缩短停留时间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Wipe off all solution immediately, apply cool mist; reduce dwell time next visit</a:t>
            </a:r>
            <a:endParaRPr lang="en-US" sz="1400" dirty="0"/>
          </a:p>
        </p:txBody>
      </p:sp>
      <p:sp>
        <p:nvSpPr>
          <p:cNvPr id="10" name="situation 2"/>
          <p:cNvSpPr/>
          <p:nvPr/>
        </p:nvSpPr>
        <p:spPr>
          <a:xfrm>
            <a:off x="457200" y="288036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CEDE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292608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术后持续泛红超过3天不退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Redness persisting beyond 3 days</a:t>
            </a:r>
            <a:endParaRPr lang="en-US" sz="1400" dirty="0"/>
          </a:p>
        </p:txBody>
      </p:sp>
      <p:sp>
        <p:nvSpPr>
          <p:cNvPr id="12" name="arrow 2"/>
          <p:cNvSpPr/>
          <p:nvPr/>
        </p:nvSpPr>
        <p:spPr>
          <a:xfrm>
            <a:off x="5650992" y="3200400"/>
            <a:ext cx="457200" cy="41148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3" name="action 2"/>
          <p:cNvSpPr/>
          <p:nvPr/>
        </p:nvSpPr>
        <p:spPr>
          <a:xfrm>
            <a:off x="6181344" y="2880360"/>
            <a:ext cx="5522976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364224" y="2926080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安排免费舒缓修护护理；居家只用简单修护产品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Complimentary soothing repair facial; ultra‑gentle home skincare only</a:t>
            </a:r>
            <a:endParaRPr lang="en-US" sz="1400" dirty="0"/>
          </a:p>
        </p:txBody>
      </p:sp>
      <p:sp>
        <p:nvSpPr>
          <p:cNvPr id="15" name="situation 3"/>
          <p:cNvSpPr/>
          <p:nvPr/>
        </p:nvSpPr>
        <p:spPr>
          <a:xfrm>
            <a:off x="457200" y="4069080"/>
            <a:ext cx="5120640" cy="1051560"/>
          </a:xfrm>
          <a:prstGeom prst="roundRect">
            <a:avLst>
              <a:gd name="adj" fmla="val 10435"/>
            </a:avLst>
          </a:prstGeom>
          <a:solidFill>
            <a:srgbClr val="FCEDE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114800"/>
            <a:ext cx="47548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极少情况轻微干燥起皮（非结痂脱皮）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Rare mild dry flaking (not heavy peeling)</a:t>
            </a:r>
            <a:endParaRPr lang="en-US" sz="1400" dirty="0"/>
          </a:p>
        </p:txBody>
      </p:sp>
      <p:sp>
        <p:nvSpPr>
          <p:cNvPr id="17" name="arrow 3"/>
          <p:cNvSpPr/>
          <p:nvPr/>
        </p:nvSpPr>
        <p:spPr>
          <a:xfrm>
            <a:off x="5650992" y="4389120"/>
            <a:ext cx="457200" cy="411480"/>
          </a:xfrm>
          <a:prstGeom prst="rightArrow">
            <a:avLst/>
          </a:prstGeom>
          <a:solidFill>
            <a:schemeClr val="accent4"/>
          </a:solidFill>
          <a:ln/>
        </p:spPr>
      </p:sp>
      <p:sp>
        <p:nvSpPr>
          <p:cNvPr id="18" name="action 3"/>
          <p:cNvSpPr/>
          <p:nvPr/>
        </p:nvSpPr>
        <p:spPr>
          <a:xfrm>
            <a:off x="6181344" y="4069080"/>
            <a:ext cx="5522976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364224" y="4114800"/>
            <a:ext cx="51663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加强保湿，禁止撕皮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Intensify moisturiser; never pick or peel the skin manually</a:t>
            </a:r>
            <a:endParaRPr lang="en-US" sz="1400" dirty="0"/>
          </a:p>
        </p:txBody>
      </p:sp>
      <p:sp>
        <p:nvSpPr>
          <p:cNvPr id="20" name="key point banner"/>
          <p:cNvSpPr/>
          <p:nvPr/>
        </p:nvSpPr>
        <p:spPr>
          <a:xfrm>
            <a:off x="457200" y="5349240"/>
            <a:ext cx="11247120" cy="868680"/>
          </a:xfrm>
          <a:prstGeom prst="roundRect">
            <a:avLst>
              <a:gd name="adj" fmla="val 12632"/>
            </a:avLst>
          </a:prstGeom>
          <a:solidFill>
            <a:schemeClr val="tx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31520" y="5349240"/>
            <a:ext cx="10698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chemeClr val="bg1"/>
                </a:solidFill>
              </a:rPr>
              <a:t>重点：规范操作后不会大面积脱皮。明显脱皮代表停留时间过长或刺激过度，美疗师需要复盘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rgbClr val="CFE0D2"/>
                </a:solidFill>
              </a:rPr>
              <a:t>Key point: a proper XE‑LHA Peel should NOT cause heavy peeling. Heavy peeling means over‑exfoliation — review your technique.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客户案例｜前后对比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&amp; After Gallery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油皮毛孔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Oily skin &amp; pores</a:t>
            </a:r>
            <a:endParaRPr lang="en-US" sz="1400" dirty="0"/>
          </a:p>
        </p:txBody>
      </p:sp>
      <p:sp>
        <p:nvSpPr>
          <p:cNvPr id="4" name="photo placeholder 1 术前 BEFORE"/>
          <p:cNvSpPr/>
          <p:nvPr/>
        </p:nvSpPr>
        <p:spPr>
          <a:xfrm>
            <a:off x="457200" y="1965960"/>
            <a:ext cx="2697480" cy="1481328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457200" y="196596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术前 BEFORE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插入原厂授权照片 / insert photo</a:t>
            </a:r>
            <a:endParaRPr lang="en-US" sz="1300" dirty="0"/>
          </a:p>
        </p:txBody>
      </p:sp>
      <p:sp>
        <p:nvSpPr>
          <p:cNvPr id="6" name="photo placeholder 1 术后 AFTER"/>
          <p:cNvSpPr/>
          <p:nvPr/>
        </p:nvSpPr>
        <p:spPr>
          <a:xfrm>
            <a:off x="457200" y="3566160"/>
            <a:ext cx="2697480" cy="1481328"/>
          </a:xfrm>
          <a:prstGeom prst="roundRect">
            <a:avLst>
              <a:gd name="adj" fmla="val 6173"/>
            </a:avLst>
          </a:prstGeom>
          <a:solidFill>
            <a:srgbClr val="E3EFE2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7" name="Text 5"/>
          <p:cNvSpPr txBox="1"/>
          <p:nvPr/>
        </p:nvSpPr>
        <p:spPr>
          <a:xfrm>
            <a:off x="457200" y="356616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术后 AFTER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插入原厂授权照片 / insert photo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3310128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痘印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Post‑acne marks</a:t>
            </a:r>
            <a:endParaRPr lang="en-US" sz="1400" dirty="0"/>
          </a:p>
        </p:txBody>
      </p:sp>
      <p:sp>
        <p:nvSpPr>
          <p:cNvPr id="9" name="photo placeholder 2 术前 BEFORE"/>
          <p:cNvSpPr/>
          <p:nvPr/>
        </p:nvSpPr>
        <p:spPr>
          <a:xfrm>
            <a:off x="3310128" y="1965960"/>
            <a:ext cx="2697480" cy="1481328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0" name="Text 8"/>
          <p:cNvSpPr txBox="1"/>
          <p:nvPr/>
        </p:nvSpPr>
        <p:spPr>
          <a:xfrm>
            <a:off x="3310128" y="196596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术前 BEFORE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插入原厂授权照片 / insert photo</a:t>
            </a:r>
            <a:endParaRPr lang="en-US" sz="1300" dirty="0"/>
          </a:p>
        </p:txBody>
      </p:sp>
      <p:sp>
        <p:nvSpPr>
          <p:cNvPr id="11" name="photo placeholder 2 术后 AFTER"/>
          <p:cNvSpPr/>
          <p:nvPr/>
        </p:nvSpPr>
        <p:spPr>
          <a:xfrm>
            <a:off x="3310128" y="3566160"/>
            <a:ext cx="2697480" cy="1481328"/>
          </a:xfrm>
          <a:prstGeom prst="roundRect">
            <a:avLst>
              <a:gd name="adj" fmla="val 6173"/>
            </a:avLst>
          </a:prstGeom>
          <a:solidFill>
            <a:srgbClr val="E3EFE2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2" name="Text 10"/>
          <p:cNvSpPr txBox="1"/>
          <p:nvPr/>
        </p:nvSpPr>
        <p:spPr>
          <a:xfrm>
            <a:off x="3310128" y="356616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术后 AFTER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插入原厂授权照片 / insert photo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163056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暗沉粗糙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Dull, rough skin</a:t>
            </a:r>
            <a:endParaRPr lang="en-US" sz="1400" dirty="0"/>
          </a:p>
        </p:txBody>
      </p:sp>
      <p:sp>
        <p:nvSpPr>
          <p:cNvPr id="14" name="photo placeholder 3 术前 BEFORE"/>
          <p:cNvSpPr/>
          <p:nvPr/>
        </p:nvSpPr>
        <p:spPr>
          <a:xfrm>
            <a:off x="6163056" y="1965960"/>
            <a:ext cx="2697480" cy="1481328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5" name="Text 13"/>
          <p:cNvSpPr txBox="1"/>
          <p:nvPr/>
        </p:nvSpPr>
        <p:spPr>
          <a:xfrm>
            <a:off x="6163056" y="196596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术前 BEFORE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插入原厂授权照片 / insert photo</a:t>
            </a:r>
            <a:endParaRPr lang="en-US" sz="1300" dirty="0"/>
          </a:p>
        </p:txBody>
      </p:sp>
      <p:sp>
        <p:nvSpPr>
          <p:cNvPr id="16" name="photo placeholder 3 术后 AFTER"/>
          <p:cNvSpPr/>
          <p:nvPr/>
        </p:nvSpPr>
        <p:spPr>
          <a:xfrm>
            <a:off x="6163056" y="3566160"/>
            <a:ext cx="2697480" cy="1481328"/>
          </a:xfrm>
          <a:prstGeom prst="roundRect">
            <a:avLst>
              <a:gd name="adj" fmla="val 6173"/>
            </a:avLst>
          </a:prstGeom>
          <a:solidFill>
            <a:srgbClr val="E3EFE2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6163056" y="356616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术后 AFTER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插入原厂授权照片 / insert photo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9015984" y="1371600"/>
            <a:ext cx="2697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轻度敏感肌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Mild sensitivity</a:t>
            </a:r>
            <a:endParaRPr lang="en-US" sz="1400" dirty="0"/>
          </a:p>
        </p:txBody>
      </p:sp>
      <p:sp>
        <p:nvSpPr>
          <p:cNvPr id="19" name="photo placeholder 4 术前 BEFORE"/>
          <p:cNvSpPr/>
          <p:nvPr/>
        </p:nvSpPr>
        <p:spPr>
          <a:xfrm>
            <a:off x="9015984" y="1965960"/>
            <a:ext cx="2697480" cy="1481328"/>
          </a:xfrm>
          <a:prstGeom prst="roundRect">
            <a:avLst>
              <a:gd name="adj" fmla="val 6173"/>
            </a:avLst>
          </a:prstGeom>
          <a:solidFill>
            <a:schemeClr val="bg2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9015984" y="196596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6"/>
                </a:solidFill>
              </a:rPr>
              <a:t>术前 BEFORE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插入原厂授权照片 / insert photo</a:t>
            </a:r>
            <a:endParaRPr lang="en-US" sz="1300" dirty="0"/>
          </a:p>
        </p:txBody>
      </p:sp>
      <p:sp>
        <p:nvSpPr>
          <p:cNvPr id="21" name="photo placeholder 4 术后 AFTER"/>
          <p:cNvSpPr/>
          <p:nvPr/>
        </p:nvSpPr>
        <p:spPr>
          <a:xfrm>
            <a:off x="9015984" y="3566160"/>
            <a:ext cx="2697480" cy="1481328"/>
          </a:xfrm>
          <a:prstGeom prst="roundRect">
            <a:avLst>
              <a:gd name="adj" fmla="val 6173"/>
            </a:avLst>
          </a:prstGeom>
          <a:solidFill>
            <a:srgbClr val="E3EFE2"/>
          </a:solidFill>
          <a:ln w="15875">
            <a:solidFill>
              <a:schemeClr val="accent4"/>
            </a:solidFill>
            <a:prstDash val="dash"/>
          </a:ln>
        </p:spPr>
      </p:sp>
      <p:sp>
        <p:nvSpPr>
          <p:cNvPr id="22" name="Text 20"/>
          <p:cNvSpPr txBox="1"/>
          <p:nvPr/>
        </p:nvSpPr>
        <p:spPr>
          <a:xfrm>
            <a:off x="9015984" y="3566160"/>
            <a:ext cx="2697480" cy="1481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chemeClr val="accent1"/>
                </a:solidFill>
              </a:rPr>
              <a:t>术后 AFTER</a:t>
            </a:r>
            <a:endParaRPr lang="en-US" sz="1300" dirty="0"/>
          </a:p>
          <a:p>
            <a:pPr algn="ctr"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chemeClr val="accent6"/>
                </a:solidFill>
              </a:rPr>
              <a:t>插入原厂授权照片 / insert photo</a:t>
            </a:r>
            <a:endParaRPr lang="en-US" sz="1300" dirty="0"/>
          </a:p>
        </p:txBody>
      </p:sp>
      <p:sp>
        <p:nvSpPr>
          <p:cNvPr id="23" name="course info"/>
          <p:cNvSpPr/>
          <p:nvPr/>
        </p:nvSpPr>
        <p:spPr>
          <a:xfrm>
            <a:off x="457200" y="5303520"/>
            <a:ext cx="4754880" cy="960120"/>
          </a:xfrm>
          <a:prstGeom prst="roundRect">
            <a:avLst>
              <a:gd name="adj" fmla="val 11429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85800" y="53035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6次疗程｜每2周1次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6‑session full course, every 2 weeks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779008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chemeClr val="accent6"/>
                </a:solidFill>
              </a:rPr>
              <a:t>改善：毛孔粗大、出油旺盛、褐色痘印、肤色暗沉 · Improves pores, oiliness, brown marks, dullness</a:t>
            </a:r>
            <a:endParaRPr lang="en-US" sz="1100" dirty="0"/>
          </a:p>
        </p:txBody>
      </p:sp>
      <p:sp>
        <p:nvSpPr>
          <p:cNvPr id="26" name="disclaimer"/>
          <p:cNvSpPr/>
          <p:nvPr/>
        </p:nvSpPr>
        <p:spPr>
          <a:xfrm>
            <a:off x="5394960" y="5303520"/>
            <a:ext cx="6309360" cy="960120"/>
          </a:xfrm>
          <a:prstGeom prst="roundRect">
            <a:avLst>
              <a:gd name="adj" fmla="val 11429"/>
            </a:avLst>
          </a:prstGeom>
          <a:solidFill>
            <a:srgbClr val="FCEDE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577840" y="5303520"/>
            <a:ext cx="5943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00000"/>
                </a:solidFill>
              </a:rPr>
              <a:t>提示：每位客人原始肤质不同，效果存在个体差异，不能承诺100%相同效果</a:t>
            </a:r>
            <a:endParaRPr lang="en-US" sz="14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accent6"/>
                </a:solidFill>
              </a:rPr>
              <a:t>Disclaimer: individual results vary — never promise identical outcomes to clients.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常见问答 FAQ (1/2)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 · learn these answers by heart 美疗师必背</a:t>
            </a:r>
            <a:endParaRPr lang="en-US" sz="3000" dirty="0"/>
          </a:p>
        </p:txBody>
      </p:sp>
      <p:sp>
        <p:nvSpPr>
          <p:cNvPr id="3" name="question card 1"/>
          <p:cNvSpPr/>
          <p:nvPr/>
        </p:nvSpPr>
        <p:spPr>
          <a:xfrm>
            <a:off x="457200" y="1463040"/>
            <a:ext cx="40233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Q1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做完会脱皮吗？恢复期多久？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0D2"/>
                </a:solidFill>
              </a:rPr>
              <a:t>Will my skin peel? How long is the downtime?</a:t>
            </a:r>
            <a:endParaRPr lang="en-US" sz="1700" dirty="0"/>
          </a:p>
        </p:txBody>
      </p:sp>
      <p:sp>
        <p:nvSpPr>
          <p:cNvPr id="6" name="answer card 1"/>
          <p:cNvSpPr/>
          <p:nvPr/>
        </p:nvSpPr>
        <p:spPr>
          <a:xfrm>
            <a:off x="4617720" y="1463040"/>
            <a:ext cx="70866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  答 Answer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103120"/>
            <a:ext cx="6629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规范操作几乎不会明显脱皮，少数人微微干燥紧绷，可以正常上班、化妆，几乎零恢复期，非常适合上班族。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Proper treatment causes almost no visible peeling. Mild dryness or tightness is possible. Clients can work and wear makeup as normal — near‑zero downtime, perfect for busy working clients.</a:t>
            </a:r>
            <a:endParaRPr lang="en-US" sz="1600" dirty="0"/>
          </a:p>
        </p:txBody>
      </p:sp>
      <p:sp>
        <p:nvSpPr>
          <p:cNvPr id="9" name="question card 2"/>
          <p:cNvSpPr/>
          <p:nvPr/>
        </p:nvSpPr>
        <p:spPr>
          <a:xfrm>
            <a:off x="457200" y="3931920"/>
            <a:ext cx="40233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Q2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61772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多久才看得见效果？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0D2"/>
                </a:solidFill>
              </a:rPr>
              <a:t>When will I see visible improvement?</a:t>
            </a:r>
            <a:endParaRPr lang="en-US" sz="1700" dirty="0"/>
          </a:p>
        </p:txBody>
      </p:sp>
      <p:sp>
        <p:nvSpPr>
          <p:cNvPr id="12" name="answer card 2"/>
          <p:cNvSpPr/>
          <p:nvPr/>
        </p:nvSpPr>
        <p:spPr>
          <a:xfrm>
            <a:off x="4617720" y="3931920"/>
            <a:ext cx="70866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  答 Answer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572000"/>
            <a:ext cx="6629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单次做完立刻提亮；2‑3次后毛孔、出油明显改善；整套6次肤质根本性改善。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Instant glow after one session; better oil control &amp; pores after 2–3 sessions; long‑term skin improvement after the full 6‑session course.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常见问答 FAQ (2/2)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chemeClr val="accent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Frequently Asked Questions · learn these answers by heart 美疗师必背</a:t>
            </a:r>
            <a:endParaRPr lang="en-US" sz="3000" dirty="0"/>
          </a:p>
        </p:txBody>
      </p:sp>
      <p:sp>
        <p:nvSpPr>
          <p:cNvPr id="3" name="question card 3"/>
          <p:cNvSpPr/>
          <p:nvPr/>
        </p:nvSpPr>
        <p:spPr>
          <a:xfrm>
            <a:off x="457200" y="1463040"/>
            <a:ext cx="40233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85800" y="164592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Q3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685800" y="214884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敏感肌肤可以做焕肤吗？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0D2"/>
                </a:solidFill>
              </a:rPr>
              <a:t>Is it safe for sensitive skin?</a:t>
            </a:r>
            <a:endParaRPr lang="en-US" sz="1700" dirty="0"/>
          </a:p>
        </p:txBody>
      </p:sp>
      <p:sp>
        <p:nvSpPr>
          <p:cNvPr id="6" name="answer card 3"/>
          <p:cNvSpPr/>
          <p:nvPr/>
        </p:nvSpPr>
        <p:spPr>
          <a:xfrm>
            <a:off x="4617720" y="1463040"/>
            <a:ext cx="70866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46320" y="16459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  答 Answer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846320" y="2103120"/>
            <a:ext cx="6629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可以！这款焕肤一边代谢角质一边修护屏障，是酸类焕肤里温和度很高的一款。第一次需要缩短操作时间，并先评估皮肤状态。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Yes. It exfoliates while repairing the barrier and is one of the mildest peeling treatments. Reduce dwell time for first‑time sensitive‑skin clients and assess the skin first.</a:t>
            </a:r>
            <a:endParaRPr lang="en-US" sz="1600" dirty="0"/>
          </a:p>
        </p:txBody>
      </p:sp>
      <p:sp>
        <p:nvSpPr>
          <p:cNvPr id="9" name="question card 4"/>
          <p:cNvSpPr/>
          <p:nvPr/>
        </p:nvSpPr>
        <p:spPr>
          <a:xfrm>
            <a:off x="457200" y="3931920"/>
            <a:ext cx="4023360" cy="2286000"/>
          </a:xfrm>
          <a:prstGeom prst="roundRect">
            <a:avLst>
              <a:gd name="adj" fmla="val 4800"/>
            </a:avLst>
          </a:prstGeom>
          <a:solidFill>
            <a:schemeClr val="tx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41148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Q4</a:t>
            </a:r>
            <a:endParaRPr lang="en-US" sz="24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4617720"/>
            <a:ext cx="356616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700" b="1" dirty="0">
                <a:solidFill>
                  <a:schemeClr val="bg1"/>
                </a:solidFill>
              </a:rPr>
              <a:t>可以搭配什么项目一起做？</a:t>
            </a:r>
            <a:endParaRPr lang="en-US" sz="17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300" dirty="0">
                <a:solidFill>
                  <a:srgbClr val="CFE0D2"/>
                </a:solidFill>
              </a:rPr>
              <a:t>What can we combine with XE‑LHA Peel?</a:t>
            </a:r>
            <a:endParaRPr lang="en-US" sz="1700" dirty="0"/>
          </a:p>
        </p:txBody>
      </p:sp>
      <p:sp>
        <p:nvSpPr>
          <p:cNvPr id="12" name="answer card 4"/>
          <p:cNvSpPr/>
          <p:nvPr/>
        </p:nvSpPr>
        <p:spPr>
          <a:xfrm>
            <a:off x="4617720" y="3931920"/>
            <a:ext cx="7086600" cy="2286000"/>
          </a:xfrm>
          <a:prstGeom prst="roundRect">
            <a:avLst>
              <a:gd name="adj" fmla="val 4800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84632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  答 Answer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4846320" y="4572000"/>
            <a:ext cx="6629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00000"/>
                </a:solidFill>
              </a:rPr>
              <a:t>补水导入、LED光疗。⚠ 不可与破皮类项目同期操作，需间隔2周以上。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00" dirty="0">
                <a:solidFill>
                  <a:schemeClr val="accent6"/>
                </a:solidFill>
              </a:rPr>
              <a:t>Hydration infusion, LED light therapy. Avoid invasive needling / laser within a 2‑week window.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55665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112471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重点回顾</a:t>
            </a:r>
            <a:endParaRPr lang="en-US" sz="30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FE0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for Every Therapist</a:t>
            </a:r>
            <a:endParaRPr lang="en-US" sz="3000" dirty="0"/>
          </a:p>
        </p:txBody>
      </p:sp>
      <p:sp>
        <p:nvSpPr>
          <p:cNvPr id="3" name="takeaway card 1"/>
          <p:cNvSpPr/>
          <p:nvPr/>
        </p:nvSpPr>
        <p:spPr>
          <a:xfrm>
            <a:off x="457200" y="1645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3D5F4A"/>
          </a:solidFill>
          <a:ln/>
        </p:spPr>
      </p:sp>
      <p:sp>
        <p:nvSpPr>
          <p:cNvPr id="4" name="takeaway icon 1 bg"/>
          <p:cNvSpPr/>
          <p:nvPr/>
        </p:nvSpPr>
        <p:spPr>
          <a:xfrm>
            <a:off x="73152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takeaway icon 1" descr="takeaway icon 1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715" y="2110435"/>
            <a:ext cx="351130" cy="3511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731520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先评估，再操作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FE0D2"/>
                </a:solidFill>
              </a:rPr>
              <a:t>Assess skin &amp; check contraindications first</a:t>
            </a:r>
            <a:endParaRPr lang="en-US" sz="1800" dirty="0"/>
          </a:p>
        </p:txBody>
      </p:sp>
      <p:sp>
        <p:nvSpPr>
          <p:cNvPr id="7" name="takeaway card 2"/>
          <p:cNvSpPr/>
          <p:nvPr/>
        </p:nvSpPr>
        <p:spPr>
          <a:xfrm>
            <a:off x="4297680" y="1645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3D5F4A"/>
          </a:solidFill>
          <a:ln/>
        </p:spPr>
      </p:sp>
      <p:sp>
        <p:nvSpPr>
          <p:cNvPr id="8" name="takeaway icon 2 bg"/>
          <p:cNvSpPr/>
          <p:nvPr/>
        </p:nvSpPr>
        <p:spPr>
          <a:xfrm>
            <a:off x="457200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takeaway icon 2" descr="takeaway icon 2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195" y="2110435"/>
            <a:ext cx="351130" cy="35113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4572000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避开眼周、嘴唇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FE0D2"/>
                </a:solidFill>
              </a:rPr>
              <a:t>Avoid the eye &amp; lip area</a:t>
            </a:r>
            <a:endParaRPr lang="en-US" sz="1800" dirty="0"/>
          </a:p>
        </p:txBody>
      </p:sp>
      <p:sp>
        <p:nvSpPr>
          <p:cNvPr id="11" name="takeaway card 3"/>
          <p:cNvSpPr/>
          <p:nvPr/>
        </p:nvSpPr>
        <p:spPr>
          <a:xfrm>
            <a:off x="8138160" y="164592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3D5F4A"/>
          </a:solidFill>
          <a:ln/>
        </p:spPr>
      </p:sp>
      <p:sp>
        <p:nvSpPr>
          <p:cNvPr id="12" name="takeaway icon 3 bg"/>
          <p:cNvSpPr/>
          <p:nvPr/>
        </p:nvSpPr>
        <p:spPr>
          <a:xfrm>
            <a:off x="8412480" y="192024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takeaway icon 3" descr="takeaway icon 3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675" y="2110435"/>
            <a:ext cx="351130" cy="35113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412480" y="283464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控制停留时间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FE0D2"/>
                </a:solidFill>
              </a:rPr>
              <a:t>Watch dwell time — sensitive skin max 6 mins in total</a:t>
            </a:r>
            <a:endParaRPr lang="en-US" sz="1800" dirty="0"/>
          </a:p>
        </p:txBody>
      </p:sp>
      <p:sp>
        <p:nvSpPr>
          <p:cNvPr id="15" name="takeaway card 4"/>
          <p:cNvSpPr/>
          <p:nvPr/>
        </p:nvSpPr>
        <p:spPr>
          <a:xfrm>
            <a:off x="457200" y="3886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3D5F4A"/>
          </a:solidFill>
          <a:ln/>
        </p:spPr>
      </p:sp>
      <p:sp>
        <p:nvSpPr>
          <p:cNvPr id="16" name="takeaway icon 4 bg"/>
          <p:cNvSpPr/>
          <p:nvPr/>
        </p:nvSpPr>
        <p:spPr>
          <a:xfrm>
            <a:off x="731520" y="4160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takeaway icon 4" descr="takeaway icon 4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1715" y="4350715"/>
            <a:ext cx="351130" cy="35113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73152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只用凉水擦拭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FE0D2"/>
                </a:solidFill>
              </a:rPr>
              <a:t>Cool water only — never hot</a:t>
            </a:r>
            <a:endParaRPr lang="en-US" sz="1800" dirty="0"/>
          </a:p>
        </p:txBody>
      </p:sp>
      <p:sp>
        <p:nvSpPr>
          <p:cNvPr id="19" name="takeaway card 5"/>
          <p:cNvSpPr/>
          <p:nvPr/>
        </p:nvSpPr>
        <p:spPr>
          <a:xfrm>
            <a:off x="4297680" y="3886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3D5F4A"/>
          </a:solidFill>
          <a:ln/>
        </p:spPr>
      </p:sp>
      <p:sp>
        <p:nvSpPr>
          <p:cNvPr id="20" name="takeaway icon 5 bg"/>
          <p:cNvSpPr/>
          <p:nvPr/>
        </p:nvSpPr>
        <p:spPr>
          <a:xfrm>
            <a:off x="4572000" y="4160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1" name="takeaway icon 5" descr="takeaway icon 5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62195" y="4350715"/>
            <a:ext cx="351130" cy="351130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457200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不应大面积脱皮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FE0D2"/>
                </a:solidFill>
              </a:rPr>
              <a:t>Heavy peeling = technique error, review it</a:t>
            </a:r>
            <a:endParaRPr lang="en-US" sz="1800" dirty="0"/>
          </a:p>
        </p:txBody>
      </p:sp>
      <p:sp>
        <p:nvSpPr>
          <p:cNvPr id="23" name="takeaway card 6"/>
          <p:cNvSpPr/>
          <p:nvPr/>
        </p:nvSpPr>
        <p:spPr>
          <a:xfrm>
            <a:off x="8138160" y="3886200"/>
            <a:ext cx="3566160" cy="2011680"/>
          </a:xfrm>
          <a:prstGeom prst="roundRect">
            <a:avLst>
              <a:gd name="adj" fmla="val 5455"/>
            </a:avLst>
          </a:prstGeom>
          <a:solidFill>
            <a:srgbClr val="3D5F4A"/>
          </a:solidFill>
          <a:ln/>
        </p:spPr>
      </p:sp>
      <p:sp>
        <p:nvSpPr>
          <p:cNvPr id="24" name="takeaway icon 6 bg"/>
          <p:cNvSpPr/>
          <p:nvPr/>
        </p:nvSpPr>
        <p:spPr>
          <a:xfrm>
            <a:off x="8412480" y="416052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takeaway icon 6" descr="takeaway icon 6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02675" y="4350715"/>
            <a:ext cx="351130" cy="351130"/>
          </a:xfrm>
          <a:prstGeom prst="rect">
            <a:avLst/>
          </a:prstGeom>
        </p:spPr>
      </p:pic>
      <p:sp>
        <p:nvSpPr>
          <p:cNvPr id="26" name="Text 18"/>
          <p:cNvSpPr txBox="1"/>
          <p:nvPr/>
        </p:nvSpPr>
        <p:spPr>
          <a:xfrm>
            <a:off x="8412480" y="50749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800" b="1" dirty="0">
                <a:solidFill>
                  <a:schemeClr val="bg1"/>
                </a:solidFill>
              </a:rPr>
              <a:t>严格防晒 SPF50+</a:t>
            </a:r>
            <a:endParaRPr lang="en-US" sz="18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CFE0D2"/>
                </a:solidFill>
              </a:rPr>
              <a:t>Strict sun protection &amp; hydration at home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CFE0D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XE-LHA Training">
  <a:themeElements>
    <a:clrScheme name="XE-LHA Training">
      <a:dk1>
        <a:srgbClr val="1F2D26"/>
      </a:dk1>
      <a:lt1>
        <a:srgbClr val="FFFFFF"/>
      </a:lt1>
      <a:dk2>
        <a:srgbClr val="2F4A3A"/>
      </a:dk2>
      <a:lt2>
        <a:srgbClr val="EEF4EC"/>
      </a:lt2>
      <a:accent1>
        <a:srgbClr val="4F8559"/>
      </a:accent1>
      <a:accent2>
        <a:srgbClr val="B8923A"/>
      </a:accent2>
      <a:accent3>
        <a:srgbClr val="D9694B"/>
      </a:accent3>
      <a:accent4>
        <a:srgbClr val="8FB996"/>
      </a:accent4>
      <a:accent5>
        <a:srgbClr val="F4E6C3"/>
      </a:accent5>
      <a:accent6>
        <a:srgbClr val="55665C"/>
      </a:accent6>
      <a:hlink>
        <a:srgbClr val="4F8559"/>
      </a:hlink>
      <a:folHlink>
        <a:srgbClr val="55665C"/>
      </a:folHlink>
    </a:clrScheme>
    <a:fontScheme name="XE-LHA Training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XE-LHA Peel Staff Training</dc:title>
  <dc:subject>PptxGenJS Presentation</dc:subject>
  <dc:creator>Salon Training</dc:creator>
  <cp:lastModifiedBy>Salon Training</cp:lastModifiedBy>
  <cp:revision>1</cp:revision>
  <dcterms:created xsi:type="dcterms:W3CDTF">2026-10-06T14:05:22Z</dcterms:created>
  <dcterms:modified xsi:type="dcterms:W3CDTF">2026-10-06T14:05:22Z</dcterms:modified>
</cp:coreProperties>
</file>