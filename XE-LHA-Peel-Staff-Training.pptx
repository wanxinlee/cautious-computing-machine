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简介" id="{648013d9-41ee-1b5c-2349-36acf242a96b}">
          <p14:sldIdLst>
            <p14:sldId id="256"/>
            <p14:sldId id="257"/>
            <p14:sldId id="258"/>
          </p14:sldIdLst>
        </p14:section>
        <p14:section name="Product 产品" id="{e7ad59f4-aa8d-e402-fc03-8d49ca13d245}">
          <p14:sldIdLst>
            <p14:sldId id="259"/>
            <p14:sldId id="260"/>
            <p14:sldId id="261"/>
            <p14:sldId id="262"/>
            <p14:sldId id="263"/>
            <p14:sldId id="264"/>
            <p14:sldId id="265"/>
            <p14:sldId id="266"/>
            <p14:sldId id="267"/>
          </p14:sldIdLst>
        </p14:section>
        <p14:section name="Part 2 原理" id="{0579199e-8e1e-0955-03c4-3e89e8f5435c}">
          <p14:sldIdLst>
            <p14:sldId id="268"/>
            <p14:sldId id="269"/>
            <p14:sldId id="270"/>
            <p14:sldId id="271"/>
            <p14:sldId id="272"/>
            <p14:sldId id="273"/>
            <p14:sldId id="274"/>
            <p14:sldId id="275"/>
            <p14:sldId id="276"/>
          </p14:sldIdLst>
        </p14:section>
        <p14:section name="Procedure 操作流程" id="{036dd019-3d0d-a9c6-dc8c-27938f434b1f}">
          <p14:sldIdLst>
            <p14:sldId id="277"/>
            <p14:sldId id="278"/>
            <p14:sldId id="279"/>
          </p14:sldIdLst>
        </p14:section>
        <p14:section name="Safety 安全" id="{d1fbe260-b60d-aa54-fb7a-248163d33d19}">
          <p14:sldIdLst>
            <p14:sldId id="280"/>
            <p14:sldId id="281"/>
            <p14:sldId id="282"/>
            <p14:sldId id="283"/>
          </p14:sldIdLst>
        </p14:section>
        <p14:section name="Reference 参考" id="{71d88cc6-07fc-26dd-4a19-c5458c895822}">
          <p14:sldIdLst>
            <p14:sldId id="284"/>
            <p14:sldId id="285"/>
            <p14:sldId id="286"/>
            <p14:sldId id="287"/>
            <p14:sldId id="288"/>
            <p14:sldId id="289"/>
            <p14:sldId id="290"/>
            <p14:sldId id="291"/>
            <p14:sldId id="292"/>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19088"/>
            <a:ext cx="7315200" cy="274320"/>
          </a:xfrm>
          <a:prstGeom prst="rect">
            <a:avLst/>
          </a:prstGeom>
          <a:noFill/>
          <a:ln/>
        </p:spPr>
        <p:txBody>
          <a:bodyPr wrap="square" lIns="0" tIns="0" rIns="0" bIns="0" rtlCol="0" anchor="ctr"/>
          <a:lstStyle/>
          <a:p>
            <a:pPr indent="0" marL="0">
              <a:buNone/>
            </a:pPr>
            <a:r>
              <a:rPr lang="en-US" sz="1000" dirty="0">
                <a:solidFill>
                  <a:srgbClr val="55665C"/>
                </a:solidFill>
              </a:rPr>
              <a:t>XE‑LHA Peel  ·  员工培训 Staff Training  ·  Internal use 内部资料</a:t>
            </a:r>
            <a:endParaRPr lang="en-US" sz="1000" dirty="0"/>
          </a:p>
        </p:txBody>
      </p:sp>
      <p:sp>
        <p:nvSpPr>
          <p:cNvPr id="3" name="Text 1"/>
          <p:cNvSpPr/>
          <p:nvPr>
            <p:ph idx="101" type="title" hasCustomPrompt="1"/>
          </p:nvPr>
        </p:nvSpPr>
        <p:spPr>
          <a:xfrm>
            <a:off x="457200" y="274320"/>
            <a:ext cx="11247120" cy="1005840"/>
          </a:xfrm>
          <a:prstGeom prst="rect">
            <a:avLst/>
          </a:prstGeom>
          <a:noFill/>
          <a:ln/>
        </p:spPr>
        <p:txBody>
          <a:bodyPr wrap="square" rtlCol="0"/>
          <a:lstStyle>
            <a:lvl1pPr algn="l" indent="0" marL="0">
              <a:buNone/>
              <a:defRPr lang="en-US" dirty="0">
                <a:solidFill>
                  <a:schemeClr val="tx2"/>
                </a:solidFill>
                <a:latin typeface="Calibri" pitchFamily="34" charset="0"/>
                <a:ea typeface="Calibri" pitchFamily="34" charset="-122"/>
                <a:cs typeface="Calibri"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F4A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1005840"/>
          </a:xfrm>
          <a:prstGeom prst="rect">
            <a:avLst/>
          </a:prstGeom>
          <a:noFill/>
          <a:ln/>
        </p:spPr>
        <p:txBody>
          <a:bodyPr wrap="square" rtlCol="0"/>
          <a:lstStyle>
            <a:lvl1pPr algn="l" indent="0" marL="0">
              <a:buNone/>
              <a:defRPr lang="en-US" dirty="0">
                <a:solidFill>
                  <a:schemeClr val="bg1"/>
                </a:solidFill>
                <a:latin typeface="Calibri" pitchFamily="34" charset="0"/>
                <a:ea typeface="Calibri" pitchFamily="34" charset="-122"/>
                <a:cs typeface="Calibri"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0D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2.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image" Target="../media/image-26-11.png"/><Relationship Id="rId12" Type="http://schemas.openxmlformats.org/officeDocument/2006/relationships/slideLayout" Target="../slideLayouts/slideLayout2.xml"/><Relationship Id="rId1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2.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slideLayout" Target="../slideLayouts/slideLayout3.xml"/><Relationship Id="rId8"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o circle 1"/>
          <p:cNvSpPr/>
          <p:nvPr/>
        </p:nvSpPr>
        <p:spPr>
          <a:xfrm>
            <a:off x="7498080" y="-1463040"/>
            <a:ext cx="5852160" cy="5852160"/>
          </a:xfrm>
          <a:prstGeom prst="ellipse">
            <a:avLst/>
          </a:prstGeom>
          <a:solidFill>
            <a:srgbClr val="3D5F4A"/>
          </a:solidFill>
          <a:ln/>
        </p:spPr>
      </p:sp>
      <p:sp>
        <p:nvSpPr>
          <p:cNvPr id="3" name="deco circle 2"/>
          <p:cNvSpPr/>
          <p:nvPr/>
        </p:nvSpPr>
        <p:spPr>
          <a:xfrm>
            <a:off x="5394960" y="4206240"/>
            <a:ext cx="3291840" cy="3291840"/>
          </a:xfrm>
          <a:prstGeom prst="ellipse">
            <a:avLst/>
          </a:prstGeom>
          <a:solidFill>
            <a:srgbClr val="3A5846"/>
          </a:solidFill>
          <a:ln/>
        </p:spPr>
      </p:sp>
      <p:sp>
        <p:nvSpPr>
          <p:cNvPr id="4" name="Text 2"/>
          <p:cNvSpPr txBox="1"/>
          <p:nvPr/>
        </p:nvSpPr>
        <p:spPr>
          <a:xfrm>
            <a:off x="640080" y="822960"/>
            <a:ext cx="5029200" cy="365760"/>
          </a:xfrm>
          <a:prstGeom prst="rect">
            <a:avLst/>
          </a:prstGeom>
          <a:noFill/>
          <a:ln/>
        </p:spPr>
        <p:txBody>
          <a:bodyPr wrap="square" lIns="0" tIns="0" rIns="0" bIns="0" rtlCol="0" anchor="ctr"/>
          <a:lstStyle/>
          <a:p>
            <a:pPr indent="0" marL="0">
              <a:buNone/>
            </a:pPr>
            <a:r>
              <a:rPr lang="en-US" sz="1400" b="1" spc="300" kern="0" dirty="0">
                <a:solidFill>
                  <a:srgbClr val="A9D3B0"/>
                </a:solidFill>
              </a:rPr>
              <a:t>INTERNAL TRAINING  内部培训</a:t>
            </a:r>
            <a:endParaRPr lang="en-US" sz="1400" dirty="0"/>
          </a:p>
        </p:txBody>
      </p:sp>
      <p:sp>
        <p:nvSpPr>
          <p:cNvPr id="5" name="Text 3"/>
          <p:cNvSpPr txBox="1"/>
          <p:nvPr/>
        </p:nvSpPr>
        <p:spPr>
          <a:xfrm>
            <a:off x="640080" y="1371600"/>
            <a:ext cx="6583680" cy="914400"/>
          </a:xfrm>
          <a:prstGeom prst="rect">
            <a:avLst/>
          </a:prstGeom>
          <a:noFill/>
          <a:ln/>
        </p:spPr>
        <p:txBody>
          <a:bodyPr wrap="square" lIns="0" tIns="0" rIns="0" bIns="0" rtlCol="0" anchor="ctr"/>
          <a:lstStyle/>
          <a:p>
            <a:pPr indent="0" marL="0">
              <a:buNone/>
            </a:pPr>
            <a:r>
              <a:rPr lang="en-US" sz="5600" b="1" dirty="0">
                <a:solidFill>
                  <a:schemeClr val="bg1"/>
                </a:solidFill>
              </a:rPr>
              <a:t>XE‑LHA PEEL</a:t>
            </a:r>
            <a:endParaRPr lang="en-US" sz="5600" dirty="0"/>
          </a:p>
        </p:txBody>
      </p:sp>
      <p:sp>
        <p:nvSpPr>
          <p:cNvPr id="6" name="Text 4"/>
          <p:cNvSpPr txBox="1"/>
          <p:nvPr/>
        </p:nvSpPr>
        <p:spPr>
          <a:xfrm>
            <a:off x="640080" y="2331720"/>
            <a:ext cx="6583680" cy="731520"/>
          </a:xfrm>
          <a:prstGeom prst="rect">
            <a:avLst/>
          </a:prstGeom>
          <a:noFill/>
          <a:ln/>
        </p:spPr>
        <p:txBody>
          <a:bodyPr wrap="square" lIns="0" tIns="0" rIns="0" bIns="0" rtlCol="0" anchor="ctr"/>
          <a:lstStyle/>
          <a:p>
            <a:pPr indent="0" marL="0">
              <a:buNone/>
            </a:pPr>
            <a:r>
              <a:rPr lang="en-US" sz="3600" b="1" dirty="0">
                <a:solidFill>
                  <a:schemeClr val="bg1"/>
                </a:solidFill>
              </a:rPr>
              <a:t>韩国温和焕肤疗程</a:t>
            </a:r>
            <a:endParaRPr lang="en-US" sz="3600" dirty="0"/>
          </a:p>
        </p:txBody>
      </p:sp>
      <p:sp>
        <p:nvSpPr>
          <p:cNvPr id="7" name="Text 5"/>
          <p:cNvSpPr txBox="1"/>
          <p:nvPr/>
        </p:nvSpPr>
        <p:spPr>
          <a:xfrm>
            <a:off x="640080" y="3063240"/>
            <a:ext cx="6583680" cy="457200"/>
          </a:xfrm>
          <a:prstGeom prst="rect">
            <a:avLst/>
          </a:prstGeom>
          <a:noFill/>
          <a:ln/>
        </p:spPr>
        <p:txBody>
          <a:bodyPr wrap="square" lIns="0" tIns="0" rIns="0" bIns="0" rtlCol="0" anchor="ctr"/>
          <a:lstStyle/>
          <a:p>
            <a:pPr indent="0" marL="0">
              <a:buNone/>
            </a:pPr>
            <a:r>
              <a:rPr lang="en-US" sz="2200" dirty="0">
                <a:solidFill>
                  <a:srgbClr val="CFE0D2"/>
                </a:solidFill>
              </a:rPr>
              <a:t>Korean Gentle Skin Peel Treatment</a:t>
            </a:r>
            <a:endParaRPr lang="en-US" sz="2200" dirty="0"/>
          </a:p>
        </p:txBody>
      </p:sp>
      <p:sp>
        <p:nvSpPr>
          <p:cNvPr id="8" name="Text 6"/>
          <p:cNvSpPr txBox="1"/>
          <p:nvPr/>
        </p:nvSpPr>
        <p:spPr>
          <a:xfrm>
            <a:off x="640080" y="3931920"/>
            <a:ext cx="6400800" cy="82296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rPr>
              <a:t>员工实操 &amp; 销售话术培训</a:t>
            </a:r>
            <a:endParaRPr lang="en-US" sz="1800" dirty="0"/>
          </a:p>
          <a:p>
            <a:pPr indent="0" marL="0">
              <a:spcAft>
                <a:spcPts val="300"/>
              </a:spcAft>
              <a:buNone/>
            </a:pPr>
            <a:r>
              <a:rPr lang="en-US" sz="1600" dirty="0">
                <a:solidFill>
                  <a:srgbClr val="CFE0D2"/>
                </a:solidFill>
              </a:rPr>
              <a:t>Therapist Practical &amp; Sales Training</a:t>
            </a:r>
            <a:endParaRPr lang="en-US" sz="1800" dirty="0"/>
          </a:p>
        </p:txBody>
      </p:sp>
      <p:sp>
        <p:nvSpPr>
          <p:cNvPr id="9" name="Text 7"/>
          <p:cNvSpPr txBox="1"/>
          <p:nvPr/>
        </p:nvSpPr>
        <p:spPr>
          <a:xfrm>
            <a:off x="640080" y="5303520"/>
            <a:ext cx="5486400" cy="731520"/>
          </a:xfrm>
          <a:prstGeom prst="rect">
            <a:avLst/>
          </a:prstGeom>
          <a:noFill/>
          <a:ln/>
        </p:spPr>
        <p:txBody>
          <a:bodyPr wrap="square" lIns="0" tIns="0" rIns="0" bIns="0" rtlCol="0" anchor="t"/>
          <a:lstStyle/>
          <a:p>
            <a:pPr indent="0" marL="0">
              <a:spcAft>
                <a:spcPts val="600"/>
              </a:spcAft>
              <a:buNone/>
            </a:pPr>
            <a:r>
              <a:rPr lang="en-US" sz="1400" dirty="0">
                <a:solidFill>
                  <a:srgbClr val="CFE0D2"/>
                </a:solidFill>
              </a:rPr>
              <a:t>门店 Salon: 新加坡 Singapore ‑ ______________</a:t>
            </a:r>
            <a:endParaRPr lang="en-US" sz="1400" dirty="0"/>
          </a:p>
          <a:p>
            <a:pPr indent="0" marL="0">
              <a:spcAft>
                <a:spcPts val="600"/>
              </a:spcAft>
              <a:buNone/>
            </a:pPr>
            <a:r>
              <a:rPr lang="en-US" sz="1400" dirty="0">
                <a:solidFill>
                  <a:srgbClr val="CFE0D2"/>
                </a:solidFill>
              </a:rPr>
              <a:t>培训日期 Date: ____________________</a:t>
            </a:r>
            <a:endParaRPr lang="en-US" sz="1400" dirty="0"/>
          </a:p>
        </p:txBody>
      </p:sp>
      <p:sp>
        <p:nvSpPr>
          <p:cNvPr id="10" name="product photo card"/>
          <p:cNvSpPr/>
          <p:nvPr/>
        </p:nvSpPr>
        <p:spPr>
          <a:xfrm>
            <a:off x="7772400" y="1280160"/>
            <a:ext cx="3840480" cy="4572000"/>
          </a:xfrm>
          <a:prstGeom prst="roundRect">
            <a:avLst>
              <a:gd name="adj" fmla="val 4762"/>
            </a:avLst>
          </a:prstGeom>
          <a:solidFill>
            <a:srgbClr val="FFFFFF"/>
          </a:solidFill>
          <a:ln/>
        </p:spPr>
      </p:sp>
      <p:pic>
        <p:nvPicPr>
          <p:cNvPr id="11" name="XE-LHA Peel Basic and Ultra bottles" descr="XE-LHA Peel Basic and Ultra bottles">    </p:cNvPr>
          <p:cNvPicPr>
            <a:picLocks noChangeAspect="1"/>
          </p:cNvPicPr>
          <p:nvPr/>
        </p:nvPicPr>
        <p:blipFill>
          <a:blip r:embed="rId1"/>
          <a:stretch>
            <a:fillRect/>
          </a:stretch>
        </p:blipFill>
        <p:spPr>
          <a:xfrm>
            <a:off x="8038774" y="1417320"/>
            <a:ext cx="3307732" cy="4297680"/>
          </a:xfrm>
          <a:prstGeom prst="rect">
            <a:avLst/>
          </a:prstGeom>
        </p:spPr>
      </p:pic>
      <p:sp>
        <p:nvSpPr>
          <p:cNvPr id="12" name="Text 0"/>
          <p:cNvSpPr/>
          <p:nvPr>
            <p:ph idx="100"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endParaRPr lang="en-US"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0D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目录</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Table of Contents</a:t>
            </a:r>
            <a:endParaRPr lang="en-US" sz="3000" dirty="0"/>
          </a:p>
        </p:txBody>
      </p:sp>
      <p:sp>
        <p:nvSpPr>
          <p:cNvPr id="3" name="toc card 1"/>
          <p:cNvSpPr/>
          <p:nvPr/>
        </p:nvSpPr>
        <p:spPr>
          <a:xfrm>
            <a:off x="457200" y="1463040"/>
            <a:ext cx="5486400" cy="676656"/>
          </a:xfrm>
          <a:prstGeom prst="roundRect">
            <a:avLst>
              <a:gd name="adj" fmla="val 16216"/>
            </a:avLst>
          </a:prstGeom>
          <a:solidFill>
            <a:schemeClr val="bg2"/>
          </a:solidFill>
          <a:ln/>
        </p:spPr>
      </p:sp>
      <p:sp>
        <p:nvSpPr>
          <p:cNvPr id="4" name="num 1"/>
          <p:cNvSpPr txBox="1"/>
          <p:nvPr/>
        </p:nvSpPr>
        <p:spPr>
          <a:xfrm>
            <a:off x="640080" y="1572768"/>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5" name="Text 3"/>
          <p:cNvSpPr txBox="1"/>
          <p:nvPr/>
        </p:nvSpPr>
        <p:spPr>
          <a:xfrm>
            <a:off x="1280160" y="1508760"/>
            <a:ext cx="4480560" cy="585216"/>
          </a:xfrm>
          <a:prstGeom prst="rect">
            <a:avLst/>
          </a:prstGeom>
          <a:noFill/>
          <a:ln/>
        </p:spPr>
        <p:txBody>
          <a:bodyPr wrap="square" lIns="0" tIns="0" rIns="0" bIns="0" rtlCol="0" anchor="ctr"/>
          <a:lstStyle/>
          <a:p>
            <a:pPr indent="0" marL="0">
              <a:buNone/>
            </a:pPr>
            <a:r>
              <a:rPr lang="en-US" sz="1500" b="1" dirty="0">
                <a:solidFill>
                  <a:schemeClr val="tx1"/>
                </a:solidFill>
              </a:rPr>
              <a:t>品牌简介</a:t>
            </a:r>
            <a:endParaRPr lang="en-US" sz="1500" dirty="0"/>
          </a:p>
          <a:p>
            <a:pPr indent="0" marL="0">
              <a:buNone/>
            </a:pPr>
            <a:r>
              <a:rPr lang="en-US" sz="1200" dirty="0">
                <a:solidFill>
                  <a:schemeClr val="accent6"/>
                </a:solidFill>
              </a:rPr>
              <a:t>About the XE‑LHA Brand</a:t>
            </a:r>
            <a:endParaRPr lang="en-US" sz="1500" dirty="0"/>
          </a:p>
        </p:txBody>
      </p:sp>
      <p:sp>
        <p:nvSpPr>
          <p:cNvPr id="6" name="toc card 2"/>
          <p:cNvSpPr/>
          <p:nvPr/>
        </p:nvSpPr>
        <p:spPr>
          <a:xfrm>
            <a:off x="457200" y="2249424"/>
            <a:ext cx="5486400" cy="676656"/>
          </a:xfrm>
          <a:prstGeom prst="roundRect">
            <a:avLst>
              <a:gd name="adj" fmla="val 16216"/>
            </a:avLst>
          </a:prstGeom>
          <a:solidFill>
            <a:schemeClr val="bg2"/>
          </a:solidFill>
          <a:ln/>
        </p:spPr>
      </p:sp>
      <p:sp>
        <p:nvSpPr>
          <p:cNvPr id="7" name="num 2"/>
          <p:cNvSpPr txBox="1"/>
          <p:nvPr/>
        </p:nvSpPr>
        <p:spPr>
          <a:xfrm>
            <a:off x="640080" y="2359152"/>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8" name="Text 6"/>
          <p:cNvSpPr txBox="1"/>
          <p:nvPr/>
        </p:nvSpPr>
        <p:spPr>
          <a:xfrm>
            <a:off x="1280160" y="2295144"/>
            <a:ext cx="4480560" cy="585216"/>
          </a:xfrm>
          <a:prstGeom prst="rect">
            <a:avLst/>
          </a:prstGeom>
          <a:noFill/>
          <a:ln/>
        </p:spPr>
        <p:txBody>
          <a:bodyPr wrap="square" lIns="0" tIns="0" rIns="0" bIns="0" rtlCol="0" anchor="ctr"/>
          <a:lstStyle/>
          <a:p>
            <a:pPr indent="0" marL="0">
              <a:buNone/>
            </a:pPr>
            <a:r>
              <a:rPr lang="en-US" sz="1500" b="1" dirty="0">
                <a:solidFill>
                  <a:schemeClr val="tx1"/>
                </a:solidFill>
              </a:rPr>
              <a:t>项目简介与产品组合</a:t>
            </a:r>
            <a:endParaRPr lang="en-US" sz="1500" dirty="0"/>
          </a:p>
          <a:p>
            <a:pPr indent="0" marL="0">
              <a:buNone/>
            </a:pPr>
            <a:r>
              <a:rPr lang="en-US" sz="1200" dirty="0">
                <a:solidFill>
                  <a:schemeClr val="accent6"/>
                </a:solidFill>
              </a:rPr>
              <a:t>What is XE‑LHA Peel &amp; Product Line‑up</a:t>
            </a:r>
            <a:endParaRPr lang="en-US" sz="1500" dirty="0"/>
          </a:p>
        </p:txBody>
      </p:sp>
      <p:sp>
        <p:nvSpPr>
          <p:cNvPr id="9" name="toc card 3"/>
          <p:cNvSpPr/>
          <p:nvPr/>
        </p:nvSpPr>
        <p:spPr>
          <a:xfrm>
            <a:off x="457200" y="3035808"/>
            <a:ext cx="5486400" cy="676656"/>
          </a:xfrm>
          <a:prstGeom prst="roundRect">
            <a:avLst>
              <a:gd name="adj" fmla="val 16216"/>
            </a:avLst>
          </a:prstGeom>
          <a:solidFill>
            <a:schemeClr val="bg2"/>
          </a:solidFill>
          <a:ln/>
        </p:spPr>
      </p:sp>
      <p:sp>
        <p:nvSpPr>
          <p:cNvPr id="10" name="num 3"/>
          <p:cNvSpPr txBox="1"/>
          <p:nvPr/>
        </p:nvSpPr>
        <p:spPr>
          <a:xfrm>
            <a:off x="640080" y="3145536"/>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1" name="Text 9"/>
          <p:cNvSpPr txBox="1"/>
          <p:nvPr/>
        </p:nvSpPr>
        <p:spPr>
          <a:xfrm>
            <a:off x="1280160" y="3081528"/>
            <a:ext cx="4480560" cy="585216"/>
          </a:xfrm>
          <a:prstGeom prst="rect">
            <a:avLst/>
          </a:prstGeom>
          <a:noFill/>
          <a:ln/>
        </p:spPr>
        <p:txBody>
          <a:bodyPr wrap="square" lIns="0" tIns="0" rIns="0" bIns="0" rtlCol="0" anchor="ctr"/>
          <a:lstStyle/>
          <a:p>
            <a:pPr indent="0" marL="0">
              <a:buNone/>
            </a:pPr>
            <a:r>
              <a:rPr lang="en-US" sz="1500" b="1" dirty="0">
                <a:solidFill>
                  <a:schemeClr val="tx1"/>
                </a:solidFill>
              </a:rPr>
              <a:t>核心成分与焕肤原理</a:t>
            </a:r>
            <a:endParaRPr lang="en-US" sz="1500" dirty="0"/>
          </a:p>
          <a:p>
            <a:pPr indent="0" marL="0">
              <a:buNone/>
            </a:pPr>
            <a:r>
              <a:rPr lang="en-US" sz="1200" dirty="0">
                <a:solidFill>
                  <a:schemeClr val="accent6"/>
                </a:solidFill>
              </a:rPr>
              <a:t>Key Ingredients &amp; Working Principle</a:t>
            </a:r>
            <a:endParaRPr lang="en-US" sz="1500" dirty="0"/>
          </a:p>
        </p:txBody>
      </p:sp>
      <p:sp>
        <p:nvSpPr>
          <p:cNvPr id="12" name="toc card 4"/>
          <p:cNvSpPr/>
          <p:nvPr/>
        </p:nvSpPr>
        <p:spPr>
          <a:xfrm>
            <a:off x="457200" y="3822192"/>
            <a:ext cx="5486400" cy="676656"/>
          </a:xfrm>
          <a:prstGeom prst="roundRect">
            <a:avLst>
              <a:gd name="adj" fmla="val 16216"/>
            </a:avLst>
          </a:prstGeom>
          <a:solidFill>
            <a:schemeClr val="bg2"/>
          </a:solidFill>
          <a:ln/>
        </p:spPr>
      </p:sp>
      <p:sp>
        <p:nvSpPr>
          <p:cNvPr id="13" name="num 4"/>
          <p:cNvSpPr txBox="1"/>
          <p:nvPr/>
        </p:nvSpPr>
        <p:spPr>
          <a:xfrm>
            <a:off x="640080" y="393192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4" name="Text 12"/>
          <p:cNvSpPr txBox="1"/>
          <p:nvPr/>
        </p:nvSpPr>
        <p:spPr>
          <a:xfrm>
            <a:off x="1280160" y="3867912"/>
            <a:ext cx="4480560" cy="585216"/>
          </a:xfrm>
          <a:prstGeom prst="rect">
            <a:avLst/>
          </a:prstGeom>
          <a:noFill/>
          <a:ln/>
        </p:spPr>
        <p:txBody>
          <a:bodyPr wrap="square" lIns="0" tIns="0" rIns="0" bIns="0" rtlCol="0" anchor="ctr"/>
          <a:lstStyle/>
          <a:p>
            <a:pPr indent="0" marL="0">
              <a:buNone/>
            </a:pPr>
            <a:r>
              <a:rPr lang="en-US" sz="1500" b="1" dirty="0">
                <a:solidFill>
                  <a:schemeClr val="tx1"/>
                </a:solidFill>
              </a:rPr>
              <a:t>功效与临床数据</a:t>
            </a:r>
            <a:endParaRPr lang="en-US" sz="1500" dirty="0"/>
          </a:p>
          <a:p>
            <a:pPr indent="0" marL="0">
              <a:buNone/>
            </a:pPr>
            <a:r>
              <a:rPr lang="en-US" sz="1200" dirty="0">
                <a:solidFill>
                  <a:schemeClr val="accent6"/>
                </a:solidFill>
              </a:rPr>
              <a:t>Skin Benefits &amp; Clinical Evidence</a:t>
            </a:r>
            <a:endParaRPr lang="en-US" sz="1500" dirty="0"/>
          </a:p>
        </p:txBody>
      </p:sp>
      <p:sp>
        <p:nvSpPr>
          <p:cNvPr id="15" name="toc card 5"/>
          <p:cNvSpPr/>
          <p:nvPr/>
        </p:nvSpPr>
        <p:spPr>
          <a:xfrm>
            <a:off x="457200" y="4608576"/>
            <a:ext cx="5486400" cy="676656"/>
          </a:xfrm>
          <a:prstGeom prst="roundRect">
            <a:avLst>
              <a:gd name="adj" fmla="val 16216"/>
            </a:avLst>
          </a:prstGeom>
          <a:solidFill>
            <a:schemeClr val="bg2"/>
          </a:solidFill>
          <a:ln/>
        </p:spPr>
      </p:sp>
      <p:sp>
        <p:nvSpPr>
          <p:cNvPr id="16" name="num 5"/>
          <p:cNvSpPr txBox="1"/>
          <p:nvPr/>
        </p:nvSpPr>
        <p:spPr>
          <a:xfrm>
            <a:off x="640080" y="4718304"/>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17" name="Text 15"/>
          <p:cNvSpPr txBox="1"/>
          <p:nvPr/>
        </p:nvSpPr>
        <p:spPr>
          <a:xfrm>
            <a:off x="1280160" y="4654296"/>
            <a:ext cx="4480560" cy="585216"/>
          </a:xfrm>
          <a:prstGeom prst="rect">
            <a:avLst/>
          </a:prstGeom>
          <a:noFill/>
          <a:ln/>
        </p:spPr>
        <p:txBody>
          <a:bodyPr wrap="square" lIns="0" tIns="0" rIns="0" bIns="0" rtlCol="0" anchor="ctr"/>
          <a:lstStyle/>
          <a:p>
            <a:pPr indent="0" marL="0">
              <a:buNone/>
            </a:pPr>
            <a:r>
              <a:rPr lang="en-US" sz="1500" b="1" dirty="0">
                <a:solidFill>
                  <a:schemeClr val="tx1"/>
                </a:solidFill>
              </a:rPr>
              <a:t>了解焕肤原理（第二部分）</a:t>
            </a:r>
            <a:endParaRPr lang="en-US" sz="1500" dirty="0"/>
          </a:p>
          <a:p>
            <a:pPr indent="0" marL="0">
              <a:buNone/>
            </a:pPr>
            <a:r>
              <a:rPr lang="en-US" sz="1200" dirty="0">
                <a:solidFill>
                  <a:schemeClr val="accent6"/>
                </a:solidFill>
              </a:rPr>
              <a:t>Part 2 · Understanding Peeling, vs Facial, Staff Quiz</a:t>
            </a:r>
            <a:endParaRPr lang="en-US" sz="1500" dirty="0"/>
          </a:p>
        </p:txBody>
      </p:sp>
      <p:sp>
        <p:nvSpPr>
          <p:cNvPr id="18" name="toc card 6"/>
          <p:cNvSpPr/>
          <p:nvPr/>
        </p:nvSpPr>
        <p:spPr>
          <a:xfrm>
            <a:off x="457200" y="5394960"/>
            <a:ext cx="5486400" cy="676656"/>
          </a:xfrm>
          <a:prstGeom prst="roundRect">
            <a:avLst>
              <a:gd name="adj" fmla="val 16216"/>
            </a:avLst>
          </a:prstGeom>
          <a:solidFill>
            <a:schemeClr val="bg2"/>
          </a:solidFill>
          <a:ln/>
        </p:spPr>
      </p:sp>
      <p:sp>
        <p:nvSpPr>
          <p:cNvPr id="19" name="num 6"/>
          <p:cNvSpPr txBox="1"/>
          <p:nvPr/>
        </p:nvSpPr>
        <p:spPr>
          <a:xfrm>
            <a:off x="640080" y="5504688"/>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20" name="Text 18"/>
          <p:cNvSpPr txBox="1"/>
          <p:nvPr/>
        </p:nvSpPr>
        <p:spPr>
          <a:xfrm>
            <a:off x="1280160" y="5440680"/>
            <a:ext cx="4480560" cy="585216"/>
          </a:xfrm>
          <a:prstGeom prst="rect">
            <a:avLst/>
          </a:prstGeom>
          <a:noFill/>
          <a:ln/>
        </p:spPr>
        <p:txBody>
          <a:bodyPr wrap="square" lIns="0" tIns="0" rIns="0" bIns="0" rtlCol="0" anchor="ctr"/>
          <a:lstStyle/>
          <a:p>
            <a:pPr indent="0" marL="0">
              <a:buNone/>
            </a:pPr>
            <a:r>
              <a:rPr lang="en-US" sz="1500" b="1" dirty="0">
                <a:solidFill>
                  <a:schemeClr val="tx1"/>
                </a:solidFill>
              </a:rPr>
              <a:t>标准操作流程与疗程周期</a:t>
            </a:r>
            <a:endParaRPr lang="en-US" sz="1500" dirty="0"/>
          </a:p>
          <a:p>
            <a:pPr indent="0" marL="0">
              <a:buNone/>
            </a:pPr>
            <a:r>
              <a:rPr lang="en-US" sz="1200" dirty="0">
                <a:solidFill>
                  <a:schemeClr val="accent6"/>
                </a:solidFill>
              </a:rPr>
              <a:t>SOP, Treatment Cycle &amp; Maintenance</a:t>
            </a:r>
            <a:endParaRPr lang="en-US" sz="1500" dirty="0"/>
          </a:p>
        </p:txBody>
      </p:sp>
      <p:sp>
        <p:nvSpPr>
          <p:cNvPr id="21" name="toc card 7"/>
          <p:cNvSpPr/>
          <p:nvPr/>
        </p:nvSpPr>
        <p:spPr>
          <a:xfrm>
            <a:off x="6217920" y="1463040"/>
            <a:ext cx="5486400" cy="676656"/>
          </a:xfrm>
          <a:prstGeom prst="roundRect">
            <a:avLst>
              <a:gd name="adj" fmla="val 16216"/>
            </a:avLst>
          </a:prstGeom>
          <a:solidFill>
            <a:schemeClr val="bg2"/>
          </a:solidFill>
          <a:ln/>
        </p:spPr>
      </p:sp>
      <p:sp>
        <p:nvSpPr>
          <p:cNvPr id="22" name="num 7"/>
          <p:cNvSpPr txBox="1"/>
          <p:nvPr/>
        </p:nvSpPr>
        <p:spPr>
          <a:xfrm>
            <a:off x="6400800" y="1572768"/>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7</a:t>
            </a:r>
            <a:endParaRPr lang="en-US" sz="1500" dirty="0"/>
          </a:p>
        </p:txBody>
      </p:sp>
      <p:sp>
        <p:nvSpPr>
          <p:cNvPr id="23" name="Text 21"/>
          <p:cNvSpPr txBox="1"/>
          <p:nvPr/>
        </p:nvSpPr>
        <p:spPr>
          <a:xfrm>
            <a:off x="7040880" y="1508760"/>
            <a:ext cx="4480560" cy="585216"/>
          </a:xfrm>
          <a:prstGeom prst="rect">
            <a:avLst/>
          </a:prstGeom>
          <a:noFill/>
          <a:ln/>
        </p:spPr>
        <p:txBody>
          <a:bodyPr wrap="square" lIns="0" tIns="0" rIns="0" bIns="0" rtlCol="0" anchor="ctr"/>
          <a:lstStyle/>
          <a:p>
            <a:pPr indent="0" marL="0">
              <a:buNone/>
            </a:pPr>
            <a:r>
              <a:rPr lang="en-US" sz="1500" b="1" dirty="0">
                <a:solidFill>
                  <a:schemeClr val="tx1"/>
                </a:solidFill>
              </a:rPr>
              <a:t>术前咨询、禁忌症与检查清单</a:t>
            </a:r>
            <a:endParaRPr lang="en-US" sz="1500" dirty="0"/>
          </a:p>
          <a:p>
            <a:pPr indent="0" marL="0">
              <a:buNone/>
            </a:pPr>
            <a:r>
              <a:rPr lang="en-US" sz="1200" dirty="0">
                <a:solidFill>
                  <a:schemeClr val="accent6"/>
                </a:solidFill>
              </a:rPr>
              <a:t>Consultation, Contraindications &amp; Checklists</a:t>
            </a:r>
            <a:endParaRPr lang="en-US" sz="1500" dirty="0"/>
          </a:p>
        </p:txBody>
      </p:sp>
      <p:sp>
        <p:nvSpPr>
          <p:cNvPr id="24" name="toc card 8"/>
          <p:cNvSpPr/>
          <p:nvPr/>
        </p:nvSpPr>
        <p:spPr>
          <a:xfrm>
            <a:off x="6217920" y="2249424"/>
            <a:ext cx="5486400" cy="676656"/>
          </a:xfrm>
          <a:prstGeom prst="roundRect">
            <a:avLst>
              <a:gd name="adj" fmla="val 16216"/>
            </a:avLst>
          </a:prstGeom>
          <a:solidFill>
            <a:schemeClr val="bg2"/>
          </a:solidFill>
          <a:ln/>
        </p:spPr>
      </p:sp>
      <p:sp>
        <p:nvSpPr>
          <p:cNvPr id="25" name="num 8"/>
          <p:cNvSpPr txBox="1"/>
          <p:nvPr/>
        </p:nvSpPr>
        <p:spPr>
          <a:xfrm>
            <a:off x="6400800" y="2359152"/>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8</a:t>
            </a:r>
            <a:endParaRPr lang="en-US" sz="1500" dirty="0"/>
          </a:p>
        </p:txBody>
      </p:sp>
      <p:sp>
        <p:nvSpPr>
          <p:cNvPr id="26" name="Text 24"/>
          <p:cNvSpPr txBox="1"/>
          <p:nvPr/>
        </p:nvSpPr>
        <p:spPr>
          <a:xfrm>
            <a:off x="7040880" y="2295144"/>
            <a:ext cx="4480560" cy="585216"/>
          </a:xfrm>
          <a:prstGeom prst="rect">
            <a:avLst/>
          </a:prstGeom>
          <a:noFill/>
          <a:ln/>
        </p:spPr>
        <p:txBody>
          <a:bodyPr wrap="square" lIns="0" tIns="0" rIns="0" bIns="0" rtlCol="0" anchor="ctr"/>
          <a:lstStyle/>
          <a:p>
            <a:pPr indent="0" marL="0">
              <a:buNone/>
            </a:pPr>
            <a:r>
              <a:rPr lang="en-US" sz="1500" b="1" dirty="0">
                <a:solidFill>
                  <a:schemeClr val="tx1"/>
                </a:solidFill>
              </a:rPr>
              <a:t>术后护理与异常处理</a:t>
            </a:r>
            <a:endParaRPr lang="en-US" sz="1500" dirty="0"/>
          </a:p>
          <a:p>
            <a:pPr indent="0" marL="0">
              <a:buNone/>
            </a:pPr>
            <a:r>
              <a:rPr lang="en-US" sz="1200" dirty="0">
                <a:solidFill>
                  <a:schemeClr val="accent6"/>
                </a:solidFill>
              </a:rPr>
              <a:t>After‑care &amp; Adverse Reactions</a:t>
            </a:r>
            <a:endParaRPr lang="en-US" sz="1500" dirty="0"/>
          </a:p>
        </p:txBody>
      </p:sp>
      <p:sp>
        <p:nvSpPr>
          <p:cNvPr id="27" name="toc card 9"/>
          <p:cNvSpPr/>
          <p:nvPr/>
        </p:nvSpPr>
        <p:spPr>
          <a:xfrm>
            <a:off x="6217920" y="3035808"/>
            <a:ext cx="5486400" cy="676656"/>
          </a:xfrm>
          <a:prstGeom prst="roundRect">
            <a:avLst>
              <a:gd name="adj" fmla="val 16216"/>
            </a:avLst>
          </a:prstGeom>
          <a:solidFill>
            <a:schemeClr val="bg2"/>
          </a:solidFill>
          <a:ln/>
        </p:spPr>
      </p:sp>
      <p:sp>
        <p:nvSpPr>
          <p:cNvPr id="28" name="num 9"/>
          <p:cNvSpPr txBox="1"/>
          <p:nvPr/>
        </p:nvSpPr>
        <p:spPr>
          <a:xfrm>
            <a:off x="6400800" y="3145536"/>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9</a:t>
            </a:r>
            <a:endParaRPr lang="en-US" sz="1500" dirty="0"/>
          </a:p>
        </p:txBody>
      </p:sp>
      <p:sp>
        <p:nvSpPr>
          <p:cNvPr id="29" name="Text 27"/>
          <p:cNvSpPr txBox="1"/>
          <p:nvPr/>
        </p:nvSpPr>
        <p:spPr>
          <a:xfrm>
            <a:off x="7040880" y="3081528"/>
            <a:ext cx="4480560" cy="585216"/>
          </a:xfrm>
          <a:prstGeom prst="rect">
            <a:avLst/>
          </a:prstGeom>
          <a:noFill/>
          <a:ln/>
        </p:spPr>
        <p:txBody>
          <a:bodyPr wrap="square" lIns="0" tIns="0" rIns="0" bIns="0" rtlCol="0" anchor="ctr"/>
          <a:lstStyle/>
          <a:p>
            <a:pPr indent="0" marL="0">
              <a:buNone/>
            </a:pPr>
            <a:r>
              <a:rPr lang="en-US" sz="1500" b="1" dirty="0">
                <a:solidFill>
                  <a:schemeClr val="tx1"/>
                </a:solidFill>
              </a:rPr>
              <a:t>客户前后案例对比</a:t>
            </a:r>
            <a:endParaRPr lang="en-US" sz="1500" dirty="0"/>
          </a:p>
          <a:p>
            <a:pPr indent="0" marL="0">
              <a:buNone/>
            </a:pPr>
            <a:r>
              <a:rPr lang="en-US" sz="1200" dirty="0">
                <a:solidFill>
                  <a:schemeClr val="accent6"/>
                </a:solidFill>
              </a:rPr>
              <a:t>Before &amp; After Gallery</a:t>
            </a:r>
            <a:endParaRPr lang="en-US" sz="1500" dirty="0"/>
          </a:p>
        </p:txBody>
      </p:sp>
      <p:sp>
        <p:nvSpPr>
          <p:cNvPr id="30" name="toc card 10"/>
          <p:cNvSpPr/>
          <p:nvPr/>
        </p:nvSpPr>
        <p:spPr>
          <a:xfrm>
            <a:off x="6217920" y="3822192"/>
            <a:ext cx="5486400" cy="676656"/>
          </a:xfrm>
          <a:prstGeom prst="roundRect">
            <a:avLst>
              <a:gd name="adj" fmla="val 16216"/>
            </a:avLst>
          </a:prstGeom>
          <a:solidFill>
            <a:schemeClr val="bg2"/>
          </a:solidFill>
          <a:ln/>
        </p:spPr>
      </p:sp>
      <p:sp>
        <p:nvSpPr>
          <p:cNvPr id="31" name="num 10"/>
          <p:cNvSpPr txBox="1"/>
          <p:nvPr/>
        </p:nvSpPr>
        <p:spPr>
          <a:xfrm>
            <a:off x="6400800" y="393192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10</a:t>
            </a:r>
            <a:endParaRPr lang="en-US" sz="1500" dirty="0"/>
          </a:p>
        </p:txBody>
      </p:sp>
      <p:sp>
        <p:nvSpPr>
          <p:cNvPr id="32" name="Text 30"/>
          <p:cNvSpPr txBox="1"/>
          <p:nvPr/>
        </p:nvSpPr>
        <p:spPr>
          <a:xfrm>
            <a:off x="7040880" y="3867912"/>
            <a:ext cx="4480560" cy="585216"/>
          </a:xfrm>
          <a:prstGeom prst="rect">
            <a:avLst/>
          </a:prstGeom>
          <a:noFill/>
          <a:ln/>
        </p:spPr>
        <p:txBody>
          <a:bodyPr wrap="square" lIns="0" tIns="0" rIns="0" bIns="0" rtlCol="0" anchor="ctr"/>
          <a:lstStyle/>
          <a:p>
            <a:pPr indent="0" marL="0">
              <a:buNone/>
            </a:pPr>
            <a:r>
              <a:rPr lang="en-US" sz="1500" b="1" dirty="0">
                <a:solidFill>
                  <a:schemeClr val="tx1"/>
                </a:solidFill>
              </a:rPr>
              <a:t>顾客常见问答与专业知识</a:t>
            </a:r>
            <a:endParaRPr lang="en-US" sz="1500" dirty="0"/>
          </a:p>
          <a:p>
            <a:pPr indent="0" marL="0">
              <a:buNone/>
            </a:pPr>
            <a:r>
              <a:rPr lang="en-US" sz="1200" dirty="0">
                <a:solidFill>
                  <a:schemeClr val="accent6"/>
                </a:solidFill>
              </a:rPr>
              <a:t>Customer FAQ &amp; Professional Knowledge</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品牌简介｜XE‑LHA by YSmedi</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About the Brand · Korean medical‑beauty brand developed with dermatologists</a:t>
            </a:r>
            <a:endParaRPr lang="en-US" sz="3000" dirty="0"/>
          </a:p>
        </p:txBody>
      </p:sp>
      <p:sp>
        <p:nvSpPr>
          <p:cNvPr id="3" name="philosophy banner"/>
          <p:cNvSpPr/>
          <p:nvPr/>
        </p:nvSpPr>
        <p:spPr>
          <a:xfrm>
            <a:off x="457200" y="1417320"/>
            <a:ext cx="11247120" cy="1417320"/>
          </a:xfrm>
          <a:prstGeom prst="roundRect">
            <a:avLst>
              <a:gd name="adj" fmla="val 7742"/>
            </a:avLst>
          </a:prstGeom>
          <a:solidFill>
            <a:schemeClr val="tx2"/>
          </a:solidFill>
          <a:ln/>
        </p:spPr>
      </p:sp>
      <p:sp>
        <p:nvSpPr>
          <p:cNvPr id="4" name="Text 2"/>
          <p:cNvSpPr txBox="1"/>
          <p:nvPr/>
        </p:nvSpPr>
        <p:spPr>
          <a:xfrm>
            <a:off x="777240" y="1463040"/>
            <a:ext cx="10607040" cy="1325880"/>
          </a:xfrm>
          <a:prstGeom prst="rect">
            <a:avLst/>
          </a:prstGeom>
          <a:noFill/>
          <a:ln/>
        </p:spPr>
        <p:txBody>
          <a:bodyPr wrap="square" lIns="0" tIns="0" rIns="0" bIns="0" rtlCol="0" anchor="ctr"/>
          <a:lstStyle/>
          <a:p>
            <a:pPr indent="0" marL="0">
              <a:spcAft>
                <a:spcPts val="300"/>
              </a:spcAft>
              <a:buNone/>
            </a:pPr>
            <a:r>
              <a:rPr lang="en-US" sz="2200" b="1" dirty="0">
                <a:solidFill>
                  <a:schemeClr val="bg1"/>
                </a:solidFill>
              </a:rPr>
              <a:t>True Beauty begins where Skin is Understood Best</a:t>
            </a:r>
            <a:endParaRPr lang="en-US" sz="2200" dirty="0"/>
          </a:p>
          <a:p>
            <a:pPr indent="0" marL="0">
              <a:spcAft>
                <a:spcPts val="300"/>
              </a:spcAft>
              <a:buNone/>
            </a:pPr>
            <a:r>
              <a:rPr lang="en-US" sz="1400" dirty="0">
                <a:solidFill>
                  <a:schemeClr val="bg1"/>
                </a:solidFill>
              </a:rPr>
              <a:t>真正的美，始于对肌肤最深的理解 — XE‑LHA 以皮肤科医生的临床经验与医学专业打造，不只改善肌肤，更追求长期健康。</a:t>
            </a:r>
            <a:endParaRPr lang="en-US" sz="2200" dirty="0"/>
          </a:p>
          <a:p>
            <a:pPr indent="0" marL="0">
              <a:spcAft>
                <a:spcPts val="300"/>
              </a:spcAft>
              <a:buNone/>
            </a:pPr>
            <a:r>
              <a:rPr lang="en-US" sz="1200" dirty="0">
                <a:solidFill>
                  <a:srgbClr val="CFE0D2"/>
                </a:solidFill>
              </a:rPr>
              <a:t>A medical beauty brand built on dermatologists' clinical experience — scientifically validated technology and clinically proven results.</a:t>
            </a:r>
            <a:endParaRPr lang="en-US" sz="2200" dirty="0"/>
          </a:p>
        </p:txBody>
      </p:sp>
      <p:sp>
        <p:nvSpPr>
          <p:cNvPr id="5" name="value card 1"/>
          <p:cNvSpPr/>
          <p:nvPr/>
        </p:nvSpPr>
        <p:spPr>
          <a:xfrm>
            <a:off x="457200" y="3017520"/>
            <a:ext cx="3566160" cy="1783080"/>
          </a:xfrm>
          <a:prstGeom prst="roundRect">
            <a:avLst>
              <a:gd name="adj" fmla="val 6154"/>
            </a:avLst>
          </a:prstGeom>
          <a:solidFill>
            <a:schemeClr val="bg2"/>
          </a:solidFill>
          <a:ln/>
        </p:spPr>
      </p:sp>
      <p:sp>
        <p:nvSpPr>
          <p:cNvPr id="6" name="value icon 1 bg"/>
          <p:cNvSpPr/>
          <p:nvPr/>
        </p:nvSpPr>
        <p:spPr>
          <a:xfrm>
            <a:off x="640080" y="3200400"/>
            <a:ext cx="566928" cy="566928"/>
          </a:xfrm>
          <a:prstGeom prst="ellipse">
            <a:avLst/>
          </a:prstGeom>
          <a:solidFill>
            <a:schemeClr val="accent1"/>
          </a:solidFill>
          <a:ln/>
        </p:spPr>
      </p:sp>
      <p:pic>
        <p:nvPicPr>
          <p:cNvPr id="7" name="value icon 1" descr="value icon 1">    </p:cNvPr>
          <p:cNvPicPr>
            <a:picLocks noChangeAspect="1"/>
          </p:cNvPicPr>
          <p:nvPr/>
        </p:nvPicPr>
        <p:blipFill>
          <a:blip r:embed="rId1"/>
          <a:stretch>
            <a:fillRect/>
          </a:stretch>
        </p:blipFill>
        <p:spPr>
          <a:xfrm>
            <a:off x="787481" y="3347801"/>
            <a:ext cx="272125" cy="272125"/>
          </a:xfrm>
          <a:prstGeom prst="rect">
            <a:avLst/>
          </a:prstGeom>
        </p:spPr>
      </p:pic>
      <p:sp>
        <p:nvSpPr>
          <p:cNvPr id="8" name="Text 5"/>
          <p:cNvSpPr txBox="1"/>
          <p:nvPr/>
        </p:nvSpPr>
        <p:spPr>
          <a:xfrm>
            <a:off x="1371600" y="3200400"/>
            <a:ext cx="2560320" cy="566928"/>
          </a:xfrm>
          <a:prstGeom prst="rect">
            <a:avLst/>
          </a:prstGeom>
          <a:noFill/>
          <a:ln/>
        </p:spPr>
        <p:txBody>
          <a:bodyPr wrap="square" lIns="0" tIns="0" rIns="0" bIns="0" rtlCol="0" anchor="ctr"/>
          <a:lstStyle/>
          <a:p>
            <a:pPr indent="0" marL="0">
              <a:spcAft>
                <a:spcPts val="300"/>
              </a:spcAft>
              <a:buNone/>
            </a:pPr>
            <a:r>
              <a:rPr lang="en-US" sz="1700" b="1" dirty="0">
                <a:solidFill>
                  <a:schemeClr val="tx2"/>
                </a:solidFill>
              </a:rPr>
              <a:t>信赖 Trust</a:t>
            </a:r>
            <a:endParaRPr lang="en-US" sz="1700" dirty="0"/>
          </a:p>
        </p:txBody>
      </p:sp>
      <p:sp>
        <p:nvSpPr>
          <p:cNvPr id="9" name="Text 6"/>
          <p:cNvSpPr txBox="1"/>
          <p:nvPr/>
        </p:nvSpPr>
        <p:spPr>
          <a:xfrm>
            <a:off x="640080" y="3840480"/>
            <a:ext cx="3200400" cy="914400"/>
          </a:xfrm>
          <a:prstGeom prst="rect">
            <a:avLst/>
          </a:prstGeom>
          <a:noFill/>
          <a:ln/>
        </p:spPr>
        <p:txBody>
          <a:bodyPr wrap="square" lIns="0" tIns="0" rIns="0" bIns="0" rtlCol="0" anchor="t"/>
          <a:lstStyle/>
          <a:p>
            <a:pPr indent="0" marL="0">
              <a:spcAft>
                <a:spcPts val="300"/>
              </a:spcAft>
              <a:buNone/>
            </a:pPr>
            <a:r>
              <a:rPr lang="en-US" sz="1400" dirty="0">
                <a:solidFill>
                  <a:schemeClr val="tx1"/>
                </a:solidFill>
              </a:rPr>
              <a:t>与皮肤科医生合作研发，品质获医疗专业人士信赖</a:t>
            </a:r>
            <a:endParaRPr lang="en-US" sz="1400" dirty="0"/>
          </a:p>
          <a:p>
            <a:pPr indent="0" marL="0">
              <a:spcAft>
                <a:spcPts val="300"/>
              </a:spcAft>
              <a:buNone/>
            </a:pPr>
            <a:r>
              <a:rPr lang="en-US" sz="1200" dirty="0">
                <a:solidFill>
                  <a:schemeClr val="accent6"/>
                </a:solidFill>
              </a:rPr>
              <a:t>Developed with dermatologists; quality trusted by medical professionals</a:t>
            </a:r>
            <a:endParaRPr lang="en-US" sz="1400" dirty="0"/>
          </a:p>
        </p:txBody>
      </p:sp>
      <p:sp>
        <p:nvSpPr>
          <p:cNvPr id="10" name="value card 2"/>
          <p:cNvSpPr/>
          <p:nvPr/>
        </p:nvSpPr>
        <p:spPr>
          <a:xfrm>
            <a:off x="4297680" y="3017520"/>
            <a:ext cx="3566160" cy="1783080"/>
          </a:xfrm>
          <a:prstGeom prst="roundRect">
            <a:avLst>
              <a:gd name="adj" fmla="val 6154"/>
            </a:avLst>
          </a:prstGeom>
          <a:solidFill>
            <a:schemeClr val="bg2"/>
          </a:solidFill>
          <a:ln/>
        </p:spPr>
      </p:sp>
      <p:sp>
        <p:nvSpPr>
          <p:cNvPr id="11" name="value icon 2 bg"/>
          <p:cNvSpPr/>
          <p:nvPr/>
        </p:nvSpPr>
        <p:spPr>
          <a:xfrm>
            <a:off x="4480560" y="3200400"/>
            <a:ext cx="566928" cy="566928"/>
          </a:xfrm>
          <a:prstGeom prst="ellipse">
            <a:avLst/>
          </a:prstGeom>
          <a:solidFill>
            <a:schemeClr val="accent1"/>
          </a:solidFill>
          <a:ln/>
        </p:spPr>
      </p:sp>
      <p:pic>
        <p:nvPicPr>
          <p:cNvPr id="12" name="value icon 2" descr="value icon 2">    </p:cNvPr>
          <p:cNvPicPr>
            <a:picLocks noChangeAspect="1"/>
          </p:cNvPicPr>
          <p:nvPr/>
        </p:nvPicPr>
        <p:blipFill>
          <a:blip r:embed="rId2"/>
          <a:stretch>
            <a:fillRect/>
          </a:stretch>
        </p:blipFill>
        <p:spPr>
          <a:xfrm>
            <a:off x="4627961" y="3347801"/>
            <a:ext cx="272125" cy="272125"/>
          </a:xfrm>
          <a:prstGeom prst="rect">
            <a:avLst/>
          </a:prstGeom>
        </p:spPr>
      </p:pic>
      <p:sp>
        <p:nvSpPr>
          <p:cNvPr id="13" name="Text 9"/>
          <p:cNvSpPr txBox="1"/>
          <p:nvPr/>
        </p:nvSpPr>
        <p:spPr>
          <a:xfrm>
            <a:off x="5212080" y="3200400"/>
            <a:ext cx="2560320" cy="566928"/>
          </a:xfrm>
          <a:prstGeom prst="rect">
            <a:avLst/>
          </a:prstGeom>
          <a:noFill/>
          <a:ln/>
        </p:spPr>
        <p:txBody>
          <a:bodyPr wrap="square" lIns="0" tIns="0" rIns="0" bIns="0" rtlCol="0" anchor="ctr"/>
          <a:lstStyle/>
          <a:p>
            <a:pPr indent="0" marL="0">
              <a:spcAft>
                <a:spcPts val="300"/>
              </a:spcAft>
              <a:buNone/>
            </a:pPr>
            <a:r>
              <a:rPr lang="en-US" sz="1700" b="1" dirty="0">
                <a:solidFill>
                  <a:schemeClr val="tx2"/>
                </a:solidFill>
              </a:rPr>
              <a:t>创新 Innovation</a:t>
            </a:r>
            <a:endParaRPr lang="en-US" sz="1700" dirty="0"/>
          </a:p>
        </p:txBody>
      </p:sp>
      <p:sp>
        <p:nvSpPr>
          <p:cNvPr id="14" name="Text 10"/>
          <p:cNvSpPr txBox="1"/>
          <p:nvPr/>
        </p:nvSpPr>
        <p:spPr>
          <a:xfrm>
            <a:off x="4480560" y="3840480"/>
            <a:ext cx="3200400" cy="914400"/>
          </a:xfrm>
          <a:prstGeom prst="rect">
            <a:avLst/>
          </a:prstGeom>
          <a:noFill/>
          <a:ln/>
        </p:spPr>
        <p:txBody>
          <a:bodyPr wrap="square" lIns="0" tIns="0" rIns="0" bIns="0" rtlCol="0" anchor="t"/>
          <a:lstStyle/>
          <a:p>
            <a:pPr indent="0" marL="0">
              <a:spcAft>
                <a:spcPts val="300"/>
              </a:spcAft>
              <a:buNone/>
            </a:pPr>
            <a:r>
              <a:rPr lang="en-US" sz="1400" dirty="0">
                <a:solidFill>
                  <a:schemeClr val="tx1"/>
                </a:solidFill>
              </a:rPr>
              <a:t>以最新皮肤科学启发的创新成分研发产品</a:t>
            </a:r>
            <a:endParaRPr lang="en-US" sz="1400" dirty="0"/>
          </a:p>
          <a:p>
            <a:pPr indent="0" marL="0">
              <a:spcAft>
                <a:spcPts val="300"/>
              </a:spcAft>
              <a:buNone/>
            </a:pPr>
            <a:r>
              <a:rPr lang="en-US" sz="1200" dirty="0">
                <a:solidFill>
                  <a:schemeClr val="accent6"/>
                </a:solidFill>
              </a:rPr>
              <a:t>Innovative ingredients inspired by the latest skin science</a:t>
            </a:r>
            <a:endParaRPr lang="en-US" sz="1400" dirty="0"/>
          </a:p>
        </p:txBody>
      </p:sp>
      <p:sp>
        <p:nvSpPr>
          <p:cNvPr id="15" name="value card 3"/>
          <p:cNvSpPr/>
          <p:nvPr/>
        </p:nvSpPr>
        <p:spPr>
          <a:xfrm>
            <a:off x="8138160" y="3017520"/>
            <a:ext cx="3566160" cy="1783080"/>
          </a:xfrm>
          <a:prstGeom prst="roundRect">
            <a:avLst>
              <a:gd name="adj" fmla="val 6154"/>
            </a:avLst>
          </a:prstGeom>
          <a:solidFill>
            <a:schemeClr val="bg2"/>
          </a:solidFill>
          <a:ln/>
        </p:spPr>
      </p:sp>
      <p:sp>
        <p:nvSpPr>
          <p:cNvPr id="16" name="value icon 3 bg"/>
          <p:cNvSpPr/>
          <p:nvPr/>
        </p:nvSpPr>
        <p:spPr>
          <a:xfrm>
            <a:off x="8321040" y="3200400"/>
            <a:ext cx="566928" cy="566928"/>
          </a:xfrm>
          <a:prstGeom prst="ellipse">
            <a:avLst/>
          </a:prstGeom>
          <a:solidFill>
            <a:schemeClr val="accent1"/>
          </a:solidFill>
          <a:ln/>
        </p:spPr>
      </p:sp>
      <p:pic>
        <p:nvPicPr>
          <p:cNvPr id="17" name="value icon 3" descr="value icon 3">    </p:cNvPr>
          <p:cNvPicPr>
            <a:picLocks noChangeAspect="1"/>
          </p:cNvPicPr>
          <p:nvPr/>
        </p:nvPicPr>
        <p:blipFill>
          <a:blip r:embed="rId3"/>
          <a:stretch>
            <a:fillRect/>
          </a:stretch>
        </p:blipFill>
        <p:spPr>
          <a:xfrm>
            <a:off x="8468441" y="3347801"/>
            <a:ext cx="272125" cy="272125"/>
          </a:xfrm>
          <a:prstGeom prst="rect">
            <a:avLst/>
          </a:prstGeom>
        </p:spPr>
      </p:pic>
      <p:sp>
        <p:nvSpPr>
          <p:cNvPr id="18" name="Text 13"/>
          <p:cNvSpPr txBox="1"/>
          <p:nvPr/>
        </p:nvSpPr>
        <p:spPr>
          <a:xfrm>
            <a:off x="9052560" y="3200400"/>
            <a:ext cx="2560320" cy="566928"/>
          </a:xfrm>
          <a:prstGeom prst="rect">
            <a:avLst/>
          </a:prstGeom>
          <a:noFill/>
          <a:ln/>
        </p:spPr>
        <p:txBody>
          <a:bodyPr wrap="square" lIns="0" tIns="0" rIns="0" bIns="0" rtlCol="0" anchor="ctr"/>
          <a:lstStyle/>
          <a:p>
            <a:pPr indent="0" marL="0">
              <a:spcAft>
                <a:spcPts val="300"/>
              </a:spcAft>
              <a:buNone/>
            </a:pPr>
            <a:r>
              <a:rPr lang="en-US" sz="1700" b="1" dirty="0">
                <a:solidFill>
                  <a:schemeClr val="tx2"/>
                </a:solidFill>
              </a:rPr>
              <a:t>科学 Science</a:t>
            </a:r>
            <a:endParaRPr lang="en-US" sz="1700" dirty="0"/>
          </a:p>
        </p:txBody>
      </p:sp>
      <p:sp>
        <p:nvSpPr>
          <p:cNvPr id="19" name="Text 14"/>
          <p:cNvSpPr txBox="1"/>
          <p:nvPr/>
        </p:nvSpPr>
        <p:spPr>
          <a:xfrm>
            <a:off x="8321040" y="3840480"/>
            <a:ext cx="3200400" cy="914400"/>
          </a:xfrm>
          <a:prstGeom prst="rect">
            <a:avLst/>
          </a:prstGeom>
          <a:noFill/>
          <a:ln/>
        </p:spPr>
        <p:txBody>
          <a:bodyPr wrap="square" lIns="0" tIns="0" rIns="0" bIns="0" rtlCol="0" anchor="t"/>
          <a:lstStyle/>
          <a:p>
            <a:pPr indent="0" marL="0">
              <a:spcAft>
                <a:spcPts val="300"/>
              </a:spcAft>
              <a:buNone/>
            </a:pPr>
            <a:r>
              <a:rPr lang="en-US" sz="1400" dirty="0">
                <a:solidFill>
                  <a:schemeClr val="tx1"/>
                </a:solidFill>
              </a:rPr>
              <a:t>所有产品以严格标准测试，验证安全性与功效</a:t>
            </a:r>
            <a:endParaRPr lang="en-US" sz="1400" dirty="0"/>
          </a:p>
          <a:p>
            <a:pPr indent="0" marL="0">
              <a:spcAft>
                <a:spcPts val="300"/>
              </a:spcAft>
              <a:buNone/>
            </a:pPr>
            <a:r>
              <a:rPr lang="en-US" sz="1200" dirty="0">
                <a:solidFill>
                  <a:schemeClr val="accent6"/>
                </a:solidFill>
              </a:rPr>
              <a:t>Every product is rigorously tested for safety and efficacy</a:t>
            </a:r>
            <a:endParaRPr lang="en-US" sz="1400" dirty="0"/>
          </a:p>
        </p:txBody>
      </p:sp>
      <p:sp>
        <p:nvSpPr>
          <p:cNvPr id="20" name="brand stat 1"/>
          <p:cNvSpPr/>
          <p:nvPr/>
        </p:nvSpPr>
        <p:spPr>
          <a:xfrm>
            <a:off x="457200" y="4983480"/>
            <a:ext cx="3566160" cy="1097280"/>
          </a:xfrm>
          <a:prstGeom prst="roundRect">
            <a:avLst>
              <a:gd name="adj" fmla="val 10000"/>
            </a:avLst>
          </a:prstGeom>
          <a:solidFill>
            <a:schemeClr val="accent5"/>
          </a:solidFill>
          <a:ln/>
        </p:spPr>
      </p:sp>
      <p:sp>
        <p:nvSpPr>
          <p:cNvPr id="21" name="Text 16"/>
          <p:cNvSpPr txBox="1"/>
          <p:nvPr/>
        </p:nvSpPr>
        <p:spPr>
          <a:xfrm>
            <a:off x="548640" y="4983480"/>
            <a:ext cx="1600200" cy="1097280"/>
          </a:xfrm>
          <a:prstGeom prst="rect">
            <a:avLst/>
          </a:prstGeom>
          <a:noFill/>
          <a:ln/>
        </p:spPr>
        <p:txBody>
          <a:bodyPr wrap="square" lIns="0" tIns="0" rIns="0" bIns="0" rtlCol="0" anchor="ctr"/>
          <a:lstStyle/>
          <a:p>
            <a:pPr algn="ctr" indent="0" marL="0">
              <a:buNone/>
            </a:pPr>
            <a:r>
              <a:rPr lang="en-US" sz="3400" b="1" dirty="0">
                <a:solidFill>
                  <a:schemeClr val="tx2"/>
                </a:solidFill>
              </a:rPr>
              <a:t>400+</a:t>
            </a:r>
            <a:endParaRPr lang="en-US" sz="3400" dirty="0"/>
          </a:p>
        </p:txBody>
      </p:sp>
      <p:sp>
        <p:nvSpPr>
          <p:cNvPr id="22" name="Text 17"/>
          <p:cNvSpPr txBox="1"/>
          <p:nvPr/>
        </p:nvSpPr>
        <p:spPr>
          <a:xfrm>
            <a:off x="2240280" y="5029200"/>
            <a:ext cx="1691640" cy="1005840"/>
          </a:xfrm>
          <a:prstGeom prst="rect">
            <a:avLst/>
          </a:prstGeom>
          <a:noFill/>
          <a:ln/>
        </p:spPr>
        <p:txBody>
          <a:bodyPr wrap="square" lIns="0" tIns="0" rIns="0" bIns="0" rtlCol="0" anchor="ctr"/>
          <a:lstStyle/>
          <a:p>
            <a:pPr indent="0" marL="0">
              <a:spcAft>
                <a:spcPts val="100"/>
              </a:spcAft>
              <a:buNone/>
            </a:pPr>
            <a:r>
              <a:rPr lang="en-US" sz="1400" b="1" dirty="0">
                <a:solidFill>
                  <a:schemeClr val="tx1"/>
                </a:solidFill>
              </a:rPr>
              <a:t>韩国诊所已采用</a:t>
            </a:r>
            <a:endParaRPr lang="en-US" sz="1400" dirty="0"/>
          </a:p>
          <a:p>
            <a:pPr indent="0" marL="0">
              <a:spcAft>
                <a:spcPts val="100"/>
              </a:spcAft>
              <a:buNone/>
            </a:pPr>
            <a:r>
              <a:rPr lang="en-US" sz="1200" dirty="0">
                <a:solidFill>
                  <a:schemeClr val="accent6"/>
                </a:solidFill>
              </a:rPr>
              <a:t>Domestic clinics using XE‑LHA</a:t>
            </a:r>
            <a:endParaRPr lang="en-US" sz="1400" dirty="0"/>
          </a:p>
        </p:txBody>
      </p:sp>
      <p:sp>
        <p:nvSpPr>
          <p:cNvPr id="23" name="brand stat 2"/>
          <p:cNvSpPr/>
          <p:nvPr/>
        </p:nvSpPr>
        <p:spPr>
          <a:xfrm>
            <a:off x="4297680" y="4983480"/>
            <a:ext cx="3566160" cy="1097280"/>
          </a:xfrm>
          <a:prstGeom prst="roundRect">
            <a:avLst>
              <a:gd name="adj" fmla="val 10000"/>
            </a:avLst>
          </a:prstGeom>
          <a:solidFill>
            <a:schemeClr val="accent5"/>
          </a:solidFill>
          <a:ln/>
        </p:spPr>
      </p:sp>
      <p:sp>
        <p:nvSpPr>
          <p:cNvPr id="24" name="Text 19"/>
          <p:cNvSpPr txBox="1"/>
          <p:nvPr/>
        </p:nvSpPr>
        <p:spPr>
          <a:xfrm>
            <a:off x="4389120" y="4983480"/>
            <a:ext cx="1600200" cy="1097280"/>
          </a:xfrm>
          <a:prstGeom prst="rect">
            <a:avLst/>
          </a:prstGeom>
          <a:noFill/>
          <a:ln/>
        </p:spPr>
        <p:txBody>
          <a:bodyPr wrap="square" lIns="0" tIns="0" rIns="0" bIns="0" rtlCol="0" anchor="ctr"/>
          <a:lstStyle/>
          <a:p>
            <a:pPr algn="ctr" indent="0" marL="0">
              <a:buNone/>
            </a:pPr>
            <a:r>
              <a:rPr lang="en-US" sz="3400" b="1" dirty="0">
                <a:solidFill>
                  <a:schemeClr val="tx2"/>
                </a:solidFill>
              </a:rPr>
              <a:t>10</a:t>
            </a:r>
            <a:endParaRPr lang="en-US" sz="3400" dirty="0"/>
          </a:p>
        </p:txBody>
      </p:sp>
      <p:sp>
        <p:nvSpPr>
          <p:cNvPr id="25" name="Text 20"/>
          <p:cNvSpPr txBox="1"/>
          <p:nvPr/>
        </p:nvSpPr>
        <p:spPr>
          <a:xfrm>
            <a:off x="6080760" y="5029200"/>
            <a:ext cx="1691640" cy="1005840"/>
          </a:xfrm>
          <a:prstGeom prst="rect">
            <a:avLst/>
          </a:prstGeom>
          <a:noFill/>
          <a:ln/>
        </p:spPr>
        <p:txBody>
          <a:bodyPr wrap="square" lIns="0" tIns="0" rIns="0" bIns="0" rtlCol="0" anchor="ctr"/>
          <a:lstStyle/>
          <a:p>
            <a:pPr indent="0" marL="0">
              <a:spcAft>
                <a:spcPts val="100"/>
              </a:spcAft>
              <a:buNone/>
            </a:pPr>
            <a:r>
              <a:rPr lang="en-US" sz="1400" b="1" dirty="0">
                <a:solidFill>
                  <a:schemeClr val="tx1"/>
                </a:solidFill>
              </a:rPr>
              <a:t>个国家已出口</a:t>
            </a:r>
            <a:endParaRPr lang="en-US" sz="1400" dirty="0"/>
          </a:p>
          <a:p>
            <a:pPr indent="0" marL="0">
              <a:spcAft>
                <a:spcPts val="100"/>
              </a:spcAft>
              <a:buNone/>
            </a:pPr>
            <a:r>
              <a:rPr lang="en-US" sz="1200" dirty="0">
                <a:solidFill>
                  <a:schemeClr val="accent6"/>
                </a:solidFill>
              </a:rPr>
              <a:t>Countries exported to</a:t>
            </a:r>
            <a:endParaRPr lang="en-US" sz="1400" dirty="0"/>
          </a:p>
        </p:txBody>
      </p:sp>
      <p:sp>
        <p:nvSpPr>
          <p:cNvPr id="26" name="brand stat 3"/>
          <p:cNvSpPr/>
          <p:nvPr/>
        </p:nvSpPr>
        <p:spPr>
          <a:xfrm>
            <a:off x="8138160" y="4983480"/>
            <a:ext cx="3566160" cy="1097280"/>
          </a:xfrm>
          <a:prstGeom prst="roundRect">
            <a:avLst>
              <a:gd name="adj" fmla="val 10000"/>
            </a:avLst>
          </a:prstGeom>
          <a:solidFill>
            <a:schemeClr val="accent5"/>
          </a:solidFill>
          <a:ln/>
        </p:spPr>
      </p:sp>
      <p:sp>
        <p:nvSpPr>
          <p:cNvPr id="27" name="Text 22"/>
          <p:cNvSpPr txBox="1"/>
          <p:nvPr/>
        </p:nvSpPr>
        <p:spPr>
          <a:xfrm>
            <a:off x="8229600" y="4983480"/>
            <a:ext cx="1600200" cy="1097280"/>
          </a:xfrm>
          <a:prstGeom prst="rect">
            <a:avLst/>
          </a:prstGeom>
          <a:noFill/>
          <a:ln/>
        </p:spPr>
        <p:txBody>
          <a:bodyPr wrap="square" lIns="0" tIns="0" rIns="0" bIns="0" rtlCol="0" anchor="ctr"/>
          <a:lstStyle/>
          <a:p>
            <a:pPr algn="ctr" indent="0" marL="0">
              <a:buNone/>
            </a:pPr>
            <a:r>
              <a:rPr lang="en-US" sz="2000" b="1" dirty="0">
                <a:solidFill>
                  <a:schemeClr val="tx2"/>
                </a:solidFill>
              </a:rPr>
              <a:t>FDA · CPNP</a:t>
            </a:r>
            <a:endParaRPr lang="en-US" sz="2000" dirty="0"/>
          </a:p>
        </p:txBody>
      </p:sp>
      <p:sp>
        <p:nvSpPr>
          <p:cNvPr id="28" name="Text 23"/>
          <p:cNvSpPr txBox="1"/>
          <p:nvPr/>
        </p:nvSpPr>
        <p:spPr>
          <a:xfrm>
            <a:off x="9921240" y="5029200"/>
            <a:ext cx="1691640" cy="1005840"/>
          </a:xfrm>
          <a:prstGeom prst="rect">
            <a:avLst/>
          </a:prstGeom>
          <a:noFill/>
          <a:ln/>
        </p:spPr>
        <p:txBody>
          <a:bodyPr wrap="square" lIns="0" tIns="0" rIns="0" bIns="0" rtlCol="0" anchor="ctr"/>
          <a:lstStyle/>
          <a:p>
            <a:pPr indent="0" marL="0">
              <a:spcAft>
                <a:spcPts val="100"/>
              </a:spcAft>
              <a:buNone/>
            </a:pPr>
            <a:r>
              <a:rPr lang="en-US" sz="1400" b="1" dirty="0">
                <a:solidFill>
                  <a:schemeClr val="tx1"/>
                </a:solidFill>
              </a:rPr>
              <a:t>2024年获得认证</a:t>
            </a:r>
            <a:endParaRPr lang="en-US" sz="1400" dirty="0"/>
          </a:p>
          <a:p>
            <a:pPr indent="0" marL="0">
              <a:spcAft>
                <a:spcPts val="100"/>
              </a:spcAft>
              <a:buNone/>
            </a:pPr>
            <a:r>
              <a:rPr lang="en-US" sz="1200" dirty="0">
                <a:solidFill>
                  <a:schemeClr val="accent6"/>
                </a:solidFill>
              </a:rPr>
              <a:t>Approvals obtained in 2024</a:t>
            </a:r>
            <a:endParaRPr lang="en-US" sz="1400" dirty="0"/>
          </a:p>
        </p:txBody>
      </p:sp>
      <p:sp>
        <p:nvSpPr>
          <p:cNvPr id="29" name="Text 24"/>
          <p:cNvSpPr txBox="1"/>
          <p:nvPr/>
        </p:nvSpPr>
        <p:spPr>
          <a:xfrm>
            <a:off x="457200" y="6144768"/>
            <a:ext cx="7315200" cy="228600"/>
          </a:xfrm>
          <a:prstGeom prst="rect">
            <a:avLst/>
          </a:prstGeom>
          <a:noFill/>
          <a:ln/>
        </p:spPr>
        <p:txBody>
          <a:bodyPr wrap="square" lIns="0" tIns="0" rIns="0" bIns="0" rtlCol="0" anchor="t"/>
          <a:lstStyle/>
          <a:p>
            <a:pPr indent="0" marL="0">
              <a:spcAft>
                <a:spcPts val="300"/>
              </a:spcAft>
              <a:buNone/>
            </a:pPr>
            <a:r>
              <a:rPr lang="en-US" sz="1000" dirty="0">
                <a:solidFill>
                  <a:schemeClr val="accent6"/>
                </a:solidFill>
              </a:rPr>
              <a:t>资料来源 Source: XE‑LHA Brand Introduction (YSmedi, 2026)</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项目简介｜什么是 XE‑LHA Peel</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What is XE‑LHA Peel</a:t>
            </a:r>
            <a:endParaRPr lang="en-US" sz="3000" dirty="0"/>
          </a:p>
        </p:txBody>
      </p:sp>
      <p:sp>
        <p:nvSpPr>
          <p:cNvPr id="3" name="Text 1"/>
          <p:cNvSpPr txBox="1"/>
          <p:nvPr/>
        </p:nvSpPr>
        <p:spPr>
          <a:xfrm>
            <a:off x="457200" y="1371600"/>
            <a:ext cx="11247120" cy="868680"/>
          </a:xfrm>
          <a:prstGeom prst="rect">
            <a:avLst/>
          </a:prstGeom>
          <a:noFill/>
          <a:ln/>
        </p:spPr>
        <p:txBody>
          <a:bodyPr wrap="square" lIns="0" tIns="0" rIns="0" bIns="0" rtlCol="0" anchor="t"/>
          <a:lstStyle/>
          <a:p>
            <a:pPr indent="0" marL="0">
              <a:spcAft>
                <a:spcPts val="300"/>
              </a:spcAft>
              <a:buNone/>
            </a:pPr>
            <a:r>
              <a:rPr lang="en-US" sz="1600" b="1" dirty="0">
                <a:solidFill>
                  <a:schemeClr val="tx2"/>
                </a:solidFill>
              </a:rPr>
              <a:t>XE‑LHA Peel 来自韩国，是第四代无脱皮温和焕肤，区别于传统果酸、水杨酸焕肤</a:t>
            </a:r>
            <a:endParaRPr lang="en-US" sz="1600" dirty="0"/>
          </a:p>
          <a:p>
            <a:pPr indent="0" marL="0">
              <a:spcAft>
                <a:spcPts val="300"/>
              </a:spcAft>
              <a:buNone/>
            </a:pPr>
            <a:r>
              <a:rPr lang="en-US" sz="1300" dirty="0">
                <a:solidFill>
                  <a:schemeClr val="accent6"/>
                </a:solidFill>
              </a:rPr>
              <a:t>A 4th‑generation gentle peeling solution developed in Korea — different from traditional AHA / BHA chemical peels.</a:t>
            </a:r>
            <a:endParaRPr lang="en-US" sz="1600" dirty="0"/>
          </a:p>
        </p:txBody>
      </p:sp>
      <p:sp>
        <p:nvSpPr>
          <p:cNvPr id="4" name="feature card 1"/>
          <p:cNvSpPr/>
          <p:nvPr/>
        </p:nvSpPr>
        <p:spPr>
          <a:xfrm>
            <a:off x="457200" y="2423160"/>
            <a:ext cx="3566160" cy="2377440"/>
          </a:xfrm>
          <a:prstGeom prst="roundRect">
            <a:avLst>
              <a:gd name="adj" fmla="val 4615"/>
            </a:avLst>
          </a:prstGeom>
          <a:solidFill>
            <a:schemeClr val="bg2"/>
          </a:solidFill>
          <a:ln/>
        </p:spPr>
      </p:sp>
      <p:sp>
        <p:nvSpPr>
          <p:cNvPr id="5" name="feature icon 1 bg"/>
          <p:cNvSpPr/>
          <p:nvPr/>
        </p:nvSpPr>
        <p:spPr>
          <a:xfrm>
            <a:off x="685800" y="2651760"/>
            <a:ext cx="685800" cy="685800"/>
          </a:xfrm>
          <a:prstGeom prst="ellipse">
            <a:avLst/>
          </a:prstGeom>
          <a:solidFill>
            <a:schemeClr val="accent1"/>
          </a:solidFill>
          <a:ln/>
        </p:spPr>
      </p:sp>
      <p:pic>
        <p:nvPicPr>
          <p:cNvPr id="6" name="feature icon 1" descr="feature icon 1">    </p:cNvPr>
          <p:cNvPicPr>
            <a:picLocks noChangeAspect="1"/>
          </p:cNvPicPr>
          <p:nvPr/>
        </p:nvPicPr>
        <p:blipFill>
          <a:blip r:embed="rId1"/>
          <a:stretch>
            <a:fillRect/>
          </a:stretch>
        </p:blipFill>
        <p:spPr>
          <a:xfrm>
            <a:off x="864108" y="2830068"/>
            <a:ext cx="329184" cy="329184"/>
          </a:xfrm>
          <a:prstGeom prst="rect">
            <a:avLst/>
          </a:prstGeom>
        </p:spPr>
      </p:pic>
      <p:sp>
        <p:nvSpPr>
          <p:cNvPr id="7" name="Text 4"/>
          <p:cNvSpPr txBox="1"/>
          <p:nvPr/>
        </p:nvSpPr>
        <p:spPr>
          <a:xfrm>
            <a:off x="1508760" y="2697480"/>
            <a:ext cx="2377440" cy="640080"/>
          </a:xfrm>
          <a:prstGeom prst="rect">
            <a:avLst/>
          </a:prstGeom>
          <a:noFill/>
          <a:ln/>
        </p:spPr>
        <p:txBody>
          <a:bodyPr wrap="square" lIns="0" tIns="0" rIns="0" bIns="0" rtlCol="0" anchor="ctr"/>
          <a:lstStyle/>
          <a:p>
            <a:pPr indent="0" marL="0">
              <a:buNone/>
            </a:pPr>
            <a:r>
              <a:rPr lang="en-US" sz="1700" b="1" dirty="0">
                <a:solidFill>
                  <a:schemeClr val="tx1"/>
                </a:solidFill>
              </a:rPr>
              <a:t>低刺激</a:t>
            </a:r>
            <a:endParaRPr lang="en-US" sz="1700" dirty="0"/>
          </a:p>
          <a:p>
            <a:pPr indent="0" marL="0">
              <a:buNone/>
            </a:pPr>
            <a:r>
              <a:rPr lang="en-US" sz="1300" dirty="0">
                <a:solidFill>
                  <a:schemeClr val="accent6"/>
                </a:solidFill>
              </a:rPr>
              <a:t>Low irritation</a:t>
            </a:r>
            <a:endParaRPr lang="en-US" sz="1700" dirty="0"/>
          </a:p>
        </p:txBody>
      </p:sp>
      <p:sp>
        <p:nvSpPr>
          <p:cNvPr id="8" name="Text 5"/>
          <p:cNvSpPr txBox="1"/>
          <p:nvPr/>
        </p:nvSpPr>
        <p:spPr>
          <a:xfrm>
            <a:off x="685800" y="3520440"/>
            <a:ext cx="3108960" cy="1234440"/>
          </a:xfrm>
          <a:prstGeom prst="rect">
            <a:avLst/>
          </a:prstGeom>
          <a:noFill/>
          <a:ln/>
        </p:spPr>
        <p:txBody>
          <a:bodyPr wrap="square" lIns="0" tIns="0" rIns="0" bIns="0" rtlCol="0" anchor="t"/>
          <a:lstStyle/>
          <a:p>
            <a:pPr indent="0" marL="0">
              <a:spcAft>
                <a:spcPts val="500"/>
              </a:spcAft>
              <a:buNone/>
            </a:pPr>
            <a:r>
              <a:rPr lang="en-US" sz="1400" dirty="0">
                <a:solidFill>
                  <a:schemeClr val="tx1"/>
                </a:solidFill>
              </a:rPr>
              <a:t>几乎无结痂、无明显脱皮、几乎没有恢复期</a:t>
            </a:r>
            <a:endParaRPr lang="en-US" sz="1400" dirty="0"/>
          </a:p>
          <a:p>
            <a:pPr indent="0" marL="0">
              <a:spcAft>
                <a:spcPts val="500"/>
              </a:spcAft>
              <a:buNone/>
            </a:pPr>
            <a:r>
              <a:rPr lang="en-US" sz="1200" dirty="0">
                <a:solidFill>
                  <a:schemeClr val="accent6"/>
                </a:solidFill>
              </a:rPr>
              <a:t>Minimal peeling, little‑to‑zero downtime</a:t>
            </a:r>
            <a:endParaRPr lang="en-US" sz="1400" dirty="0"/>
          </a:p>
        </p:txBody>
      </p:sp>
      <p:sp>
        <p:nvSpPr>
          <p:cNvPr id="9" name="feature card 2"/>
          <p:cNvSpPr/>
          <p:nvPr/>
        </p:nvSpPr>
        <p:spPr>
          <a:xfrm>
            <a:off x="4297680" y="2423160"/>
            <a:ext cx="3566160" cy="2377440"/>
          </a:xfrm>
          <a:prstGeom prst="roundRect">
            <a:avLst>
              <a:gd name="adj" fmla="val 4615"/>
            </a:avLst>
          </a:prstGeom>
          <a:solidFill>
            <a:schemeClr val="bg2"/>
          </a:solidFill>
          <a:ln/>
        </p:spPr>
      </p:sp>
      <p:sp>
        <p:nvSpPr>
          <p:cNvPr id="10" name="feature icon 2 bg"/>
          <p:cNvSpPr/>
          <p:nvPr/>
        </p:nvSpPr>
        <p:spPr>
          <a:xfrm>
            <a:off x="4526280" y="2651760"/>
            <a:ext cx="685800" cy="685800"/>
          </a:xfrm>
          <a:prstGeom prst="ellipse">
            <a:avLst/>
          </a:prstGeom>
          <a:solidFill>
            <a:schemeClr val="accent1"/>
          </a:solidFill>
          <a:ln/>
        </p:spPr>
      </p:sp>
      <p:pic>
        <p:nvPicPr>
          <p:cNvPr id="11" name="feature icon 2" descr="feature icon 2">    </p:cNvPr>
          <p:cNvPicPr>
            <a:picLocks noChangeAspect="1"/>
          </p:cNvPicPr>
          <p:nvPr/>
        </p:nvPicPr>
        <p:blipFill>
          <a:blip r:embed="rId2"/>
          <a:stretch>
            <a:fillRect/>
          </a:stretch>
        </p:blipFill>
        <p:spPr>
          <a:xfrm>
            <a:off x="4704588" y="2830068"/>
            <a:ext cx="329184" cy="329184"/>
          </a:xfrm>
          <a:prstGeom prst="rect">
            <a:avLst/>
          </a:prstGeom>
        </p:spPr>
      </p:pic>
      <p:sp>
        <p:nvSpPr>
          <p:cNvPr id="12" name="Text 8"/>
          <p:cNvSpPr txBox="1"/>
          <p:nvPr/>
        </p:nvSpPr>
        <p:spPr>
          <a:xfrm>
            <a:off x="5349240" y="2697480"/>
            <a:ext cx="2377440" cy="640080"/>
          </a:xfrm>
          <a:prstGeom prst="rect">
            <a:avLst/>
          </a:prstGeom>
          <a:noFill/>
          <a:ln/>
        </p:spPr>
        <p:txBody>
          <a:bodyPr wrap="square" lIns="0" tIns="0" rIns="0" bIns="0" rtlCol="0" anchor="ctr"/>
          <a:lstStyle/>
          <a:p>
            <a:pPr indent="0" marL="0">
              <a:buNone/>
            </a:pPr>
            <a:r>
              <a:rPr lang="en-US" sz="1700" b="1" dirty="0">
                <a:solidFill>
                  <a:schemeClr val="tx1"/>
                </a:solidFill>
              </a:rPr>
              <a:t>修护屏障</a:t>
            </a:r>
            <a:endParaRPr lang="en-US" sz="1700" dirty="0"/>
          </a:p>
          <a:p>
            <a:pPr indent="0" marL="0">
              <a:buNone/>
            </a:pPr>
            <a:r>
              <a:rPr lang="en-US" sz="1300" dirty="0">
                <a:solidFill>
                  <a:schemeClr val="accent6"/>
                </a:solidFill>
              </a:rPr>
              <a:t>Repairs the barrier</a:t>
            </a:r>
            <a:endParaRPr lang="en-US" sz="1700" dirty="0"/>
          </a:p>
        </p:txBody>
      </p:sp>
      <p:sp>
        <p:nvSpPr>
          <p:cNvPr id="13" name="Text 9"/>
          <p:cNvSpPr txBox="1"/>
          <p:nvPr/>
        </p:nvSpPr>
        <p:spPr>
          <a:xfrm>
            <a:off x="4526280" y="3520440"/>
            <a:ext cx="3108960" cy="1234440"/>
          </a:xfrm>
          <a:prstGeom prst="rect">
            <a:avLst/>
          </a:prstGeom>
          <a:noFill/>
          <a:ln/>
        </p:spPr>
        <p:txBody>
          <a:bodyPr wrap="square" lIns="0" tIns="0" rIns="0" bIns="0" rtlCol="0" anchor="t"/>
          <a:lstStyle/>
          <a:p>
            <a:pPr indent="0" marL="0">
              <a:spcAft>
                <a:spcPts val="500"/>
              </a:spcAft>
              <a:buNone/>
            </a:pPr>
            <a:r>
              <a:rPr lang="en-US" sz="1400" dirty="0">
                <a:solidFill>
                  <a:schemeClr val="tx1"/>
                </a:solidFill>
              </a:rPr>
              <a:t>焕肤同时修护皮肤屏障，越做耐受度越好</a:t>
            </a:r>
            <a:endParaRPr lang="en-US" sz="1400" dirty="0"/>
          </a:p>
          <a:p>
            <a:pPr indent="0" marL="0">
              <a:spcAft>
                <a:spcPts val="500"/>
              </a:spcAft>
              <a:buNone/>
            </a:pPr>
            <a:r>
              <a:rPr lang="en-US" sz="1200" dirty="0">
                <a:solidFill>
                  <a:schemeClr val="accent6"/>
                </a:solidFill>
              </a:rPr>
              <a:t>Exfoliates while repairing the barrier; skin gets healthier with regular sessions</a:t>
            </a:r>
            <a:endParaRPr lang="en-US" sz="1400" dirty="0"/>
          </a:p>
        </p:txBody>
      </p:sp>
      <p:sp>
        <p:nvSpPr>
          <p:cNvPr id="14" name="feature card 3"/>
          <p:cNvSpPr/>
          <p:nvPr/>
        </p:nvSpPr>
        <p:spPr>
          <a:xfrm>
            <a:off x="8138160" y="2423160"/>
            <a:ext cx="3566160" cy="2377440"/>
          </a:xfrm>
          <a:prstGeom prst="roundRect">
            <a:avLst>
              <a:gd name="adj" fmla="val 4615"/>
            </a:avLst>
          </a:prstGeom>
          <a:solidFill>
            <a:schemeClr val="bg2"/>
          </a:solidFill>
          <a:ln/>
        </p:spPr>
      </p:sp>
      <p:sp>
        <p:nvSpPr>
          <p:cNvPr id="15" name="feature icon 3 bg"/>
          <p:cNvSpPr/>
          <p:nvPr/>
        </p:nvSpPr>
        <p:spPr>
          <a:xfrm>
            <a:off x="8366760" y="2651760"/>
            <a:ext cx="685800" cy="685800"/>
          </a:xfrm>
          <a:prstGeom prst="ellipse">
            <a:avLst/>
          </a:prstGeom>
          <a:solidFill>
            <a:schemeClr val="accent1"/>
          </a:solidFill>
          <a:ln/>
        </p:spPr>
      </p:sp>
      <p:pic>
        <p:nvPicPr>
          <p:cNvPr id="16" name="feature icon 3" descr="feature icon 3">    </p:cNvPr>
          <p:cNvPicPr>
            <a:picLocks noChangeAspect="1"/>
          </p:cNvPicPr>
          <p:nvPr/>
        </p:nvPicPr>
        <p:blipFill>
          <a:blip r:embed="rId3"/>
          <a:stretch>
            <a:fillRect/>
          </a:stretch>
        </p:blipFill>
        <p:spPr>
          <a:xfrm>
            <a:off x="8545068" y="2830068"/>
            <a:ext cx="329184" cy="329184"/>
          </a:xfrm>
          <a:prstGeom prst="rect">
            <a:avLst/>
          </a:prstGeom>
        </p:spPr>
      </p:pic>
      <p:sp>
        <p:nvSpPr>
          <p:cNvPr id="17" name="Text 12"/>
          <p:cNvSpPr txBox="1"/>
          <p:nvPr/>
        </p:nvSpPr>
        <p:spPr>
          <a:xfrm>
            <a:off x="9189720" y="2697480"/>
            <a:ext cx="2377440" cy="640080"/>
          </a:xfrm>
          <a:prstGeom prst="rect">
            <a:avLst/>
          </a:prstGeom>
          <a:noFill/>
          <a:ln/>
        </p:spPr>
        <p:txBody>
          <a:bodyPr wrap="square" lIns="0" tIns="0" rIns="0" bIns="0" rtlCol="0" anchor="ctr"/>
          <a:lstStyle/>
          <a:p>
            <a:pPr indent="0" marL="0">
              <a:buNone/>
            </a:pPr>
            <a:r>
              <a:rPr lang="en-US" sz="1700" b="1" dirty="0">
                <a:solidFill>
                  <a:schemeClr val="tx1"/>
                </a:solidFill>
              </a:rPr>
              <a:t>适合亚洲肤质</a:t>
            </a:r>
            <a:endParaRPr lang="en-US" sz="1700" dirty="0"/>
          </a:p>
          <a:p>
            <a:pPr indent="0" marL="0">
              <a:buNone/>
            </a:pPr>
            <a:r>
              <a:rPr lang="en-US" sz="1300" dirty="0">
                <a:solidFill>
                  <a:schemeClr val="accent6"/>
                </a:solidFill>
              </a:rPr>
              <a:t>Suits Asian skin &amp; Singapore climate</a:t>
            </a:r>
            <a:endParaRPr lang="en-US" sz="1700" dirty="0"/>
          </a:p>
        </p:txBody>
      </p:sp>
      <p:sp>
        <p:nvSpPr>
          <p:cNvPr id="18" name="Text 13"/>
          <p:cNvSpPr txBox="1"/>
          <p:nvPr/>
        </p:nvSpPr>
        <p:spPr>
          <a:xfrm>
            <a:off x="8366760" y="3520440"/>
            <a:ext cx="3108960" cy="1234440"/>
          </a:xfrm>
          <a:prstGeom prst="rect">
            <a:avLst/>
          </a:prstGeom>
          <a:noFill/>
          <a:ln/>
        </p:spPr>
        <p:txBody>
          <a:bodyPr wrap="square" lIns="0" tIns="0" rIns="0" bIns="0" rtlCol="0" anchor="t"/>
          <a:lstStyle/>
          <a:p>
            <a:pPr indent="0" marL="0">
              <a:spcAft>
                <a:spcPts val="500"/>
              </a:spcAft>
              <a:buNone/>
            </a:pPr>
            <a:r>
              <a:rPr lang="en-US" sz="1400" dirty="0">
                <a:solidFill>
                  <a:schemeClr val="tx1"/>
                </a:solidFill>
              </a:rPr>
              <a:t>非常适合新加坡湿热气候，敏感肌经评估也可操作</a:t>
            </a:r>
            <a:endParaRPr lang="en-US" sz="1400" dirty="0"/>
          </a:p>
          <a:p>
            <a:pPr indent="0" marL="0">
              <a:spcAft>
                <a:spcPts val="500"/>
              </a:spcAft>
              <a:buNone/>
            </a:pPr>
            <a:r>
              <a:rPr lang="en-US" sz="1200" dirty="0">
                <a:solidFill>
                  <a:schemeClr val="accent6"/>
                </a:solidFill>
              </a:rPr>
              <a:t>Ideal for Singapore's humid tropical weather; sensitive skin after skin assessment</a:t>
            </a:r>
            <a:endParaRPr lang="en-US" sz="1400" dirty="0"/>
          </a:p>
        </p:txBody>
      </p:sp>
      <p:sp>
        <p:nvSpPr>
          <p:cNvPr id="19" name="patent banner"/>
          <p:cNvSpPr/>
          <p:nvPr/>
        </p:nvSpPr>
        <p:spPr>
          <a:xfrm>
            <a:off x="457200" y="5029200"/>
            <a:ext cx="11247120" cy="1188720"/>
          </a:xfrm>
          <a:prstGeom prst="roundRect">
            <a:avLst>
              <a:gd name="adj" fmla="val 9231"/>
            </a:avLst>
          </a:prstGeom>
          <a:solidFill>
            <a:schemeClr val="tx2"/>
          </a:solidFill>
          <a:ln/>
        </p:spPr>
      </p:sp>
      <p:sp>
        <p:nvSpPr>
          <p:cNvPr id="20" name="patent icon bg"/>
          <p:cNvSpPr/>
          <p:nvPr/>
        </p:nvSpPr>
        <p:spPr>
          <a:xfrm>
            <a:off x="731520" y="5349240"/>
            <a:ext cx="548640" cy="548640"/>
          </a:xfrm>
          <a:prstGeom prst="ellipse">
            <a:avLst/>
          </a:prstGeom>
          <a:solidFill>
            <a:schemeClr val="accent2"/>
          </a:solidFill>
          <a:ln/>
        </p:spPr>
      </p:sp>
      <p:pic>
        <p:nvPicPr>
          <p:cNvPr id="21" name="patent icon" descr="patent icon">    </p:cNvPr>
          <p:cNvPicPr>
            <a:picLocks noChangeAspect="1"/>
          </p:cNvPicPr>
          <p:nvPr/>
        </p:nvPicPr>
        <p:blipFill>
          <a:blip r:embed="rId4"/>
          <a:stretch>
            <a:fillRect/>
          </a:stretch>
        </p:blipFill>
        <p:spPr>
          <a:xfrm>
            <a:off x="874166" y="5491886"/>
            <a:ext cx="263347" cy="263347"/>
          </a:xfrm>
          <a:prstGeom prst="rect">
            <a:avLst/>
          </a:prstGeom>
        </p:spPr>
      </p:pic>
      <p:sp>
        <p:nvSpPr>
          <p:cNvPr id="22" name="Text 16"/>
          <p:cNvSpPr txBox="1"/>
          <p:nvPr/>
        </p:nvSpPr>
        <p:spPr>
          <a:xfrm>
            <a:off x="1508760" y="5166360"/>
            <a:ext cx="9966960" cy="914400"/>
          </a:xfrm>
          <a:prstGeom prst="rect">
            <a:avLst/>
          </a:prstGeom>
          <a:noFill/>
          <a:ln/>
        </p:spPr>
        <p:txBody>
          <a:bodyPr wrap="square" lIns="0" tIns="0" rIns="0" bIns="0" rtlCol="0" anchor="ctr"/>
          <a:lstStyle/>
          <a:p>
            <a:pPr indent="0" marL="0">
              <a:spcAft>
                <a:spcPts val="300"/>
              </a:spcAft>
              <a:buNone/>
            </a:pPr>
            <a:r>
              <a:rPr lang="en-US" sz="1500" b="1" dirty="0">
                <a:solidFill>
                  <a:schemeClr val="bg1"/>
                </a:solidFill>
              </a:rPr>
              <a:t>核心专利：Youth P‑Sol™ 橄榄油天然焕肤系统 — 温和代谢老废角质，不伤健康表皮细胞</a:t>
            </a:r>
            <a:endParaRPr lang="en-US" sz="1500" dirty="0"/>
          </a:p>
          <a:p>
            <a:pPr indent="0" marL="0">
              <a:spcAft>
                <a:spcPts val="300"/>
              </a:spcAft>
              <a:buNone/>
            </a:pPr>
            <a:r>
              <a:rPr lang="en-US" sz="1200" dirty="0">
                <a:solidFill>
                  <a:srgbClr val="CFE0D2"/>
                </a:solidFill>
              </a:rPr>
              <a:t>Patented Youth P‑Sol™ natural peeling complex derived from olive oil — selectively removes dead keratin without harming healthy skin cells.</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焕肤 + 修护｜Peel &amp; Fill</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Why we peel — and how XE‑LHA Peel removes, replenishes and supports recovery</a:t>
            </a:r>
            <a:endParaRPr lang="en-US" sz="3000" dirty="0"/>
          </a:p>
        </p:txBody>
      </p:sp>
      <p:sp>
        <p:nvSpPr>
          <p:cNvPr id="3" name="Text 1"/>
          <p:cNvSpPr txBox="1"/>
          <p:nvPr/>
        </p:nvSpPr>
        <p:spPr>
          <a:xfrm>
            <a:off x="457200" y="1371600"/>
            <a:ext cx="3657600" cy="27432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为什么需要焕肤？ Why peel?</a:t>
            </a:r>
            <a:endParaRPr lang="en-US" sz="1400" dirty="0"/>
          </a:p>
        </p:txBody>
      </p:sp>
      <p:sp>
        <p:nvSpPr>
          <p:cNvPr id="4" name="why chip 1"/>
          <p:cNvSpPr/>
          <p:nvPr/>
        </p:nvSpPr>
        <p:spPr>
          <a:xfrm>
            <a:off x="457200" y="1691640"/>
            <a:ext cx="2606040" cy="731520"/>
          </a:xfrm>
          <a:prstGeom prst="roundRect">
            <a:avLst>
              <a:gd name="adj" fmla="val 15000"/>
            </a:avLst>
          </a:prstGeom>
          <a:solidFill>
            <a:schemeClr val="bg2"/>
          </a:solidFill>
          <a:ln/>
        </p:spPr>
      </p:sp>
      <p:sp>
        <p:nvSpPr>
          <p:cNvPr id="5" name="Text 3"/>
          <p:cNvSpPr txBox="1"/>
          <p:nvPr/>
        </p:nvSpPr>
        <p:spPr>
          <a:xfrm>
            <a:off x="594360" y="1719072"/>
            <a:ext cx="2331720" cy="676656"/>
          </a:xfrm>
          <a:prstGeom prst="rect">
            <a:avLst/>
          </a:prstGeom>
          <a:noFill/>
          <a:ln/>
        </p:spPr>
        <p:txBody>
          <a:bodyPr wrap="square" lIns="0" tIns="0" rIns="0" bIns="0" rtlCol="0" anchor="ctr"/>
          <a:lstStyle/>
          <a:p>
            <a:pPr algn="ctr" indent="0" marL="0">
              <a:buNone/>
            </a:pPr>
            <a:r>
              <a:rPr lang="en-US" sz="1400" b="1" dirty="0">
                <a:solidFill>
                  <a:schemeClr val="tx1"/>
                </a:solidFill>
              </a:rPr>
              <a:t>肌肤老化</a:t>
            </a:r>
            <a:endParaRPr lang="en-US" sz="1400" dirty="0"/>
          </a:p>
          <a:p>
            <a:pPr algn="ctr" indent="0" marL="0">
              <a:buNone/>
            </a:pPr>
            <a:r>
              <a:rPr lang="en-US" sz="1200" dirty="0">
                <a:solidFill>
                  <a:schemeClr val="accent6"/>
                </a:solidFill>
              </a:rPr>
              <a:t>Aging</a:t>
            </a:r>
            <a:endParaRPr lang="en-US" sz="1400" dirty="0"/>
          </a:p>
        </p:txBody>
      </p:sp>
      <p:sp>
        <p:nvSpPr>
          <p:cNvPr id="6" name="why chevron 1"/>
          <p:cNvSpPr/>
          <p:nvPr/>
        </p:nvSpPr>
        <p:spPr>
          <a:xfrm>
            <a:off x="3108960" y="1920240"/>
            <a:ext cx="182880" cy="274320"/>
          </a:xfrm>
          <a:prstGeom prst="chevron">
            <a:avLst/>
          </a:prstGeom>
          <a:solidFill>
            <a:schemeClr val="accent4"/>
          </a:solidFill>
          <a:ln/>
        </p:spPr>
      </p:sp>
      <p:sp>
        <p:nvSpPr>
          <p:cNvPr id="7" name="why chip 2"/>
          <p:cNvSpPr/>
          <p:nvPr/>
        </p:nvSpPr>
        <p:spPr>
          <a:xfrm>
            <a:off x="3337560" y="1691640"/>
            <a:ext cx="2606040" cy="731520"/>
          </a:xfrm>
          <a:prstGeom prst="roundRect">
            <a:avLst>
              <a:gd name="adj" fmla="val 15000"/>
            </a:avLst>
          </a:prstGeom>
          <a:solidFill>
            <a:schemeClr val="bg2"/>
          </a:solidFill>
          <a:ln/>
        </p:spPr>
      </p:sp>
      <p:sp>
        <p:nvSpPr>
          <p:cNvPr id="8" name="Text 6"/>
          <p:cNvSpPr txBox="1"/>
          <p:nvPr/>
        </p:nvSpPr>
        <p:spPr>
          <a:xfrm>
            <a:off x="3474720" y="1719072"/>
            <a:ext cx="2331720" cy="676656"/>
          </a:xfrm>
          <a:prstGeom prst="rect">
            <a:avLst/>
          </a:prstGeom>
          <a:noFill/>
          <a:ln/>
        </p:spPr>
        <p:txBody>
          <a:bodyPr wrap="square" lIns="0" tIns="0" rIns="0" bIns="0" rtlCol="0" anchor="ctr"/>
          <a:lstStyle/>
          <a:p>
            <a:pPr algn="ctr" indent="0" marL="0">
              <a:buNone/>
            </a:pPr>
            <a:r>
              <a:rPr lang="en-US" sz="1400" b="1" dirty="0">
                <a:solidFill>
                  <a:schemeClr val="tx1"/>
                </a:solidFill>
              </a:rPr>
              <a:t>老废角质堆积</a:t>
            </a:r>
            <a:endParaRPr lang="en-US" sz="1400" dirty="0"/>
          </a:p>
          <a:p>
            <a:pPr algn="ctr" indent="0" marL="0">
              <a:buNone/>
            </a:pPr>
            <a:r>
              <a:rPr lang="en-US" sz="1200" dirty="0">
                <a:solidFill>
                  <a:schemeClr val="accent6"/>
                </a:solidFill>
              </a:rPr>
              <a:t>Dead‑skin buildup</a:t>
            </a:r>
            <a:endParaRPr lang="en-US" sz="1400" dirty="0"/>
          </a:p>
        </p:txBody>
      </p:sp>
      <p:sp>
        <p:nvSpPr>
          <p:cNvPr id="9" name="why chevron 2"/>
          <p:cNvSpPr/>
          <p:nvPr/>
        </p:nvSpPr>
        <p:spPr>
          <a:xfrm>
            <a:off x="5989320" y="1920240"/>
            <a:ext cx="182880" cy="274320"/>
          </a:xfrm>
          <a:prstGeom prst="chevron">
            <a:avLst/>
          </a:prstGeom>
          <a:solidFill>
            <a:schemeClr val="accent4"/>
          </a:solidFill>
          <a:ln/>
        </p:spPr>
      </p:sp>
      <p:sp>
        <p:nvSpPr>
          <p:cNvPr id="10" name="why chip 3"/>
          <p:cNvSpPr/>
          <p:nvPr/>
        </p:nvSpPr>
        <p:spPr>
          <a:xfrm>
            <a:off x="6217920" y="1691640"/>
            <a:ext cx="2606040" cy="731520"/>
          </a:xfrm>
          <a:prstGeom prst="roundRect">
            <a:avLst>
              <a:gd name="adj" fmla="val 15000"/>
            </a:avLst>
          </a:prstGeom>
          <a:solidFill>
            <a:schemeClr val="bg2"/>
          </a:solidFill>
          <a:ln/>
        </p:spPr>
      </p:sp>
      <p:sp>
        <p:nvSpPr>
          <p:cNvPr id="11" name="Text 9"/>
          <p:cNvSpPr txBox="1"/>
          <p:nvPr/>
        </p:nvSpPr>
        <p:spPr>
          <a:xfrm>
            <a:off x="6355080" y="1719072"/>
            <a:ext cx="2331720" cy="676656"/>
          </a:xfrm>
          <a:prstGeom prst="rect">
            <a:avLst/>
          </a:prstGeom>
          <a:noFill/>
          <a:ln/>
        </p:spPr>
        <p:txBody>
          <a:bodyPr wrap="square" lIns="0" tIns="0" rIns="0" bIns="0" rtlCol="0" anchor="ctr"/>
          <a:lstStyle/>
          <a:p>
            <a:pPr algn="ctr" indent="0" marL="0">
              <a:buNone/>
            </a:pPr>
            <a:r>
              <a:rPr lang="en-US" sz="1400" b="1" dirty="0">
                <a:solidFill>
                  <a:schemeClr val="tx1"/>
                </a:solidFill>
              </a:rPr>
              <a:t>代谢变慢</a:t>
            </a:r>
            <a:endParaRPr lang="en-US" sz="1400" dirty="0"/>
          </a:p>
          <a:p>
            <a:pPr algn="ctr" indent="0" marL="0">
              <a:buNone/>
            </a:pPr>
            <a:r>
              <a:rPr lang="en-US" sz="1200" dirty="0">
                <a:solidFill>
                  <a:schemeClr val="accent6"/>
                </a:solidFill>
              </a:rPr>
              <a:t>Slower turnover</a:t>
            </a:r>
            <a:endParaRPr lang="en-US" sz="1400" dirty="0"/>
          </a:p>
        </p:txBody>
      </p:sp>
      <p:sp>
        <p:nvSpPr>
          <p:cNvPr id="12" name="why chevron 3"/>
          <p:cNvSpPr/>
          <p:nvPr/>
        </p:nvSpPr>
        <p:spPr>
          <a:xfrm>
            <a:off x="8869680" y="1920240"/>
            <a:ext cx="182880" cy="274320"/>
          </a:xfrm>
          <a:prstGeom prst="chevron">
            <a:avLst/>
          </a:prstGeom>
          <a:solidFill>
            <a:schemeClr val="accent4"/>
          </a:solidFill>
          <a:ln/>
        </p:spPr>
      </p:sp>
      <p:sp>
        <p:nvSpPr>
          <p:cNvPr id="13" name="why chip 4"/>
          <p:cNvSpPr/>
          <p:nvPr/>
        </p:nvSpPr>
        <p:spPr>
          <a:xfrm>
            <a:off x="9098280" y="1691640"/>
            <a:ext cx="2606040" cy="731520"/>
          </a:xfrm>
          <a:prstGeom prst="roundRect">
            <a:avLst>
              <a:gd name="adj" fmla="val 15000"/>
            </a:avLst>
          </a:prstGeom>
          <a:solidFill>
            <a:schemeClr val="bg2"/>
          </a:solidFill>
          <a:ln/>
        </p:spPr>
      </p:sp>
      <p:sp>
        <p:nvSpPr>
          <p:cNvPr id="14" name="Text 12"/>
          <p:cNvSpPr txBox="1"/>
          <p:nvPr/>
        </p:nvSpPr>
        <p:spPr>
          <a:xfrm>
            <a:off x="9235440" y="1719072"/>
            <a:ext cx="2331720" cy="676656"/>
          </a:xfrm>
          <a:prstGeom prst="rect">
            <a:avLst/>
          </a:prstGeom>
          <a:noFill/>
          <a:ln/>
        </p:spPr>
        <p:txBody>
          <a:bodyPr wrap="square" lIns="0" tIns="0" rIns="0" bIns="0" rtlCol="0" anchor="ctr"/>
          <a:lstStyle/>
          <a:p>
            <a:pPr algn="ctr" indent="0" marL="0">
              <a:buNone/>
            </a:pPr>
            <a:r>
              <a:rPr lang="en-US" sz="1400" b="1" dirty="0">
                <a:solidFill>
                  <a:schemeClr val="tx1"/>
                </a:solidFill>
              </a:rPr>
              <a:t>吸收下降</a:t>
            </a:r>
            <a:endParaRPr lang="en-US" sz="1400" dirty="0"/>
          </a:p>
          <a:p>
            <a:pPr algn="ctr" indent="0" marL="0">
              <a:buNone/>
            </a:pPr>
            <a:r>
              <a:rPr lang="en-US" sz="1200" dirty="0">
                <a:solidFill>
                  <a:schemeClr val="accent6"/>
                </a:solidFill>
              </a:rPr>
              <a:t>Reduced absorption</a:t>
            </a:r>
            <a:endParaRPr lang="en-US" sz="1400" dirty="0"/>
          </a:p>
        </p:txBody>
      </p:sp>
      <p:sp>
        <p:nvSpPr>
          <p:cNvPr id="15" name="pf panel 1"/>
          <p:cNvSpPr/>
          <p:nvPr/>
        </p:nvSpPr>
        <p:spPr>
          <a:xfrm>
            <a:off x="457200" y="2697480"/>
            <a:ext cx="5394960" cy="2606040"/>
          </a:xfrm>
          <a:prstGeom prst="roundRect">
            <a:avLst>
              <a:gd name="adj" fmla="val 4211"/>
            </a:avLst>
          </a:prstGeom>
          <a:solidFill>
            <a:schemeClr val="bg2"/>
          </a:solidFill>
          <a:ln/>
        </p:spPr>
      </p:sp>
      <p:sp>
        <p:nvSpPr>
          <p:cNvPr id="16" name="pf pill 1"/>
          <p:cNvSpPr txBox="1"/>
          <p:nvPr/>
        </p:nvSpPr>
        <p:spPr>
          <a:xfrm>
            <a:off x="685800" y="2834640"/>
            <a:ext cx="2011680" cy="457200"/>
          </a:xfrm>
          <a:prstGeom prst="roundRect">
            <a:avLst>
              <a:gd name="adj" fmla="val 50000"/>
            </a:avLst>
          </a:prstGeom>
          <a:solidFill>
            <a:schemeClr val="accent1"/>
          </a:solidFill>
          <a:ln/>
        </p:spPr>
        <p:txBody>
          <a:bodyPr wrap="square" lIns="0" tIns="0" rIns="0" bIns="0" rtlCol="0" anchor="ctr"/>
          <a:lstStyle/>
          <a:p>
            <a:pPr algn="ctr" indent="0" marL="0">
              <a:buNone/>
            </a:pPr>
            <a:r>
              <a:rPr lang="en-US" sz="1600" b="1" dirty="0">
                <a:solidFill>
                  <a:schemeClr val="bg1"/>
                </a:solidFill>
              </a:rPr>
              <a:t>PEEL 焕肤</a:t>
            </a:r>
            <a:endParaRPr lang="en-US" sz="1600" dirty="0"/>
          </a:p>
        </p:txBody>
      </p:sp>
      <p:sp>
        <p:nvSpPr>
          <p:cNvPr id="17" name="Text 15"/>
          <p:cNvSpPr txBox="1"/>
          <p:nvPr/>
        </p:nvSpPr>
        <p:spPr>
          <a:xfrm>
            <a:off x="2834640" y="2834640"/>
            <a:ext cx="2926080" cy="457200"/>
          </a:xfrm>
          <a:prstGeom prst="rect">
            <a:avLst/>
          </a:prstGeom>
          <a:noFill/>
          <a:ln/>
        </p:spPr>
        <p:txBody>
          <a:bodyPr wrap="square" lIns="0" tIns="0" rIns="0" bIns="0" rtlCol="0" anchor="ctr"/>
          <a:lstStyle/>
          <a:p>
            <a:pPr indent="0" marL="0">
              <a:spcAft>
                <a:spcPts val="300"/>
              </a:spcAft>
              <a:buNone/>
            </a:pPr>
            <a:r>
              <a:rPr lang="en-US" sz="1700" b="1" dirty="0">
                <a:solidFill>
                  <a:schemeClr val="tx2"/>
                </a:solidFill>
              </a:rPr>
              <a:t>LHA + Youth P‑Sol™</a:t>
            </a:r>
            <a:endParaRPr lang="en-US" sz="1700" dirty="0"/>
          </a:p>
        </p:txBody>
      </p:sp>
      <p:sp>
        <p:nvSpPr>
          <p:cNvPr id="18" name="Text 16"/>
          <p:cNvSpPr txBox="1"/>
          <p:nvPr/>
        </p:nvSpPr>
        <p:spPr>
          <a:xfrm>
            <a:off x="685800" y="3474720"/>
            <a:ext cx="4937760" cy="1783080"/>
          </a:xfrm>
          <a:prstGeom prst="rect">
            <a:avLst/>
          </a:prstGeom>
          <a:noFill/>
          <a:ln/>
        </p:spPr>
        <p:txBody>
          <a:bodyPr wrap="square" lIns="0" tIns="0" rIns="0" bIns="0" rtlCol="0" anchor="t"/>
          <a:lstStyle/>
          <a:p>
            <a:pPr indent="0" marL="0">
              <a:spcAft>
                <a:spcPts val="500"/>
              </a:spcAft>
              <a:buNone/>
            </a:pPr>
            <a:r>
              <a:rPr lang="en-US" sz="1400" dirty="0">
                <a:solidFill>
                  <a:schemeClr val="tx1"/>
                </a:solidFill>
              </a:rPr>
              <a:t>第4代 LHA 缓慢渗透，以极低刺激均匀剥脱角质层；专利 Youth P‑Sol™ 使肌肤脂肪酸亲水化，帮助活性成分更深层导入。</a:t>
            </a:r>
            <a:endParaRPr lang="en-US" sz="1400" dirty="0"/>
          </a:p>
          <a:p>
            <a:pPr indent="0" marL="0">
              <a:spcAft>
                <a:spcPts val="500"/>
              </a:spcAft>
              <a:buNone/>
            </a:pPr>
            <a:r>
              <a:rPr lang="en-US" sz="1200" dirty="0">
                <a:solidFill>
                  <a:schemeClr val="accent6"/>
                </a:solidFill>
              </a:rPr>
              <a:t>4th‑generation LHA penetrates gradually and exfoliates the stratum corneum evenly with minimal irritation; patented Youth P‑Sol™ hydrophilizes skin fatty acids to help carry actives deeper.</a:t>
            </a:r>
            <a:endParaRPr lang="en-US" sz="1400" dirty="0"/>
          </a:p>
        </p:txBody>
      </p:sp>
      <p:sp>
        <p:nvSpPr>
          <p:cNvPr id="19" name="pf panel 2"/>
          <p:cNvSpPr/>
          <p:nvPr/>
        </p:nvSpPr>
        <p:spPr>
          <a:xfrm>
            <a:off x="6336792" y="2697480"/>
            <a:ext cx="5394960" cy="2606040"/>
          </a:xfrm>
          <a:prstGeom prst="roundRect">
            <a:avLst>
              <a:gd name="adj" fmla="val 4211"/>
            </a:avLst>
          </a:prstGeom>
          <a:solidFill>
            <a:schemeClr val="bg2"/>
          </a:solidFill>
          <a:ln/>
        </p:spPr>
      </p:sp>
      <p:sp>
        <p:nvSpPr>
          <p:cNvPr id="20" name="pf pill 2"/>
          <p:cNvSpPr txBox="1"/>
          <p:nvPr/>
        </p:nvSpPr>
        <p:spPr>
          <a:xfrm>
            <a:off x="6565392" y="2834640"/>
            <a:ext cx="2011680" cy="457200"/>
          </a:xfrm>
          <a:prstGeom prst="roundRect">
            <a:avLst>
              <a:gd name="adj" fmla="val 50000"/>
            </a:avLst>
          </a:prstGeom>
          <a:solidFill>
            <a:schemeClr val="accent2"/>
          </a:solidFill>
          <a:ln/>
        </p:spPr>
        <p:txBody>
          <a:bodyPr wrap="square" lIns="0" tIns="0" rIns="0" bIns="0" rtlCol="0" anchor="ctr"/>
          <a:lstStyle/>
          <a:p>
            <a:pPr algn="ctr" indent="0" marL="0">
              <a:buNone/>
            </a:pPr>
            <a:r>
              <a:rPr lang="en-US" sz="1600" b="1" dirty="0">
                <a:solidFill>
                  <a:schemeClr val="bg1"/>
                </a:solidFill>
              </a:rPr>
              <a:t>FILL 修护</a:t>
            </a:r>
            <a:endParaRPr lang="en-US" sz="1600" dirty="0"/>
          </a:p>
        </p:txBody>
      </p:sp>
      <p:sp>
        <p:nvSpPr>
          <p:cNvPr id="21" name="Text 19"/>
          <p:cNvSpPr txBox="1"/>
          <p:nvPr/>
        </p:nvSpPr>
        <p:spPr>
          <a:xfrm>
            <a:off x="8714232" y="2834640"/>
            <a:ext cx="2926080" cy="457200"/>
          </a:xfrm>
          <a:prstGeom prst="rect">
            <a:avLst/>
          </a:prstGeom>
          <a:noFill/>
          <a:ln/>
        </p:spPr>
        <p:txBody>
          <a:bodyPr wrap="square" lIns="0" tIns="0" rIns="0" bIns="0" rtlCol="0" anchor="ctr"/>
          <a:lstStyle/>
          <a:p>
            <a:pPr indent="0" marL="0">
              <a:spcAft>
                <a:spcPts val="300"/>
              </a:spcAft>
              <a:buNone/>
            </a:pPr>
            <a:r>
              <a:rPr lang="en-US" sz="1700" b="1" dirty="0">
                <a:solidFill>
                  <a:schemeClr val="tx2"/>
                </a:solidFill>
              </a:rPr>
              <a:t>DactorTec™ KIS</a:t>
            </a:r>
            <a:endParaRPr lang="en-US" sz="1700" dirty="0"/>
          </a:p>
        </p:txBody>
      </p:sp>
      <p:sp>
        <p:nvSpPr>
          <p:cNvPr id="22" name="Text 20"/>
          <p:cNvSpPr txBox="1"/>
          <p:nvPr/>
        </p:nvSpPr>
        <p:spPr>
          <a:xfrm>
            <a:off x="6565392" y="3474720"/>
            <a:ext cx="4937760" cy="1783080"/>
          </a:xfrm>
          <a:prstGeom prst="rect">
            <a:avLst/>
          </a:prstGeom>
          <a:noFill/>
          <a:ln/>
        </p:spPr>
        <p:txBody>
          <a:bodyPr wrap="square" lIns="0" tIns="0" rIns="0" bIns="0" rtlCol="0" anchor="t"/>
          <a:lstStyle/>
          <a:p>
            <a:pPr indent="0" marL="0">
              <a:spcAft>
                <a:spcPts val="500"/>
              </a:spcAft>
              <a:buNone/>
            </a:pPr>
            <a:r>
              <a:rPr lang="en-US" sz="1400" dirty="0">
                <a:solidFill>
                  <a:schemeClr val="tx1"/>
                </a:solidFill>
              </a:rPr>
              <a:t>益生菌（微生态）技术帮助修复皮肤屏障，让肌肤回到更健康的状态。</a:t>
            </a:r>
            <a:endParaRPr lang="en-US" sz="1400" dirty="0"/>
          </a:p>
          <a:p>
            <a:pPr indent="0" marL="0">
              <a:spcAft>
                <a:spcPts val="500"/>
              </a:spcAft>
              <a:buNone/>
            </a:pPr>
            <a:r>
              <a:rPr lang="en-US" sz="1200" dirty="0">
                <a:solidFill>
                  <a:schemeClr val="accent6"/>
                </a:solidFill>
              </a:rPr>
              <a:t>Microbiome technology helps restore the skin barrier and bring the skin back to a healthier state.</a:t>
            </a:r>
            <a:endParaRPr lang="en-US" sz="1400" dirty="0"/>
          </a:p>
        </p:txBody>
      </p:sp>
      <p:sp>
        <p:nvSpPr>
          <p:cNvPr id="23" name="plus bg"/>
          <p:cNvSpPr/>
          <p:nvPr/>
        </p:nvSpPr>
        <p:spPr>
          <a:xfrm>
            <a:off x="5879592" y="3749040"/>
            <a:ext cx="457200" cy="457200"/>
          </a:xfrm>
          <a:prstGeom prst="ellipse">
            <a:avLst/>
          </a:prstGeom>
          <a:solidFill>
            <a:schemeClr val="tx2"/>
          </a:solidFill>
          <a:ln w="38100">
            <a:solidFill>
              <a:srgbClr val="FFFFFF"/>
            </a:solidFill>
            <a:prstDash val="solid"/>
          </a:ln>
        </p:spPr>
      </p:sp>
      <p:sp>
        <p:nvSpPr>
          <p:cNvPr id="24" name="Text 22"/>
          <p:cNvSpPr txBox="1"/>
          <p:nvPr/>
        </p:nvSpPr>
        <p:spPr>
          <a:xfrm>
            <a:off x="5879592" y="3749040"/>
            <a:ext cx="457200" cy="45720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25" name="advantages banner"/>
          <p:cNvSpPr/>
          <p:nvPr/>
        </p:nvSpPr>
        <p:spPr>
          <a:xfrm>
            <a:off x="457200" y="5486400"/>
            <a:ext cx="11247120" cy="731520"/>
          </a:xfrm>
          <a:prstGeom prst="roundRect">
            <a:avLst>
              <a:gd name="adj" fmla="val 15000"/>
            </a:avLst>
          </a:prstGeom>
          <a:solidFill>
            <a:schemeClr val="tx2"/>
          </a:solidFill>
          <a:ln/>
        </p:spPr>
      </p:sp>
      <p:sp>
        <p:nvSpPr>
          <p:cNvPr id="26" name="Text 24"/>
          <p:cNvSpPr txBox="1"/>
          <p:nvPr/>
        </p:nvSpPr>
        <p:spPr>
          <a:xfrm>
            <a:off x="731520" y="5486400"/>
            <a:ext cx="10698480" cy="731520"/>
          </a:xfrm>
          <a:prstGeom prst="rect">
            <a:avLst/>
          </a:prstGeom>
          <a:noFill/>
          <a:ln/>
        </p:spPr>
        <p:txBody>
          <a:bodyPr wrap="square" lIns="0" tIns="0" rIns="0" bIns="0" rtlCol="0" anchor="ctr"/>
          <a:lstStyle/>
          <a:p>
            <a:pPr indent="0" marL="0">
              <a:spcAft>
                <a:spcPts val="100"/>
              </a:spcAft>
              <a:buNone/>
            </a:pPr>
            <a:r>
              <a:rPr lang="en-US" sz="1500" b="1" dirty="0">
                <a:solidFill>
                  <a:schemeClr val="bg1"/>
                </a:solidFill>
              </a:rPr>
              <a:t>低刺激 · 缩短恢复期 · 可联合其他疗程 · 即时可见效果</a:t>
            </a:r>
            <a:endParaRPr lang="en-US" sz="1500" dirty="0"/>
          </a:p>
          <a:p>
            <a:pPr indent="0" marL="0">
              <a:spcAft>
                <a:spcPts val="100"/>
              </a:spcAft>
              <a:buNone/>
            </a:pPr>
            <a:r>
              <a:rPr lang="en-US" sz="1200" dirty="0">
                <a:solidFill>
                  <a:srgbClr val="CFE0D2"/>
                </a:solidFill>
              </a:rPr>
              <a:t>Low irritation · Reduced downtime · Combination‑friendly · Immediate visible results</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产品组合与护理流程</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Product Line‑up &amp; Treatment Protocol · Cleanse → Peel → Recover</a:t>
            </a:r>
            <a:endParaRPr lang="en-US" sz="3000" dirty="0"/>
          </a:p>
        </p:txBody>
      </p:sp>
      <p:sp>
        <p:nvSpPr>
          <p:cNvPr id="3" name="lineup card 1"/>
          <p:cNvSpPr/>
          <p:nvPr/>
        </p:nvSpPr>
        <p:spPr>
          <a:xfrm>
            <a:off x="457200" y="1417320"/>
            <a:ext cx="2697480" cy="4800600"/>
          </a:xfrm>
          <a:prstGeom prst="roundRect">
            <a:avLst>
              <a:gd name="adj" fmla="val 4068"/>
            </a:avLst>
          </a:prstGeom>
          <a:solidFill>
            <a:schemeClr val="bg2"/>
          </a:solidFill>
          <a:ln/>
        </p:spPr>
      </p:sp>
      <p:sp>
        <p:nvSpPr>
          <p:cNvPr id="4" name="step pill 1"/>
          <p:cNvSpPr txBox="1"/>
          <p:nvPr/>
        </p:nvSpPr>
        <p:spPr>
          <a:xfrm>
            <a:off x="594360" y="1536192"/>
            <a:ext cx="242316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200" b="1" dirty="0">
                <a:solidFill>
                  <a:schemeClr val="bg1"/>
                </a:solidFill>
              </a:rPr>
              <a:t>1 清洁 Cleanse</a:t>
            </a:r>
            <a:endParaRPr lang="en-US" sz="1200" dirty="0"/>
          </a:p>
        </p:txBody>
      </p:sp>
      <p:sp>
        <p:nvSpPr>
          <p:cNvPr id="5" name="photo frame 1"/>
          <p:cNvSpPr/>
          <p:nvPr/>
        </p:nvSpPr>
        <p:spPr>
          <a:xfrm>
            <a:off x="640080" y="1965960"/>
            <a:ext cx="2331720" cy="1783080"/>
          </a:xfrm>
          <a:prstGeom prst="roundRect">
            <a:avLst>
              <a:gd name="adj" fmla="val 5128"/>
            </a:avLst>
          </a:prstGeom>
          <a:solidFill>
            <a:srgbClr val="FFFFFF"/>
          </a:solidFill>
          <a:ln/>
        </p:spPr>
      </p:sp>
      <p:pic>
        <p:nvPicPr>
          <p:cNvPr id="6" name="XE‑LHA Foam product photo" descr="XE‑LHA Foam product photo">    </p:cNvPr>
          <p:cNvPicPr>
            <a:picLocks noChangeAspect="1"/>
          </p:cNvPicPr>
          <p:nvPr/>
        </p:nvPicPr>
        <p:blipFill>
          <a:blip r:embed="rId1"/>
          <a:stretch>
            <a:fillRect/>
          </a:stretch>
        </p:blipFill>
        <p:spPr>
          <a:xfrm>
            <a:off x="1254318" y="2011680"/>
            <a:ext cx="1103243" cy="1691640"/>
          </a:xfrm>
          <a:prstGeom prst="rect">
            <a:avLst/>
          </a:prstGeom>
        </p:spPr>
      </p:pic>
      <p:sp>
        <p:nvSpPr>
          <p:cNvPr id="7" name="Text 4"/>
          <p:cNvSpPr txBox="1"/>
          <p:nvPr/>
        </p:nvSpPr>
        <p:spPr>
          <a:xfrm>
            <a:off x="640080" y="3840480"/>
            <a:ext cx="2377440" cy="320040"/>
          </a:xfrm>
          <a:prstGeom prst="rect">
            <a:avLst/>
          </a:prstGeom>
          <a:noFill/>
          <a:ln/>
        </p:spPr>
        <p:txBody>
          <a:bodyPr wrap="square" lIns="0" tIns="0" rIns="0" bIns="0" rtlCol="0" anchor="t"/>
          <a:lstStyle/>
          <a:p>
            <a:pPr indent="0" marL="0">
              <a:spcAft>
                <a:spcPts val="300"/>
              </a:spcAft>
              <a:buNone/>
            </a:pPr>
            <a:r>
              <a:rPr lang="en-US" sz="1500" b="1" dirty="0">
                <a:solidFill>
                  <a:schemeClr val="tx2"/>
                </a:solidFill>
              </a:rPr>
              <a:t>XE‑LHA Foam</a:t>
            </a:r>
            <a:endParaRPr lang="en-US" sz="1500" dirty="0"/>
          </a:p>
        </p:txBody>
      </p:sp>
      <p:sp>
        <p:nvSpPr>
          <p:cNvPr id="8" name="Text 5"/>
          <p:cNvSpPr txBox="1"/>
          <p:nvPr/>
        </p:nvSpPr>
        <p:spPr>
          <a:xfrm>
            <a:off x="640080" y="4206240"/>
            <a:ext cx="2377440" cy="1920240"/>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低敏植物配方洁面，pH 4.5–5.5；术前专用清洁，提升焕肤效果</a:t>
            </a:r>
            <a:endParaRPr lang="en-US" sz="1300" dirty="0"/>
          </a:p>
          <a:p>
            <a:pPr indent="0" marL="0">
              <a:spcAft>
                <a:spcPts val="400"/>
              </a:spcAft>
              <a:buNone/>
            </a:pPr>
            <a:r>
              <a:rPr lang="en-US" sz="1200" dirty="0">
                <a:solidFill>
                  <a:schemeClr val="accent6"/>
                </a:solidFill>
              </a:rPr>
              <a:t>Hypoallergenic plant‑derived cleanser; dedicated pre‑treatment cleanse to maximise the peel</a:t>
            </a:r>
            <a:endParaRPr lang="en-US" sz="1300" dirty="0"/>
          </a:p>
        </p:txBody>
      </p:sp>
      <p:sp>
        <p:nvSpPr>
          <p:cNvPr id="9" name="flow chevron 1"/>
          <p:cNvSpPr/>
          <p:nvPr/>
        </p:nvSpPr>
        <p:spPr>
          <a:xfrm>
            <a:off x="3172968" y="2743200"/>
            <a:ext cx="146304" cy="320040"/>
          </a:xfrm>
          <a:prstGeom prst="chevron">
            <a:avLst/>
          </a:prstGeom>
          <a:solidFill>
            <a:schemeClr val="accent1"/>
          </a:solidFill>
          <a:ln/>
        </p:spPr>
      </p:sp>
      <p:sp>
        <p:nvSpPr>
          <p:cNvPr id="10" name="lineup card 2"/>
          <p:cNvSpPr/>
          <p:nvPr/>
        </p:nvSpPr>
        <p:spPr>
          <a:xfrm>
            <a:off x="3310128" y="1417320"/>
            <a:ext cx="2697480" cy="4800600"/>
          </a:xfrm>
          <a:prstGeom prst="roundRect">
            <a:avLst>
              <a:gd name="adj" fmla="val 4068"/>
            </a:avLst>
          </a:prstGeom>
          <a:solidFill>
            <a:schemeClr val="bg2"/>
          </a:solidFill>
          <a:ln/>
        </p:spPr>
      </p:sp>
      <p:sp>
        <p:nvSpPr>
          <p:cNvPr id="11" name="step pill 2"/>
          <p:cNvSpPr txBox="1"/>
          <p:nvPr/>
        </p:nvSpPr>
        <p:spPr>
          <a:xfrm>
            <a:off x="3447288" y="1536192"/>
            <a:ext cx="242316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200" b="1" dirty="0">
                <a:solidFill>
                  <a:schemeClr val="bg1"/>
                </a:solidFill>
              </a:rPr>
              <a:t>2 焕肤 Peel</a:t>
            </a:r>
            <a:endParaRPr lang="en-US" sz="1200" dirty="0"/>
          </a:p>
        </p:txBody>
      </p:sp>
      <p:sp>
        <p:nvSpPr>
          <p:cNvPr id="12" name="photo frame 2"/>
          <p:cNvSpPr/>
          <p:nvPr/>
        </p:nvSpPr>
        <p:spPr>
          <a:xfrm>
            <a:off x="3493008" y="1965960"/>
            <a:ext cx="2331720" cy="1783080"/>
          </a:xfrm>
          <a:prstGeom prst="roundRect">
            <a:avLst>
              <a:gd name="adj" fmla="val 5128"/>
            </a:avLst>
          </a:prstGeom>
          <a:solidFill>
            <a:srgbClr val="FFFFFF"/>
          </a:solidFill>
          <a:ln/>
        </p:spPr>
      </p:sp>
      <p:pic>
        <p:nvPicPr>
          <p:cNvPr id="13" name="XE‑LHA Peel product photo" descr="XE‑LHA Peel product photo">    </p:cNvPr>
          <p:cNvPicPr>
            <a:picLocks noChangeAspect="1"/>
          </p:cNvPicPr>
          <p:nvPr/>
        </p:nvPicPr>
        <p:blipFill>
          <a:blip r:embed="rId2"/>
          <a:stretch>
            <a:fillRect/>
          </a:stretch>
        </p:blipFill>
        <p:spPr>
          <a:xfrm>
            <a:off x="4007878" y="2011680"/>
            <a:ext cx="1301979" cy="1691640"/>
          </a:xfrm>
          <a:prstGeom prst="rect">
            <a:avLst/>
          </a:prstGeom>
        </p:spPr>
      </p:pic>
      <p:sp>
        <p:nvSpPr>
          <p:cNvPr id="14" name="Text 10"/>
          <p:cNvSpPr txBox="1"/>
          <p:nvPr/>
        </p:nvSpPr>
        <p:spPr>
          <a:xfrm>
            <a:off x="3493008" y="3840480"/>
            <a:ext cx="2377440" cy="320040"/>
          </a:xfrm>
          <a:prstGeom prst="rect">
            <a:avLst/>
          </a:prstGeom>
          <a:noFill/>
          <a:ln/>
        </p:spPr>
        <p:txBody>
          <a:bodyPr wrap="square" lIns="0" tIns="0" rIns="0" bIns="0" rtlCol="0" anchor="t"/>
          <a:lstStyle/>
          <a:p>
            <a:pPr indent="0" marL="0">
              <a:spcAft>
                <a:spcPts val="300"/>
              </a:spcAft>
              <a:buNone/>
            </a:pPr>
            <a:r>
              <a:rPr lang="en-US" sz="1500" b="1" dirty="0">
                <a:solidFill>
                  <a:schemeClr val="tx2"/>
                </a:solidFill>
              </a:rPr>
              <a:t>XE‑LHA Peel</a:t>
            </a:r>
            <a:endParaRPr lang="en-US" sz="1500" dirty="0"/>
          </a:p>
        </p:txBody>
      </p:sp>
      <p:sp>
        <p:nvSpPr>
          <p:cNvPr id="15" name="Text 11"/>
          <p:cNvSpPr txBox="1"/>
          <p:nvPr/>
        </p:nvSpPr>
        <p:spPr>
          <a:xfrm>
            <a:off x="3493008" y="4206240"/>
            <a:ext cx="2377440" cy="1920240"/>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Basic + Ultra 两步焕肤精华，均匀去除老废角质、改善肤质</a:t>
            </a:r>
            <a:endParaRPr lang="en-US" sz="1300" dirty="0"/>
          </a:p>
          <a:p>
            <a:pPr indent="0" marL="0">
              <a:spcAft>
                <a:spcPts val="400"/>
              </a:spcAft>
              <a:buNone/>
            </a:pPr>
            <a:r>
              <a:rPr lang="en-US" sz="1200" dirty="0">
                <a:solidFill>
                  <a:schemeClr val="accent6"/>
                </a:solidFill>
              </a:rPr>
              <a:t>Two‑step peel (Basic + Ultra): evenly removes dead skin cells &amp; smooths texture</a:t>
            </a:r>
            <a:endParaRPr lang="en-US" sz="1300" dirty="0"/>
          </a:p>
        </p:txBody>
      </p:sp>
      <p:sp>
        <p:nvSpPr>
          <p:cNvPr id="16" name="flow chevron 2"/>
          <p:cNvSpPr/>
          <p:nvPr/>
        </p:nvSpPr>
        <p:spPr>
          <a:xfrm>
            <a:off x="6025896" y="2743200"/>
            <a:ext cx="146304" cy="320040"/>
          </a:xfrm>
          <a:prstGeom prst="chevron">
            <a:avLst/>
          </a:prstGeom>
          <a:solidFill>
            <a:schemeClr val="accent1"/>
          </a:solidFill>
          <a:ln/>
        </p:spPr>
      </p:sp>
      <p:sp>
        <p:nvSpPr>
          <p:cNvPr id="17" name="lineup card 3"/>
          <p:cNvSpPr/>
          <p:nvPr/>
        </p:nvSpPr>
        <p:spPr>
          <a:xfrm>
            <a:off x="6163056" y="1417320"/>
            <a:ext cx="2697480" cy="4800600"/>
          </a:xfrm>
          <a:prstGeom prst="roundRect">
            <a:avLst>
              <a:gd name="adj" fmla="val 4068"/>
            </a:avLst>
          </a:prstGeom>
          <a:solidFill>
            <a:schemeClr val="bg2"/>
          </a:solidFill>
          <a:ln/>
        </p:spPr>
      </p:sp>
      <p:sp>
        <p:nvSpPr>
          <p:cNvPr id="18" name="step pill 3"/>
          <p:cNvSpPr txBox="1"/>
          <p:nvPr/>
        </p:nvSpPr>
        <p:spPr>
          <a:xfrm>
            <a:off x="6300216" y="1536192"/>
            <a:ext cx="242316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200" b="1" dirty="0">
                <a:solidFill>
                  <a:schemeClr val="bg1"/>
                </a:solidFill>
              </a:rPr>
              <a:t>3 修护 Recover</a:t>
            </a:r>
            <a:endParaRPr lang="en-US" sz="1200" dirty="0"/>
          </a:p>
        </p:txBody>
      </p:sp>
      <p:sp>
        <p:nvSpPr>
          <p:cNvPr id="19" name="photo frame 3"/>
          <p:cNvSpPr/>
          <p:nvPr/>
        </p:nvSpPr>
        <p:spPr>
          <a:xfrm>
            <a:off x="6345936" y="1965960"/>
            <a:ext cx="2331720" cy="1783080"/>
          </a:xfrm>
          <a:prstGeom prst="roundRect">
            <a:avLst>
              <a:gd name="adj" fmla="val 5128"/>
            </a:avLst>
          </a:prstGeom>
          <a:solidFill>
            <a:srgbClr val="FFFFFF"/>
          </a:solidFill>
          <a:ln/>
        </p:spPr>
      </p:sp>
      <p:pic>
        <p:nvPicPr>
          <p:cNvPr id="20" name="XE‑LHA Mask product photo" descr="XE‑LHA Mask product photo">    </p:cNvPr>
          <p:cNvPicPr>
            <a:picLocks noChangeAspect="1"/>
          </p:cNvPicPr>
          <p:nvPr/>
        </p:nvPicPr>
        <p:blipFill>
          <a:blip r:embed="rId3"/>
          <a:stretch>
            <a:fillRect/>
          </a:stretch>
        </p:blipFill>
        <p:spPr>
          <a:xfrm>
            <a:off x="6593477" y="2011680"/>
            <a:ext cx="1836638" cy="1691640"/>
          </a:xfrm>
          <a:prstGeom prst="rect">
            <a:avLst/>
          </a:prstGeom>
        </p:spPr>
      </p:pic>
      <p:sp>
        <p:nvSpPr>
          <p:cNvPr id="21" name="Text 16"/>
          <p:cNvSpPr txBox="1"/>
          <p:nvPr/>
        </p:nvSpPr>
        <p:spPr>
          <a:xfrm>
            <a:off x="6345936" y="3840480"/>
            <a:ext cx="2377440" cy="320040"/>
          </a:xfrm>
          <a:prstGeom prst="rect">
            <a:avLst/>
          </a:prstGeom>
          <a:noFill/>
          <a:ln/>
        </p:spPr>
        <p:txBody>
          <a:bodyPr wrap="square" lIns="0" tIns="0" rIns="0" bIns="0" rtlCol="0" anchor="t"/>
          <a:lstStyle/>
          <a:p>
            <a:pPr indent="0" marL="0">
              <a:spcAft>
                <a:spcPts val="300"/>
              </a:spcAft>
              <a:buNone/>
            </a:pPr>
            <a:r>
              <a:rPr lang="en-US" sz="1500" b="1" dirty="0">
                <a:solidFill>
                  <a:schemeClr val="tx2"/>
                </a:solidFill>
              </a:rPr>
              <a:t>XE‑LHA Mask</a:t>
            </a:r>
            <a:endParaRPr lang="en-US" sz="1500" dirty="0"/>
          </a:p>
        </p:txBody>
      </p:sp>
      <p:sp>
        <p:nvSpPr>
          <p:cNvPr id="22" name="Text 17"/>
          <p:cNvSpPr txBox="1"/>
          <p:nvPr/>
        </p:nvSpPr>
        <p:spPr>
          <a:xfrm>
            <a:off x="6345936" y="4206240"/>
            <a:ext cx="2377440" cy="1920240"/>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微生态修护面膜，温感释放活性成分，快速舒缓术后肌肤</a:t>
            </a:r>
            <a:endParaRPr lang="en-US" sz="1300" dirty="0"/>
          </a:p>
          <a:p>
            <a:pPr indent="0" marL="0">
              <a:spcAft>
                <a:spcPts val="400"/>
              </a:spcAft>
              <a:buNone/>
            </a:pPr>
            <a:r>
              <a:rPr lang="en-US" sz="1200" dirty="0">
                <a:solidFill>
                  <a:schemeClr val="accent6"/>
                </a:solidFill>
              </a:rPr>
              <a:t>Microbiome recovery mask; temperature‑responsive release soothes post‑treatment skin</a:t>
            </a:r>
            <a:endParaRPr lang="en-US" sz="1300" dirty="0"/>
          </a:p>
        </p:txBody>
      </p:sp>
      <p:sp>
        <p:nvSpPr>
          <p:cNvPr id="23" name="lineup card 4"/>
          <p:cNvSpPr/>
          <p:nvPr/>
        </p:nvSpPr>
        <p:spPr>
          <a:xfrm>
            <a:off x="9015984" y="1417320"/>
            <a:ext cx="2697480" cy="4800600"/>
          </a:xfrm>
          <a:prstGeom prst="roundRect">
            <a:avLst>
              <a:gd name="adj" fmla="val 4068"/>
            </a:avLst>
          </a:prstGeom>
          <a:solidFill>
            <a:schemeClr val="bg2"/>
          </a:solidFill>
          <a:ln/>
        </p:spPr>
      </p:sp>
      <p:sp>
        <p:nvSpPr>
          <p:cNvPr id="24" name="step pill 4"/>
          <p:cNvSpPr txBox="1"/>
          <p:nvPr/>
        </p:nvSpPr>
        <p:spPr>
          <a:xfrm>
            <a:off x="9153144" y="1536192"/>
            <a:ext cx="2423160" cy="329184"/>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dirty="0">
                <a:solidFill>
                  <a:schemeClr val="bg1"/>
                </a:solidFill>
              </a:rPr>
              <a:t>必备工具 Required tool</a:t>
            </a:r>
            <a:endParaRPr lang="en-US" sz="1200" dirty="0"/>
          </a:p>
        </p:txBody>
      </p:sp>
      <p:sp>
        <p:nvSpPr>
          <p:cNvPr id="25" name="photo frame 4"/>
          <p:cNvSpPr/>
          <p:nvPr/>
        </p:nvSpPr>
        <p:spPr>
          <a:xfrm>
            <a:off x="9198864" y="1965960"/>
            <a:ext cx="2331720" cy="1783080"/>
          </a:xfrm>
          <a:prstGeom prst="roundRect">
            <a:avLst>
              <a:gd name="adj" fmla="val 5128"/>
            </a:avLst>
          </a:prstGeom>
          <a:solidFill>
            <a:srgbClr val="FFFFFF"/>
          </a:solidFill>
          <a:ln/>
        </p:spPr>
      </p:sp>
      <p:pic>
        <p:nvPicPr>
          <p:cNvPr id="26" name="XE‑LHA Brush product photo" descr="XE‑LHA Brush product photo">    </p:cNvPr>
          <p:cNvPicPr>
            <a:picLocks noChangeAspect="1"/>
          </p:cNvPicPr>
          <p:nvPr/>
        </p:nvPicPr>
        <p:blipFill>
          <a:blip r:embed="rId4"/>
          <a:stretch>
            <a:fillRect/>
          </a:stretch>
        </p:blipFill>
        <p:spPr>
          <a:xfrm>
            <a:off x="9554643" y="2011680"/>
            <a:ext cx="1620162" cy="1691640"/>
          </a:xfrm>
          <a:prstGeom prst="rect">
            <a:avLst/>
          </a:prstGeom>
        </p:spPr>
      </p:pic>
      <p:sp>
        <p:nvSpPr>
          <p:cNvPr id="27" name="Text 21"/>
          <p:cNvSpPr txBox="1"/>
          <p:nvPr/>
        </p:nvSpPr>
        <p:spPr>
          <a:xfrm>
            <a:off x="9198864" y="3840480"/>
            <a:ext cx="2377440" cy="320040"/>
          </a:xfrm>
          <a:prstGeom prst="rect">
            <a:avLst/>
          </a:prstGeom>
          <a:noFill/>
          <a:ln/>
        </p:spPr>
        <p:txBody>
          <a:bodyPr wrap="square" lIns="0" tIns="0" rIns="0" bIns="0" rtlCol="0" anchor="t"/>
          <a:lstStyle/>
          <a:p>
            <a:pPr indent="0" marL="0">
              <a:spcAft>
                <a:spcPts val="300"/>
              </a:spcAft>
              <a:buNone/>
            </a:pPr>
            <a:r>
              <a:rPr lang="en-US" sz="1500" b="1" dirty="0">
                <a:solidFill>
                  <a:schemeClr val="tx2"/>
                </a:solidFill>
              </a:rPr>
              <a:t>XE‑LHA Brush</a:t>
            </a:r>
            <a:endParaRPr lang="en-US" sz="1500" dirty="0"/>
          </a:p>
        </p:txBody>
      </p:sp>
      <p:sp>
        <p:nvSpPr>
          <p:cNvPr id="28" name="Text 22"/>
          <p:cNvSpPr txBox="1"/>
          <p:nvPr/>
        </p:nvSpPr>
        <p:spPr>
          <a:xfrm>
            <a:off x="9198864" y="4206240"/>
            <a:ext cx="2377440" cy="1920240"/>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专用细毛刷（洁面刷＋焕肤刷），必须使用；普通刷可能刮伤皮肤</a:t>
            </a:r>
            <a:endParaRPr lang="en-US" sz="1300" dirty="0"/>
          </a:p>
          <a:p>
            <a:pPr indent="0" marL="0">
              <a:spcAft>
                <a:spcPts val="400"/>
              </a:spcAft>
              <a:buNone/>
            </a:pPr>
            <a:r>
              <a:rPr lang="en-US" sz="1200" dirty="0">
                <a:solidFill>
                  <a:schemeClr val="accent6"/>
                </a:solidFill>
              </a:rPr>
              <a:t>Dedicated fine‑bristle brushes — required; ordinary brushes may scratch skin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一号液与二号液｜Basic &amp; Ultra</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Two‑step XE‑LHA Peel · same family, different concentration and depth</a:t>
            </a:r>
            <a:endParaRPr lang="en-US" sz="3000" dirty="0"/>
          </a:p>
        </p:txBody>
      </p:sp>
      <p:sp>
        <p:nvSpPr>
          <p:cNvPr id="3" name="bottle panel"/>
          <p:cNvSpPr/>
          <p:nvPr/>
        </p:nvSpPr>
        <p:spPr>
          <a:xfrm>
            <a:off x="457200" y="1417320"/>
            <a:ext cx="3657600" cy="4663440"/>
          </a:xfrm>
          <a:prstGeom prst="roundRect">
            <a:avLst>
              <a:gd name="adj" fmla="val 3000"/>
            </a:avLst>
          </a:prstGeom>
          <a:solidFill>
            <a:schemeClr val="bg2"/>
          </a:solidFill>
          <a:ln/>
        </p:spPr>
      </p:sp>
      <p:sp>
        <p:nvSpPr>
          <p:cNvPr id="4" name="bottle frame"/>
          <p:cNvSpPr/>
          <p:nvPr/>
        </p:nvSpPr>
        <p:spPr>
          <a:xfrm>
            <a:off x="640080" y="1600200"/>
            <a:ext cx="3291840" cy="4297680"/>
          </a:xfrm>
          <a:prstGeom prst="roundRect">
            <a:avLst>
              <a:gd name="adj" fmla="val 2778"/>
            </a:avLst>
          </a:prstGeom>
          <a:solidFill>
            <a:srgbClr val="FFFFFF"/>
          </a:solidFill>
          <a:ln/>
        </p:spPr>
      </p:sp>
      <p:pic>
        <p:nvPicPr>
          <p:cNvPr id="5" name="XE-LHA Peel Basic and Ultra bottles" descr="XE-LHA Peel Basic and Ultra bottles">    </p:cNvPr>
          <p:cNvPicPr>
            <a:picLocks noChangeAspect="1"/>
          </p:cNvPicPr>
          <p:nvPr/>
        </p:nvPicPr>
        <p:blipFill>
          <a:blip r:embed="rId1"/>
          <a:stretch>
            <a:fillRect/>
          </a:stretch>
        </p:blipFill>
        <p:spPr>
          <a:xfrm>
            <a:off x="731520" y="1729330"/>
            <a:ext cx="3108960" cy="4039419"/>
          </a:xfrm>
          <a:prstGeom prst="rect">
            <a:avLst/>
          </a:prstGeom>
        </p:spPr>
      </p:pic>
      <p:sp>
        <p:nvSpPr>
          <p:cNvPr id="6" name="step panel 1"/>
          <p:cNvSpPr/>
          <p:nvPr/>
        </p:nvSpPr>
        <p:spPr>
          <a:xfrm>
            <a:off x="4389120" y="1417320"/>
            <a:ext cx="7315200" cy="2148840"/>
          </a:xfrm>
          <a:prstGeom prst="roundRect">
            <a:avLst>
              <a:gd name="adj" fmla="val 5106"/>
            </a:avLst>
          </a:prstGeom>
          <a:solidFill>
            <a:schemeClr val="bg2"/>
          </a:solidFill>
          <a:ln/>
        </p:spPr>
      </p:sp>
      <p:sp>
        <p:nvSpPr>
          <p:cNvPr id="7" name="num 1"/>
          <p:cNvSpPr txBox="1"/>
          <p:nvPr/>
        </p:nvSpPr>
        <p:spPr>
          <a:xfrm>
            <a:off x="4572000" y="158191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5212080" y="1581912"/>
            <a:ext cx="4206240" cy="502920"/>
          </a:xfrm>
          <a:prstGeom prst="rect">
            <a:avLst/>
          </a:prstGeom>
          <a:noFill/>
          <a:ln/>
        </p:spPr>
        <p:txBody>
          <a:bodyPr wrap="square" lIns="0" tIns="0" rIns="0" bIns="0" rtlCol="0" anchor="ctr"/>
          <a:lstStyle/>
          <a:p>
            <a:pPr indent="0" marL="0">
              <a:spcAft>
                <a:spcPts val="300"/>
              </a:spcAft>
              <a:buNone/>
            </a:pPr>
            <a:r>
              <a:rPr lang="en-US" sz="1700" b="1" dirty="0">
                <a:solidFill>
                  <a:schemeClr val="tx2"/>
                </a:solidFill>
              </a:rPr>
              <a:t>一号液 Basic Cell Wakener</a:t>
            </a:r>
            <a:endParaRPr lang="en-US" sz="1700" dirty="0"/>
          </a:p>
        </p:txBody>
      </p:sp>
      <p:sp>
        <p:nvSpPr>
          <p:cNvPr id="9" name="ppm pill 1"/>
          <p:cNvSpPr txBox="1"/>
          <p:nvPr/>
        </p:nvSpPr>
        <p:spPr>
          <a:xfrm>
            <a:off x="9966960" y="1636776"/>
            <a:ext cx="1554480" cy="384048"/>
          </a:xfrm>
          <a:prstGeom prst="roundRect">
            <a:avLst>
              <a:gd name="adj" fmla="val 50000"/>
            </a:avLst>
          </a:prstGeom>
          <a:solidFill>
            <a:schemeClr val="accent5"/>
          </a:solidFill>
          <a:ln/>
        </p:spPr>
        <p:txBody>
          <a:bodyPr wrap="square" lIns="0" tIns="0" rIns="0" bIns="0" rtlCol="0" anchor="ctr"/>
          <a:lstStyle/>
          <a:p>
            <a:pPr algn="ctr" indent="0" marL="0">
              <a:buNone/>
            </a:pPr>
            <a:r>
              <a:rPr lang="en-US" sz="1300" b="1" dirty="0">
                <a:solidFill>
                  <a:schemeClr val="tx1"/>
                </a:solidFill>
              </a:rPr>
              <a:t>LHA 500 ppm</a:t>
            </a:r>
            <a:endParaRPr lang="en-US" sz="1300" dirty="0"/>
          </a:p>
        </p:txBody>
      </p:sp>
      <p:sp>
        <p:nvSpPr>
          <p:cNvPr id="10" name="Text 7"/>
          <p:cNvSpPr txBox="1"/>
          <p:nvPr/>
        </p:nvSpPr>
        <p:spPr>
          <a:xfrm>
            <a:off x="4572000" y="2194560"/>
            <a:ext cx="3657600" cy="228600"/>
          </a:xfrm>
          <a:prstGeom prst="rect">
            <a:avLst/>
          </a:prstGeom>
          <a:noFill/>
          <a:ln/>
        </p:spPr>
        <p:txBody>
          <a:bodyPr wrap="square" lIns="0" tIns="0" rIns="0" bIns="0" rtlCol="0" anchor="t"/>
          <a:lstStyle/>
          <a:p>
            <a:pPr indent="0" marL="0">
              <a:spcAft>
                <a:spcPts val="300"/>
              </a:spcAft>
              <a:buNone/>
            </a:pPr>
            <a:r>
              <a:rPr lang="en-US" sz="1200" b="1" dirty="0">
                <a:solidFill>
                  <a:schemeClr val="accent6"/>
                </a:solidFill>
              </a:rPr>
              <a:t>作用深度 Depth of action</a:t>
            </a:r>
            <a:endParaRPr lang="en-US" sz="1200" dirty="0"/>
          </a:p>
        </p:txBody>
      </p:sp>
      <p:sp>
        <p:nvSpPr>
          <p:cNvPr id="11" name="depth seg 1.0"/>
          <p:cNvSpPr/>
          <p:nvPr/>
        </p:nvSpPr>
        <p:spPr>
          <a:xfrm>
            <a:off x="4572000" y="2441448"/>
            <a:ext cx="2331720" cy="365760"/>
          </a:xfrm>
          <a:prstGeom prst="rect">
            <a:avLst/>
          </a:prstGeom>
          <a:solidFill>
            <a:srgbClr val="D8B98C"/>
          </a:solidFill>
          <a:ln w="12700">
            <a:solidFill>
              <a:srgbClr val="FFFFFF"/>
            </a:solidFill>
            <a:prstDash val="solid"/>
          </a:ln>
        </p:spPr>
      </p:sp>
      <p:sp>
        <p:nvSpPr>
          <p:cNvPr id="12" name="Text 9"/>
          <p:cNvSpPr txBox="1"/>
          <p:nvPr/>
        </p:nvSpPr>
        <p:spPr>
          <a:xfrm>
            <a:off x="4572000" y="2441448"/>
            <a:ext cx="2331720" cy="365760"/>
          </a:xfrm>
          <a:prstGeom prst="rect">
            <a:avLst/>
          </a:prstGeom>
          <a:noFill/>
          <a:ln/>
        </p:spPr>
        <p:txBody>
          <a:bodyPr wrap="square" lIns="0" tIns="0" rIns="0" bIns="0" rtlCol="0" anchor="ctr"/>
          <a:lstStyle/>
          <a:p>
            <a:pPr algn="ctr" indent="0" marL="0">
              <a:buNone/>
            </a:pPr>
            <a:r>
              <a:rPr lang="en-US" sz="1100" b="1" dirty="0">
                <a:solidFill>
                  <a:srgbClr val="3B2A14"/>
                </a:solidFill>
              </a:rPr>
              <a:t>角质层 Stratum corneum</a:t>
            </a:r>
            <a:endParaRPr lang="en-US" sz="1100" dirty="0"/>
          </a:p>
        </p:txBody>
      </p:sp>
      <p:sp>
        <p:nvSpPr>
          <p:cNvPr id="13" name="depth seg 1.1"/>
          <p:cNvSpPr/>
          <p:nvPr/>
        </p:nvSpPr>
        <p:spPr>
          <a:xfrm>
            <a:off x="6903720" y="2441448"/>
            <a:ext cx="2331720" cy="365760"/>
          </a:xfrm>
          <a:prstGeom prst="rect">
            <a:avLst/>
          </a:prstGeom>
          <a:solidFill>
            <a:srgbClr val="F2C4A8"/>
          </a:solidFill>
          <a:ln w="12700">
            <a:solidFill>
              <a:srgbClr val="FFFFFF"/>
            </a:solidFill>
            <a:prstDash val="solid"/>
          </a:ln>
        </p:spPr>
      </p:sp>
      <p:sp>
        <p:nvSpPr>
          <p:cNvPr id="14" name="Text 11"/>
          <p:cNvSpPr txBox="1"/>
          <p:nvPr/>
        </p:nvSpPr>
        <p:spPr>
          <a:xfrm>
            <a:off x="6903720" y="2441448"/>
            <a:ext cx="2331720" cy="365760"/>
          </a:xfrm>
          <a:prstGeom prst="rect">
            <a:avLst/>
          </a:prstGeom>
          <a:noFill/>
          <a:ln/>
        </p:spPr>
        <p:txBody>
          <a:bodyPr wrap="square" lIns="0" tIns="0" rIns="0" bIns="0" rtlCol="0" anchor="ctr"/>
          <a:lstStyle/>
          <a:p>
            <a:pPr algn="ctr" indent="0" marL="0">
              <a:buNone/>
            </a:pPr>
            <a:r>
              <a:rPr lang="en-US" sz="1100" b="1" dirty="0">
                <a:solidFill>
                  <a:srgbClr val="3B2A14"/>
                </a:solidFill>
              </a:rPr>
              <a:t>表皮 Epidermis</a:t>
            </a:r>
            <a:endParaRPr lang="en-US" sz="1100" dirty="0"/>
          </a:p>
        </p:txBody>
      </p:sp>
      <p:sp>
        <p:nvSpPr>
          <p:cNvPr id="15" name="depth seg 1.2"/>
          <p:cNvSpPr/>
          <p:nvPr/>
        </p:nvSpPr>
        <p:spPr>
          <a:xfrm>
            <a:off x="9235440" y="2441448"/>
            <a:ext cx="2331720" cy="365760"/>
          </a:xfrm>
          <a:prstGeom prst="rect">
            <a:avLst/>
          </a:prstGeom>
          <a:solidFill>
            <a:srgbClr val="EDEFED"/>
          </a:solidFill>
          <a:ln w="12700">
            <a:solidFill>
              <a:srgbClr val="FFFFFF"/>
            </a:solidFill>
            <a:prstDash val="solid"/>
          </a:ln>
        </p:spPr>
      </p:sp>
      <p:sp>
        <p:nvSpPr>
          <p:cNvPr id="16" name="Text 13"/>
          <p:cNvSpPr txBox="1"/>
          <p:nvPr/>
        </p:nvSpPr>
        <p:spPr>
          <a:xfrm>
            <a:off x="9235440" y="2441448"/>
            <a:ext cx="2331720" cy="365760"/>
          </a:xfrm>
          <a:prstGeom prst="rect">
            <a:avLst/>
          </a:prstGeom>
          <a:noFill/>
          <a:ln/>
        </p:spPr>
        <p:txBody>
          <a:bodyPr wrap="square" lIns="0" tIns="0" rIns="0" bIns="0" rtlCol="0" anchor="ctr"/>
          <a:lstStyle/>
          <a:p>
            <a:pPr algn="ctr" indent="0" marL="0">
              <a:buNone/>
            </a:pPr>
            <a:r>
              <a:rPr lang="en-US" sz="1100" b="1" dirty="0">
                <a:solidFill>
                  <a:srgbClr val="8A948E"/>
                </a:solidFill>
              </a:rPr>
              <a:t>基底层 Basal layer</a:t>
            </a:r>
            <a:endParaRPr lang="en-US" sz="1100" dirty="0"/>
          </a:p>
        </p:txBody>
      </p:sp>
      <p:sp>
        <p:nvSpPr>
          <p:cNvPr id="17" name="Text 14"/>
          <p:cNvSpPr txBox="1"/>
          <p:nvPr/>
        </p:nvSpPr>
        <p:spPr>
          <a:xfrm>
            <a:off x="4572000" y="2926080"/>
            <a:ext cx="6949440" cy="594360"/>
          </a:xfrm>
          <a:prstGeom prst="rect">
            <a:avLst/>
          </a:prstGeom>
          <a:noFill/>
          <a:ln/>
        </p:spPr>
        <p:txBody>
          <a:bodyPr wrap="square" lIns="0" tIns="0" rIns="0" bIns="0" rtlCol="0" anchor="t"/>
          <a:lstStyle/>
          <a:p>
            <a:pPr indent="0" marL="0">
              <a:spcAft>
                <a:spcPts val="100"/>
              </a:spcAft>
              <a:buNone/>
            </a:pPr>
            <a:r>
              <a:rPr lang="en-US" sz="1500" b="1" dirty="0">
                <a:solidFill>
                  <a:schemeClr val="tx1"/>
                </a:solidFill>
              </a:rPr>
              <a:t>打开皮肤通道</a:t>
            </a:r>
            <a:endParaRPr lang="en-US" sz="1500" dirty="0"/>
          </a:p>
          <a:p>
            <a:pPr indent="0" marL="0">
              <a:spcAft>
                <a:spcPts val="100"/>
              </a:spcAft>
              <a:buNone/>
            </a:pPr>
            <a:r>
              <a:rPr lang="en-US" sz="1200" dirty="0">
                <a:solidFill>
                  <a:schemeClr val="accent6"/>
                </a:solidFill>
              </a:rPr>
              <a:t>Skin channel opening — prepares the skin for Ultra</a:t>
            </a:r>
            <a:endParaRPr lang="en-US" sz="1500" dirty="0"/>
          </a:p>
        </p:txBody>
      </p:sp>
      <p:sp>
        <p:nvSpPr>
          <p:cNvPr id="18" name="step panel 2"/>
          <p:cNvSpPr/>
          <p:nvPr/>
        </p:nvSpPr>
        <p:spPr>
          <a:xfrm>
            <a:off x="4389120" y="3703320"/>
            <a:ext cx="7315200" cy="2148840"/>
          </a:xfrm>
          <a:prstGeom prst="roundRect">
            <a:avLst>
              <a:gd name="adj" fmla="val 5106"/>
            </a:avLst>
          </a:prstGeom>
          <a:solidFill>
            <a:schemeClr val="bg2"/>
          </a:solidFill>
          <a:ln/>
        </p:spPr>
      </p:sp>
      <p:sp>
        <p:nvSpPr>
          <p:cNvPr id="19" name="num 2"/>
          <p:cNvSpPr txBox="1"/>
          <p:nvPr/>
        </p:nvSpPr>
        <p:spPr>
          <a:xfrm>
            <a:off x="4572000" y="386791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5212080" y="3867912"/>
            <a:ext cx="4206240" cy="502920"/>
          </a:xfrm>
          <a:prstGeom prst="rect">
            <a:avLst/>
          </a:prstGeom>
          <a:noFill/>
          <a:ln/>
        </p:spPr>
        <p:txBody>
          <a:bodyPr wrap="square" lIns="0" tIns="0" rIns="0" bIns="0" rtlCol="0" anchor="ctr"/>
          <a:lstStyle/>
          <a:p>
            <a:pPr indent="0" marL="0">
              <a:spcAft>
                <a:spcPts val="300"/>
              </a:spcAft>
              <a:buNone/>
            </a:pPr>
            <a:r>
              <a:rPr lang="en-US" sz="1700" b="1" dirty="0">
                <a:solidFill>
                  <a:schemeClr val="tx2"/>
                </a:solidFill>
              </a:rPr>
              <a:t>二号液 Ultra Cell Enhancer</a:t>
            </a:r>
            <a:endParaRPr lang="en-US" sz="1700" dirty="0"/>
          </a:p>
        </p:txBody>
      </p:sp>
      <p:sp>
        <p:nvSpPr>
          <p:cNvPr id="21" name="ppm pill 2"/>
          <p:cNvSpPr txBox="1"/>
          <p:nvPr/>
        </p:nvSpPr>
        <p:spPr>
          <a:xfrm>
            <a:off x="9966960" y="3922776"/>
            <a:ext cx="1554480" cy="384048"/>
          </a:xfrm>
          <a:prstGeom prst="roundRect">
            <a:avLst>
              <a:gd name="adj" fmla="val 50000"/>
            </a:avLst>
          </a:prstGeom>
          <a:solidFill>
            <a:schemeClr val="accent5"/>
          </a:solidFill>
          <a:ln/>
        </p:spPr>
        <p:txBody>
          <a:bodyPr wrap="square" lIns="0" tIns="0" rIns="0" bIns="0" rtlCol="0" anchor="ctr"/>
          <a:lstStyle/>
          <a:p>
            <a:pPr algn="ctr" indent="0" marL="0">
              <a:buNone/>
            </a:pPr>
            <a:r>
              <a:rPr lang="en-US" sz="1300" b="1" dirty="0">
                <a:solidFill>
                  <a:schemeClr val="tx1"/>
                </a:solidFill>
              </a:rPr>
              <a:t>LHA 1,000 ppm</a:t>
            </a:r>
            <a:endParaRPr lang="en-US" sz="1300" dirty="0"/>
          </a:p>
        </p:txBody>
      </p:sp>
      <p:sp>
        <p:nvSpPr>
          <p:cNvPr id="22" name="Text 19"/>
          <p:cNvSpPr txBox="1"/>
          <p:nvPr/>
        </p:nvSpPr>
        <p:spPr>
          <a:xfrm>
            <a:off x="4572000" y="4480560"/>
            <a:ext cx="3657600" cy="228600"/>
          </a:xfrm>
          <a:prstGeom prst="rect">
            <a:avLst/>
          </a:prstGeom>
          <a:noFill/>
          <a:ln/>
        </p:spPr>
        <p:txBody>
          <a:bodyPr wrap="square" lIns="0" tIns="0" rIns="0" bIns="0" rtlCol="0" anchor="t"/>
          <a:lstStyle/>
          <a:p>
            <a:pPr indent="0" marL="0">
              <a:spcAft>
                <a:spcPts val="300"/>
              </a:spcAft>
              <a:buNone/>
            </a:pPr>
            <a:r>
              <a:rPr lang="en-US" sz="1200" b="1" dirty="0">
                <a:solidFill>
                  <a:schemeClr val="accent6"/>
                </a:solidFill>
              </a:rPr>
              <a:t>作用深度 Depth of action</a:t>
            </a:r>
            <a:endParaRPr lang="en-US" sz="1200" dirty="0"/>
          </a:p>
        </p:txBody>
      </p:sp>
      <p:sp>
        <p:nvSpPr>
          <p:cNvPr id="23" name="depth seg 2.0"/>
          <p:cNvSpPr/>
          <p:nvPr/>
        </p:nvSpPr>
        <p:spPr>
          <a:xfrm>
            <a:off x="4572000" y="4727448"/>
            <a:ext cx="2331720" cy="365760"/>
          </a:xfrm>
          <a:prstGeom prst="rect">
            <a:avLst/>
          </a:prstGeom>
          <a:solidFill>
            <a:srgbClr val="D8B98C"/>
          </a:solidFill>
          <a:ln w="12700">
            <a:solidFill>
              <a:srgbClr val="FFFFFF"/>
            </a:solidFill>
            <a:prstDash val="solid"/>
          </a:ln>
        </p:spPr>
      </p:sp>
      <p:sp>
        <p:nvSpPr>
          <p:cNvPr id="24" name="Text 21"/>
          <p:cNvSpPr txBox="1"/>
          <p:nvPr/>
        </p:nvSpPr>
        <p:spPr>
          <a:xfrm>
            <a:off x="4572000" y="4727448"/>
            <a:ext cx="2331720" cy="365760"/>
          </a:xfrm>
          <a:prstGeom prst="rect">
            <a:avLst/>
          </a:prstGeom>
          <a:noFill/>
          <a:ln/>
        </p:spPr>
        <p:txBody>
          <a:bodyPr wrap="square" lIns="0" tIns="0" rIns="0" bIns="0" rtlCol="0" anchor="ctr"/>
          <a:lstStyle/>
          <a:p>
            <a:pPr algn="ctr" indent="0" marL="0">
              <a:buNone/>
            </a:pPr>
            <a:r>
              <a:rPr lang="en-US" sz="1100" b="1" dirty="0">
                <a:solidFill>
                  <a:srgbClr val="3B2A14"/>
                </a:solidFill>
              </a:rPr>
              <a:t>角质层 Stratum corneum</a:t>
            </a:r>
            <a:endParaRPr lang="en-US" sz="1100" dirty="0"/>
          </a:p>
        </p:txBody>
      </p:sp>
      <p:sp>
        <p:nvSpPr>
          <p:cNvPr id="25" name="depth seg 2.1"/>
          <p:cNvSpPr/>
          <p:nvPr/>
        </p:nvSpPr>
        <p:spPr>
          <a:xfrm>
            <a:off x="6903720" y="4727448"/>
            <a:ext cx="2331720" cy="365760"/>
          </a:xfrm>
          <a:prstGeom prst="rect">
            <a:avLst/>
          </a:prstGeom>
          <a:solidFill>
            <a:srgbClr val="F2C4A8"/>
          </a:solidFill>
          <a:ln w="12700">
            <a:solidFill>
              <a:srgbClr val="FFFFFF"/>
            </a:solidFill>
            <a:prstDash val="solid"/>
          </a:ln>
        </p:spPr>
      </p:sp>
      <p:sp>
        <p:nvSpPr>
          <p:cNvPr id="26" name="Text 23"/>
          <p:cNvSpPr txBox="1"/>
          <p:nvPr/>
        </p:nvSpPr>
        <p:spPr>
          <a:xfrm>
            <a:off x="6903720" y="4727448"/>
            <a:ext cx="2331720" cy="365760"/>
          </a:xfrm>
          <a:prstGeom prst="rect">
            <a:avLst/>
          </a:prstGeom>
          <a:noFill/>
          <a:ln/>
        </p:spPr>
        <p:txBody>
          <a:bodyPr wrap="square" lIns="0" tIns="0" rIns="0" bIns="0" rtlCol="0" anchor="ctr"/>
          <a:lstStyle/>
          <a:p>
            <a:pPr algn="ctr" indent="0" marL="0">
              <a:buNone/>
            </a:pPr>
            <a:r>
              <a:rPr lang="en-US" sz="1100" b="1" dirty="0">
                <a:solidFill>
                  <a:srgbClr val="3B2A14"/>
                </a:solidFill>
              </a:rPr>
              <a:t>表皮 Epidermis</a:t>
            </a:r>
            <a:endParaRPr lang="en-US" sz="1100" dirty="0"/>
          </a:p>
        </p:txBody>
      </p:sp>
      <p:sp>
        <p:nvSpPr>
          <p:cNvPr id="27" name="depth seg 2.2"/>
          <p:cNvSpPr/>
          <p:nvPr/>
        </p:nvSpPr>
        <p:spPr>
          <a:xfrm>
            <a:off x="9235440" y="4727448"/>
            <a:ext cx="2331720" cy="365760"/>
          </a:xfrm>
          <a:prstGeom prst="rect">
            <a:avLst/>
          </a:prstGeom>
          <a:solidFill>
            <a:srgbClr val="E69D8E"/>
          </a:solidFill>
          <a:ln w="12700">
            <a:solidFill>
              <a:srgbClr val="FFFFFF"/>
            </a:solidFill>
            <a:prstDash val="solid"/>
          </a:ln>
        </p:spPr>
      </p:sp>
      <p:sp>
        <p:nvSpPr>
          <p:cNvPr id="28" name="Text 25"/>
          <p:cNvSpPr txBox="1"/>
          <p:nvPr/>
        </p:nvSpPr>
        <p:spPr>
          <a:xfrm>
            <a:off x="9235440" y="4727448"/>
            <a:ext cx="2331720" cy="365760"/>
          </a:xfrm>
          <a:prstGeom prst="rect">
            <a:avLst/>
          </a:prstGeom>
          <a:noFill/>
          <a:ln/>
        </p:spPr>
        <p:txBody>
          <a:bodyPr wrap="square" lIns="0" tIns="0" rIns="0" bIns="0" rtlCol="0" anchor="ctr"/>
          <a:lstStyle/>
          <a:p>
            <a:pPr algn="ctr" indent="0" marL="0">
              <a:buNone/>
            </a:pPr>
            <a:r>
              <a:rPr lang="en-US" sz="1100" b="1" dirty="0">
                <a:solidFill>
                  <a:srgbClr val="3B2A14"/>
                </a:solidFill>
              </a:rPr>
              <a:t>基底层 Basal layer</a:t>
            </a:r>
            <a:endParaRPr lang="en-US" sz="1100" dirty="0"/>
          </a:p>
        </p:txBody>
      </p:sp>
      <p:sp>
        <p:nvSpPr>
          <p:cNvPr id="29" name="Text 26"/>
          <p:cNvSpPr txBox="1"/>
          <p:nvPr/>
        </p:nvSpPr>
        <p:spPr>
          <a:xfrm>
            <a:off x="4572000" y="5212080"/>
            <a:ext cx="6949440" cy="594360"/>
          </a:xfrm>
          <a:prstGeom prst="rect">
            <a:avLst/>
          </a:prstGeom>
          <a:noFill/>
          <a:ln/>
        </p:spPr>
        <p:txBody>
          <a:bodyPr wrap="square" lIns="0" tIns="0" rIns="0" bIns="0" rtlCol="0" anchor="t"/>
          <a:lstStyle/>
          <a:p>
            <a:pPr indent="0" marL="0">
              <a:spcAft>
                <a:spcPts val="100"/>
              </a:spcAft>
              <a:buNone/>
            </a:pPr>
            <a:r>
              <a:rPr lang="en-US" sz="1500" b="1" dirty="0">
                <a:solidFill>
                  <a:schemeClr val="tx1"/>
                </a:solidFill>
              </a:rPr>
              <a:t>最大化吸收</a:t>
            </a:r>
            <a:endParaRPr lang="en-US" sz="1500" dirty="0"/>
          </a:p>
          <a:p>
            <a:pPr indent="0" marL="0">
              <a:spcAft>
                <a:spcPts val="100"/>
              </a:spcAft>
              <a:buNone/>
            </a:pPr>
            <a:r>
              <a:rPr lang="en-US" sz="1200" dirty="0">
                <a:solidFill>
                  <a:schemeClr val="accent6"/>
                </a:solidFill>
              </a:rPr>
              <a:t>Maximised absorption — works down to the basal layer</a:t>
            </a:r>
            <a:endParaRPr lang="en-US" sz="1500" dirty="0"/>
          </a:p>
        </p:txBody>
      </p:sp>
      <p:sp>
        <p:nvSpPr>
          <p:cNvPr id="30" name="order note"/>
          <p:cNvSpPr/>
          <p:nvPr/>
        </p:nvSpPr>
        <p:spPr>
          <a:xfrm>
            <a:off x="4389120" y="5943600"/>
            <a:ext cx="7315200" cy="365760"/>
          </a:xfrm>
          <a:prstGeom prst="roundRect">
            <a:avLst>
              <a:gd name="adj" fmla="val 30000"/>
            </a:avLst>
          </a:prstGeom>
          <a:solidFill>
            <a:schemeClr val="accent5"/>
          </a:solidFill>
          <a:ln/>
        </p:spPr>
      </p:sp>
      <p:sp>
        <p:nvSpPr>
          <p:cNvPr id="31" name="Text 28"/>
          <p:cNvSpPr txBox="1"/>
          <p:nvPr/>
        </p:nvSpPr>
        <p:spPr>
          <a:xfrm>
            <a:off x="4572000" y="5943600"/>
            <a:ext cx="7040880" cy="365760"/>
          </a:xfrm>
          <a:prstGeom prst="rect">
            <a:avLst/>
          </a:prstGeom>
          <a:noFill/>
          <a:ln/>
        </p:spPr>
        <p:txBody>
          <a:bodyPr wrap="square" lIns="0" tIns="0" rIns="0" bIns="0" rtlCol="0" anchor="ctr"/>
          <a:lstStyle/>
          <a:p>
            <a:pPr indent="0" marL="0">
              <a:buNone/>
            </a:pPr>
            <a:r>
              <a:rPr lang="en-US" sz="1200" b="1" dirty="0">
                <a:solidFill>
                  <a:schemeClr val="tx1"/>
                </a:solidFill>
              </a:rPr>
              <a:t>顺序：先 Basic，再叠加 Ultra（不需洗掉）  </a:t>
            </a:r>
            <a:pPr indent="0" marL="0">
              <a:buNone/>
            </a:pPr>
            <a:r>
              <a:rPr lang="en-US" sz="1200" dirty="0">
                <a:solidFill>
                  <a:srgbClr val="55665C"/>
                </a:solidFill>
              </a:rPr>
              <a:t>Order: Basic first, then layer Ultra — no rinsing</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核心成分</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Key Ingredients</a:t>
            </a:r>
            <a:endParaRPr lang="en-US" sz="3000" dirty="0"/>
          </a:p>
        </p:txBody>
      </p:sp>
      <p:sp>
        <p:nvSpPr>
          <p:cNvPr id="3" name="ingredient card 1"/>
          <p:cNvSpPr/>
          <p:nvPr/>
        </p:nvSpPr>
        <p:spPr>
          <a:xfrm>
            <a:off x="457200" y="1417320"/>
            <a:ext cx="4754880" cy="2103120"/>
          </a:xfrm>
          <a:prstGeom prst="roundRect">
            <a:avLst>
              <a:gd name="adj" fmla="val 5217"/>
            </a:avLst>
          </a:prstGeom>
          <a:solidFill>
            <a:schemeClr val="bg2"/>
          </a:solidFill>
          <a:ln/>
        </p:spPr>
      </p:sp>
      <p:sp>
        <p:nvSpPr>
          <p:cNvPr id="4" name="num 1"/>
          <p:cNvSpPr txBox="1"/>
          <p:nvPr/>
        </p:nvSpPr>
        <p:spPr>
          <a:xfrm>
            <a:off x="685800" y="1645920"/>
            <a:ext cx="548640" cy="548640"/>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417320" y="1600200"/>
            <a:ext cx="3657600" cy="178308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LHA 脂羟基酸</a:t>
            </a:r>
            <a:endParaRPr lang="en-US" sz="1500" dirty="0"/>
          </a:p>
          <a:p>
            <a:pPr indent="0" marL="0">
              <a:spcAft>
                <a:spcPts val="400"/>
              </a:spcAft>
              <a:buNone/>
            </a:pPr>
            <a:r>
              <a:rPr lang="en-US" sz="1100" dirty="0">
                <a:solidFill>
                  <a:schemeClr val="accent6"/>
                </a:solidFill>
              </a:rPr>
              <a:t>水杨酸衍生物 · 欧莱雅 L'Oréal 研发 (BHA derivative)</a:t>
            </a:r>
            <a:endParaRPr lang="en-US" sz="1500" dirty="0"/>
          </a:p>
          <a:p>
            <a:pPr indent="0" marL="0">
              <a:spcAft>
                <a:spcPts val="400"/>
              </a:spcAft>
              <a:buNone/>
            </a:pPr>
            <a:r>
              <a:rPr lang="en-US" sz="1400" b="1" dirty="0">
                <a:solidFill>
                  <a:srgbClr val="000000"/>
                </a:solidFill>
              </a:rPr>
              <a:t>亲脂性，钻进毛孔溶解油脂、黑头、老废角质，疏通毛孔</a:t>
            </a:r>
            <a:endParaRPr lang="en-US" sz="1500" dirty="0"/>
          </a:p>
          <a:p>
            <a:pPr indent="0" marL="0">
              <a:spcAft>
                <a:spcPts val="400"/>
              </a:spcAft>
              <a:buNone/>
            </a:pPr>
            <a:r>
              <a:rPr lang="en-US" sz="1200" dirty="0">
                <a:solidFill>
                  <a:schemeClr val="accent6"/>
                </a:solidFill>
              </a:rPr>
              <a:t>Lipohydroxy Acid — lipophilic, skin‑friendly at pH 5.5: unclogs pores, dissolves sebum &amp; dead skin</a:t>
            </a:r>
            <a:endParaRPr lang="en-US" sz="1500" dirty="0"/>
          </a:p>
        </p:txBody>
      </p:sp>
      <p:sp>
        <p:nvSpPr>
          <p:cNvPr id="6" name="ingredient card 2"/>
          <p:cNvSpPr/>
          <p:nvPr/>
        </p:nvSpPr>
        <p:spPr>
          <a:xfrm>
            <a:off x="6976872" y="1417320"/>
            <a:ext cx="4754880" cy="2103120"/>
          </a:xfrm>
          <a:prstGeom prst="roundRect">
            <a:avLst>
              <a:gd name="adj" fmla="val 5217"/>
            </a:avLst>
          </a:prstGeom>
          <a:solidFill>
            <a:schemeClr val="bg2"/>
          </a:solidFill>
          <a:ln/>
        </p:spPr>
      </p:sp>
      <p:sp>
        <p:nvSpPr>
          <p:cNvPr id="7" name="num 2"/>
          <p:cNvSpPr txBox="1"/>
          <p:nvPr/>
        </p:nvSpPr>
        <p:spPr>
          <a:xfrm>
            <a:off x="7205472" y="1645920"/>
            <a:ext cx="548640" cy="54864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8" name="Text 6"/>
          <p:cNvSpPr txBox="1"/>
          <p:nvPr/>
        </p:nvSpPr>
        <p:spPr>
          <a:xfrm>
            <a:off x="7936992" y="1600200"/>
            <a:ext cx="3657600" cy="178308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Youth P‑Sol™ 专利成分</a:t>
            </a:r>
            <a:endParaRPr lang="en-US" sz="1500" dirty="0"/>
          </a:p>
          <a:p>
            <a:pPr indent="0" marL="0">
              <a:spcAft>
                <a:spcPts val="400"/>
              </a:spcAft>
              <a:buNone/>
            </a:pPr>
            <a:r>
              <a:rPr lang="en-US" sz="1100" dirty="0">
                <a:solidFill>
                  <a:schemeClr val="accent6"/>
                </a:solidFill>
              </a:rPr>
              <a:t>橄榄油、椰子油天然萃取 · 专利 Patent 10‑2103140</a:t>
            </a:r>
            <a:endParaRPr lang="en-US" sz="1500" dirty="0"/>
          </a:p>
          <a:p>
            <a:pPr indent="0" marL="0">
              <a:spcAft>
                <a:spcPts val="400"/>
              </a:spcAft>
              <a:buNone/>
            </a:pPr>
            <a:r>
              <a:rPr lang="en-US" sz="1400" b="1" dirty="0">
                <a:solidFill>
                  <a:srgbClr val="000000"/>
                </a:solidFill>
              </a:rPr>
              <a:t>降低酸类刺激，激活成纤维细胞，修护屏障</a:t>
            </a:r>
            <a:endParaRPr lang="en-US" sz="1500" dirty="0"/>
          </a:p>
          <a:p>
            <a:pPr indent="0" marL="0">
              <a:spcAft>
                <a:spcPts val="400"/>
              </a:spcAft>
              <a:buNone/>
            </a:pPr>
            <a:r>
              <a:rPr lang="en-US" sz="1200" dirty="0">
                <a:solidFill>
                  <a:schemeClr val="accent6"/>
                </a:solidFill>
              </a:rPr>
              <a:t>Olive &amp; coconut lipid extract — reduces irritation, boosts fibroblast activity, repairs the barrier</a:t>
            </a:r>
            <a:endParaRPr lang="en-US" sz="1500" dirty="0"/>
          </a:p>
        </p:txBody>
      </p:sp>
      <p:sp>
        <p:nvSpPr>
          <p:cNvPr id="9" name="ingredient card 3"/>
          <p:cNvSpPr/>
          <p:nvPr/>
        </p:nvSpPr>
        <p:spPr>
          <a:xfrm>
            <a:off x="457200" y="3657600"/>
            <a:ext cx="4754880" cy="2103120"/>
          </a:xfrm>
          <a:prstGeom prst="roundRect">
            <a:avLst>
              <a:gd name="adj" fmla="val 5217"/>
            </a:avLst>
          </a:prstGeom>
          <a:solidFill>
            <a:schemeClr val="bg2"/>
          </a:solidFill>
          <a:ln/>
        </p:spPr>
      </p:sp>
      <p:sp>
        <p:nvSpPr>
          <p:cNvPr id="10" name="num 3"/>
          <p:cNvSpPr txBox="1"/>
          <p:nvPr/>
        </p:nvSpPr>
        <p:spPr>
          <a:xfrm>
            <a:off x="685800" y="3886200"/>
            <a:ext cx="548640" cy="548640"/>
          </a:xfrm>
          <a:prstGeom prst="ellipse">
            <a:avLst/>
          </a:prstGeom>
          <a:solidFill>
            <a:schemeClr val="accent4"/>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1" name="Text 9"/>
          <p:cNvSpPr txBox="1"/>
          <p:nvPr/>
        </p:nvSpPr>
        <p:spPr>
          <a:xfrm>
            <a:off x="1417320" y="3840480"/>
            <a:ext cx="3657600" cy="178308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DactorTec™ KIS 益生菌发酵物</a:t>
            </a:r>
            <a:endParaRPr lang="en-US" sz="1500" dirty="0"/>
          </a:p>
          <a:p>
            <a:pPr indent="0" marL="0">
              <a:spcAft>
                <a:spcPts val="400"/>
              </a:spcAft>
              <a:buNone/>
            </a:pPr>
            <a:r>
              <a:rPr lang="en-US" sz="1100" dirty="0">
                <a:solidFill>
                  <a:schemeClr val="accent6"/>
                </a:solidFill>
              </a:rPr>
              <a:t>104 种乳酸菌（源自泡菜与酸菜）· 专利</a:t>
            </a:r>
            <a:endParaRPr lang="en-US" sz="1500" dirty="0"/>
          </a:p>
          <a:p>
            <a:pPr indent="0" marL="0">
              <a:spcAft>
                <a:spcPts val="400"/>
              </a:spcAft>
              <a:buNone/>
            </a:pPr>
            <a:r>
              <a:rPr lang="en-US" sz="1400" b="1" dirty="0">
                <a:solidFill>
                  <a:srgbClr val="000000"/>
                </a:solidFill>
              </a:rPr>
              <a:t>调理皮肤微生态，改善泛红、易敏肤质</a:t>
            </a:r>
            <a:endParaRPr lang="en-US" sz="1500" dirty="0"/>
          </a:p>
          <a:p>
            <a:pPr indent="0" marL="0">
              <a:spcAft>
                <a:spcPts val="400"/>
              </a:spcAft>
              <a:buNone/>
            </a:pPr>
            <a:r>
              <a:rPr lang="en-US" sz="1200" dirty="0">
                <a:solidFill>
                  <a:schemeClr val="accent6"/>
                </a:solidFill>
              </a:rPr>
              <a:t>Probiotic complex (104 Lactobacillus strains from kimchi &amp; sauerkraut) — balances the microbiome, reduces redness &amp; sensitivity</a:t>
            </a:r>
            <a:endParaRPr lang="en-US" sz="1500" dirty="0"/>
          </a:p>
        </p:txBody>
      </p:sp>
      <p:sp>
        <p:nvSpPr>
          <p:cNvPr id="12" name="ingredient card 4"/>
          <p:cNvSpPr/>
          <p:nvPr/>
        </p:nvSpPr>
        <p:spPr>
          <a:xfrm>
            <a:off x="6976872" y="3657600"/>
            <a:ext cx="4754880" cy="2103120"/>
          </a:xfrm>
          <a:prstGeom prst="roundRect">
            <a:avLst>
              <a:gd name="adj" fmla="val 5217"/>
            </a:avLst>
          </a:prstGeom>
          <a:solidFill>
            <a:schemeClr val="bg2"/>
          </a:solidFill>
          <a:ln/>
        </p:spPr>
      </p:sp>
      <p:sp>
        <p:nvSpPr>
          <p:cNvPr id="13" name="num 4"/>
          <p:cNvSpPr txBox="1"/>
          <p:nvPr/>
        </p:nvSpPr>
        <p:spPr>
          <a:xfrm>
            <a:off x="7205472" y="3886200"/>
            <a:ext cx="548640" cy="548640"/>
          </a:xfrm>
          <a:prstGeom prst="ellipse">
            <a:avLst/>
          </a:prstGeom>
          <a:solidFill>
            <a:schemeClr val="accent3"/>
          </a:solid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4" name="Text 12"/>
          <p:cNvSpPr txBox="1"/>
          <p:nvPr/>
        </p:nvSpPr>
        <p:spPr>
          <a:xfrm>
            <a:off x="7936992" y="3840480"/>
            <a:ext cx="3657600" cy="178308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Rucinol 丁基间苯二酚</a:t>
            </a:r>
            <a:endParaRPr lang="en-US" sz="1500" dirty="0"/>
          </a:p>
          <a:p>
            <a:pPr indent="0" marL="0">
              <a:spcAft>
                <a:spcPts val="400"/>
              </a:spcAft>
              <a:buNone/>
            </a:pPr>
            <a:r>
              <a:rPr lang="en-US" sz="1100" dirty="0">
                <a:solidFill>
                  <a:schemeClr val="accent6"/>
                </a:solidFill>
              </a:rPr>
              <a:t>4‑Butylresorcinol · POLA 研发</a:t>
            </a:r>
            <a:endParaRPr lang="en-US" sz="1500" dirty="0"/>
          </a:p>
          <a:p>
            <a:pPr indent="0" marL="0">
              <a:spcAft>
                <a:spcPts val="400"/>
              </a:spcAft>
              <a:buNone/>
            </a:pPr>
            <a:r>
              <a:rPr lang="en-US" sz="1400" b="1" dirty="0">
                <a:solidFill>
                  <a:srgbClr val="000000"/>
                </a:solidFill>
              </a:rPr>
              <a:t>高效抑黑，改善暗沉、痘印、色素沉淀，提亮肤色</a:t>
            </a:r>
            <a:endParaRPr lang="en-US" sz="1500" dirty="0"/>
          </a:p>
          <a:p>
            <a:pPr indent="0" marL="0">
              <a:spcAft>
                <a:spcPts val="400"/>
              </a:spcAft>
              <a:buNone/>
            </a:pPr>
            <a:r>
              <a:rPr lang="en-US" sz="1200" dirty="0">
                <a:solidFill>
                  <a:schemeClr val="accent6"/>
                </a:solidFill>
              </a:rPr>
              <a:t>Powerful brightening: fades acne marks &amp; pigmentation</a:t>
            </a:r>
            <a:endParaRPr lang="en-US" sz="1500" dirty="0"/>
          </a:p>
        </p:txBody>
      </p:sp>
      <p:sp>
        <p:nvSpPr>
          <p:cNvPr id="15" name="hub"/>
          <p:cNvSpPr/>
          <p:nvPr/>
        </p:nvSpPr>
        <p:spPr>
          <a:xfrm>
            <a:off x="5413248" y="2880360"/>
            <a:ext cx="1371600" cy="1371600"/>
          </a:xfrm>
          <a:prstGeom prst="ellipse">
            <a:avLst/>
          </a:prstGeom>
          <a:solidFill>
            <a:schemeClr val="tx2"/>
          </a:solidFill>
          <a:ln w="50800">
            <a:solidFill>
              <a:srgbClr val="FFFFFF"/>
            </a:solidFill>
            <a:prstDash val="solid"/>
          </a:ln>
        </p:spPr>
      </p:sp>
      <p:sp>
        <p:nvSpPr>
          <p:cNvPr id="16" name="Text 14"/>
          <p:cNvSpPr txBox="1"/>
          <p:nvPr/>
        </p:nvSpPr>
        <p:spPr>
          <a:xfrm>
            <a:off x="5413248" y="2880360"/>
            <a:ext cx="1371600" cy="1371600"/>
          </a:xfrm>
          <a:prstGeom prst="rect">
            <a:avLst/>
          </a:prstGeom>
          <a:noFill/>
          <a:ln/>
        </p:spPr>
        <p:txBody>
          <a:bodyPr wrap="square" lIns="0" tIns="0" rIns="0" bIns="0" rtlCol="0" anchor="ctr"/>
          <a:lstStyle/>
          <a:p>
            <a:pPr algn="ctr" indent="0" marL="0">
              <a:buNone/>
            </a:pPr>
            <a:r>
              <a:rPr lang="en-US" sz="1600" b="1" dirty="0">
                <a:solidFill>
                  <a:schemeClr val="bg1"/>
                </a:solidFill>
              </a:rPr>
              <a:t>XE‑LHA</a:t>
            </a:r>
            <a:endParaRPr lang="en-US" sz="1600" dirty="0"/>
          </a:p>
          <a:p>
            <a:pPr algn="ctr" indent="0" marL="0">
              <a:buNone/>
            </a:pPr>
            <a:r>
              <a:rPr lang="en-US" sz="1600" b="1" dirty="0">
                <a:solidFill>
                  <a:schemeClr val="bg1"/>
                </a:solidFill>
              </a:rPr>
              <a:t>Peel</a:t>
            </a:r>
            <a:endParaRPr lang="en-US" sz="1600" dirty="0"/>
          </a:p>
        </p:txBody>
      </p:sp>
      <p:sp>
        <p:nvSpPr>
          <p:cNvPr id="17" name="formula note"/>
          <p:cNvSpPr/>
          <p:nvPr/>
        </p:nvSpPr>
        <p:spPr>
          <a:xfrm>
            <a:off x="457200" y="5897880"/>
            <a:ext cx="11247120" cy="457200"/>
          </a:xfrm>
          <a:prstGeom prst="roundRect">
            <a:avLst>
              <a:gd name="adj" fmla="val 24000"/>
            </a:avLst>
          </a:prstGeom>
          <a:solidFill>
            <a:schemeClr val="accent5"/>
          </a:solidFill>
          <a:ln/>
        </p:spPr>
      </p:sp>
      <p:sp>
        <p:nvSpPr>
          <p:cNvPr id="18" name="Text 16"/>
          <p:cNvSpPr txBox="1"/>
          <p:nvPr/>
        </p:nvSpPr>
        <p:spPr>
          <a:xfrm>
            <a:off x="640080" y="5897880"/>
            <a:ext cx="10881360" cy="457200"/>
          </a:xfrm>
          <a:prstGeom prst="rect">
            <a:avLst/>
          </a:prstGeom>
          <a:noFill/>
          <a:ln/>
        </p:spPr>
        <p:txBody>
          <a:bodyPr wrap="square" lIns="0" tIns="0" rIns="0" bIns="0" rtlCol="0" anchor="ctr"/>
          <a:lstStyle/>
          <a:p>
            <a:pPr indent="0" marL="0">
              <a:buNone/>
            </a:pPr>
            <a:r>
              <a:rPr lang="en-US" sz="1400" b="1" dirty="0">
                <a:solidFill>
                  <a:schemeClr val="tx1"/>
                </a:solidFill>
              </a:rPr>
              <a:t>配方特点：焕肤 + 修护二合一，不是单纯剥脱角质   </a:t>
            </a:r>
            <a:pPr indent="0" marL="0">
              <a:buNone/>
            </a:pPr>
            <a:r>
              <a:rPr lang="en-US" sz="1400" dirty="0">
                <a:solidFill>
                  <a:srgbClr val="55665C"/>
                </a:solidFill>
              </a:rPr>
              <a:t>Exfoliation + barrier repair in one step — not just peeling</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LHA｜第4代低刺激焕肤成分</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Lipo Hydroxy Acid · 4th‑generation low‑irritation peeling ingredient</a:t>
            </a:r>
            <a:endParaRPr lang="en-US" sz="3000" dirty="0"/>
          </a:p>
        </p:txBody>
      </p:sp>
      <p:sp>
        <p:nvSpPr>
          <p:cNvPr id="3" name="lha row 1"/>
          <p:cNvSpPr/>
          <p:nvPr/>
        </p:nvSpPr>
        <p:spPr>
          <a:xfrm>
            <a:off x="457200" y="1417320"/>
            <a:ext cx="7406640" cy="621792"/>
          </a:xfrm>
          <a:prstGeom prst="roundRect">
            <a:avLst>
              <a:gd name="adj" fmla="val 17647"/>
            </a:avLst>
          </a:prstGeom>
          <a:solidFill>
            <a:schemeClr val="bg2"/>
          </a:solidFill>
          <a:ln/>
        </p:spPr>
      </p:sp>
      <p:sp>
        <p:nvSpPr>
          <p:cNvPr id="4" name="lha check 1 bg"/>
          <p:cNvSpPr/>
          <p:nvPr/>
        </p:nvSpPr>
        <p:spPr>
          <a:xfrm>
            <a:off x="594360" y="1508760"/>
            <a:ext cx="438912" cy="438912"/>
          </a:xfrm>
          <a:prstGeom prst="ellipse">
            <a:avLst/>
          </a:prstGeom>
          <a:solidFill>
            <a:schemeClr val="accent1"/>
          </a:solidFill>
          <a:ln/>
        </p:spPr>
      </p:sp>
      <p:pic>
        <p:nvPicPr>
          <p:cNvPr id="5" name="lha check 1" descr="lha check 1">    </p:cNvPr>
          <p:cNvPicPr>
            <a:picLocks noChangeAspect="1"/>
          </p:cNvPicPr>
          <p:nvPr/>
        </p:nvPicPr>
        <p:blipFill>
          <a:blip r:embed="rId1"/>
          <a:stretch>
            <a:fillRect/>
          </a:stretch>
        </p:blipFill>
        <p:spPr>
          <a:xfrm>
            <a:off x="708477" y="1622877"/>
            <a:ext cx="210678" cy="210678"/>
          </a:xfrm>
          <a:prstGeom prst="rect">
            <a:avLst/>
          </a:prstGeom>
        </p:spPr>
      </p:pic>
      <p:sp>
        <p:nvSpPr>
          <p:cNvPr id="6" name="Text 3"/>
          <p:cNvSpPr txBox="1"/>
          <p:nvPr/>
        </p:nvSpPr>
        <p:spPr>
          <a:xfrm>
            <a:off x="1234440" y="1417320"/>
            <a:ext cx="6492240" cy="621792"/>
          </a:xfrm>
          <a:prstGeom prst="rect">
            <a:avLst/>
          </a:prstGeom>
          <a:noFill/>
          <a:ln/>
        </p:spPr>
        <p:txBody>
          <a:bodyPr wrap="square" lIns="0" tIns="0" rIns="0" bIns="0" rtlCol="0" anchor="ctr"/>
          <a:lstStyle/>
          <a:p>
            <a:pPr indent="0" marL="0">
              <a:buNone/>
            </a:pPr>
            <a:r>
              <a:rPr lang="en-US" sz="1400" b="1" dirty="0">
                <a:solidFill>
                  <a:schemeClr val="tx1"/>
                </a:solidFill>
              </a:rPr>
              <a:t>欧莱雅 L'Oréal 研发的新型成分</a:t>
            </a:r>
            <a:endParaRPr lang="en-US" sz="1400" dirty="0"/>
          </a:p>
          <a:p>
            <a:pPr indent="0" marL="0">
              <a:buNone/>
            </a:pPr>
            <a:r>
              <a:rPr lang="en-US" sz="1200" dirty="0">
                <a:solidFill>
                  <a:schemeClr val="accent6"/>
                </a:solidFill>
              </a:rPr>
              <a:t>Novel ingredient developed by L'Oréal</a:t>
            </a:r>
            <a:endParaRPr lang="en-US" sz="1400" dirty="0"/>
          </a:p>
        </p:txBody>
      </p:sp>
      <p:sp>
        <p:nvSpPr>
          <p:cNvPr id="7" name="lha row 2"/>
          <p:cNvSpPr/>
          <p:nvPr/>
        </p:nvSpPr>
        <p:spPr>
          <a:xfrm>
            <a:off x="457200" y="2130552"/>
            <a:ext cx="7406640" cy="621792"/>
          </a:xfrm>
          <a:prstGeom prst="roundRect">
            <a:avLst>
              <a:gd name="adj" fmla="val 17647"/>
            </a:avLst>
          </a:prstGeom>
          <a:solidFill>
            <a:schemeClr val="bg2"/>
          </a:solidFill>
          <a:ln/>
        </p:spPr>
      </p:sp>
      <p:sp>
        <p:nvSpPr>
          <p:cNvPr id="8" name="lha check 2 bg"/>
          <p:cNvSpPr/>
          <p:nvPr/>
        </p:nvSpPr>
        <p:spPr>
          <a:xfrm>
            <a:off x="594360" y="2221992"/>
            <a:ext cx="438912" cy="438912"/>
          </a:xfrm>
          <a:prstGeom prst="ellipse">
            <a:avLst/>
          </a:prstGeom>
          <a:solidFill>
            <a:schemeClr val="accent1"/>
          </a:solidFill>
          <a:ln/>
        </p:spPr>
      </p:sp>
      <p:pic>
        <p:nvPicPr>
          <p:cNvPr id="9" name="lha check 2" descr="lha check 2">    </p:cNvPr>
          <p:cNvPicPr>
            <a:picLocks noChangeAspect="1"/>
          </p:cNvPicPr>
          <p:nvPr/>
        </p:nvPicPr>
        <p:blipFill>
          <a:blip r:embed="rId2"/>
          <a:stretch>
            <a:fillRect/>
          </a:stretch>
        </p:blipFill>
        <p:spPr>
          <a:xfrm>
            <a:off x="708477" y="2336109"/>
            <a:ext cx="210678" cy="210678"/>
          </a:xfrm>
          <a:prstGeom prst="rect">
            <a:avLst/>
          </a:prstGeom>
        </p:spPr>
      </p:pic>
      <p:sp>
        <p:nvSpPr>
          <p:cNvPr id="10" name="Text 6"/>
          <p:cNvSpPr txBox="1"/>
          <p:nvPr/>
        </p:nvSpPr>
        <p:spPr>
          <a:xfrm>
            <a:off x="1234440" y="2130552"/>
            <a:ext cx="6492240" cy="621792"/>
          </a:xfrm>
          <a:prstGeom prst="rect">
            <a:avLst/>
          </a:prstGeom>
          <a:noFill/>
          <a:ln/>
        </p:spPr>
        <p:txBody>
          <a:bodyPr wrap="square" lIns="0" tIns="0" rIns="0" bIns="0" rtlCol="0" anchor="ctr"/>
          <a:lstStyle/>
          <a:p>
            <a:pPr indent="0" marL="0">
              <a:buNone/>
            </a:pPr>
            <a:r>
              <a:rPr lang="en-US" sz="1400" b="1" dirty="0">
                <a:solidFill>
                  <a:schemeClr val="tx1"/>
                </a:solidFill>
              </a:rPr>
              <a:t>水杨酸（BHA）衍生物，8碳脂肪酸链</a:t>
            </a:r>
            <a:endParaRPr lang="en-US" sz="1400" dirty="0"/>
          </a:p>
          <a:p>
            <a:pPr indent="0" marL="0">
              <a:buNone/>
            </a:pPr>
            <a:r>
              <a:rPr lang="en-US" sz="1200" dirty="0">
                <a:solidFill>
                  <a:schemeClr val="accent6"/>
                </a:solidFill>
              </a:rPr>
              <a:t>BHA derivative with an 8‑carbon fatty‑acid chain</a:t>
            </a:r>
            <a:endParaRPr lang="en-US" sz="1400" dirty="0"/>
          </a:p>
        </p:txBody>
      </p:sp>
      <p:sp>
        <p:nvSpPr>
          <p:cNvPr id="11" name="lha row 3"/>
          <p:cNvSpPr/>
          <p:nvPr/>
        </p:nvSpPr>
        <p:spPr>
          <a:xfrm>
            <a:off x="457200" y="2843784"/>
            <a:ext cx="7406640" cy="621792"/>
          </a:xfrm>
          <a:prstGeom prst="roundRect">
            <a:avLst>
              <a:gd name="adj" fmla="val 17647"/>
            </a:avLst>
          </a:prstGeom>
          <a:solidFill>
            <a:schemeClr val="bg2"/>
          </a:solidFill>
          <a:ln/>
        </p:spPr>
      </p:sp>
      <p:sp>
        <p:nvSpPr>
          <p:cNvPr id="12" name="lha check 3 bg"/>
          <p:cNvSpPr/>
          <p:nvPr/>
        </p:nvSpPr>
        <p:spPr>
          <a:xfrm>
            <a:off x="594360" y="2935224"/>
            <a:ext cx="438912" cy="438912"/>
          </a:xfrm>
          <a:prstGeom prst="ellipse">
            <a:avLst/>
          </a:prstGeom>
          <a:solidFill>
            <a:schemeClr val="accent1"/>
          </a:solidFill>
          <a:ln/>
        </p:spPr>
      </p:sp>
      <p:pic>
        <p:nvPicPr>
          <p:cNvPr id="13" name="lha check 3" descr="lha check 3">    </p:cNvPr>
          <p:cNvPicPr>
            <a:picLocks noChangeAspect="1"/>
          </p:cNvPicPr>
          <p:nvPr/>
        </p:nvPicPr>
        <p:blipFill>
          <a:blip r:embed="rId3"/>
          <a:stretch>
            <a:fillRect/>
          </a:stretch>
        </p:blipFill>
        <p:spPr>
          <a:xfrm>
            <a:off x="708477" y="3049341"/>
            <a:ext cx="210678" cy="210678"/>
          </a:xfrm>
          <a:prstGeom prst="rect">
            <a:avLst/>
          </a:prstGeom>
        </p:spPr>
      </p:pic>
      <p:sp>
        <p:nvSpPr>
          <p:cNvPr id="14" name="Text 9"/>
          <p:cNvSpPr txBox="1"/>
          <p:nvPr/>
        </p:nvSpPr>
        <p:spPr>
          <a:xfrm>
            <a:off x="1234440" y="2843784"/>
            <a:ext cx="6492240" cy="621792"/>
          </a:xfrm>
          <a:prstGeom prst="rect">
            <a:avLst/>
          </a:prstGeom>
          <a:noFill/>
          <a:ln/>
        </p:spPr>
        <p:txBody>
          <a:bodyPr wrap="square" lIns="0" tIns="0" rIns="0" bIns="0" rtlCol="0" anchor="ctr"/>
          <a:lstStyle/>
          <a:p>
            <a:pPr indent="0" marL="0">
              <a:buNone/>
            </a:pPr>
            <a:r>
              <a:rPr lang="en-US" sz="1400" b="1" dirty="0">
                <a:solidFill>
                  <a:schemeClr val="tx1"/>
                </a:solidFill>
              </a:rPr>
              <a:t>亲脂性，pH 5.5 下对肌肤友好</a:t>
            </a:r>
            <a:endParaRPr lang="en-US" sz="1400" dirty="0"/>
          </a:p>
          <a:p>
            <a:pPr indent="0" marL="0">
              <a:buNone/>
            </a:pPr>
            <a:r>
              <a:rPr lang="en-US" sz="1200" dirty="0">
                <a:solidFill>
                  <a:schemeClr val="accent6"/>
                </a:solidFill>
              </a:rPr>
              <a:t>Lipophilic and skin‑friendly at pH 5.5</a:t>
            </a:r>
            <a:endParaRPr lang="en-US" sz="1400" dirty="0"/>
          </a:p>
        </p:txBody>
      </p:sp>
      <p:sp>
        <p:nvSpPr>
          <p:cNvPr id="15" name="lha row 4"/>
          <p:cNvSpPr/>
          <p:nvPr/>
        </p:nvSpPr>
        <p:spPr>
          <a:xfrm>
            <a:off x="457200" y="3557016"/>
            <a:ext cx="7406640" cy="621792"/>
          </a:xfrm>
          <a:prstGeom prst="roundRect">
            <a:avLst>
              <a:gd name="adj" fmla="val 17647"/>
            </a:avLst>
          </a:prstGeom>
          <a:solidFill>
            <a:schemeClr val="bg2"/>
          </a:solidFill>
          <a:ln/>
        </p:spPr>
      </p:sp>
      <p:sp>
        <p:nvSpPr>
          <p:cNvPr id="16" name="lha check 4 bg"/>
          <p:cNvSpPr/>
          <p:nvPr/>
        </p:nvSpPr>
        <p:spPr>
          <a:xfrm>
            <a:off x="594360" y="3648456"/>
            <a:ext cx="438912" cy="438912"/>
          </a:xfrm>
          <a:prstGeom prst="ellipse">
            <a:avLst/>
          </a:prstGeom>
          <a:solidFill>
            <a:schemeClr val="accent1"/>
          </a:solidFill>
          <a:ln/>
        </p:spPr>
      </p:sp>
      <p:pic>
        <p:nvPicPr>
          <p:cNvPr id="17" name="lha check 4" descr="lha check 4">    </p:cNvPr>
          <p:cNvPicPr>
            <a:picLocks noChangeAspect="1"/>
          </p:cNvPicPr>
          <p:nvPr/>
        </p:nvPicPr>
        <p:blipFill>
          <a:blip r:embed="rId4"/>
          <a:stretch>
            <a:fillRect/>
          </a:stretch>
        </p:blipFill>
        <p:spPr>
          <a:xfrm>
            <a:off x="708477" y="3762573"/>
            <a:ext cx="210678" cy="210678"/>
          </a:xfrm>
          <a:prstGeom prst="rect">
            <a:avLst/>
          </a:prstGeom>
        </p:spPr>
      </p:pic>
      <p:sp>
        <p:nvSpPr>
          <p:cNvPr id="18" name="Text 12"/>
          <p:cNvSpPr txBox="1"/>
          <p:nvPr/>
        </p:nvSpPr>
        <p:spPr>
          <a:xfrm>
            <a:off x="1234440" y="3557016"/>
            <a:ext cx="6492240" cy="621792"/>
          </a:xfrm>
          <a:prstGeom prst="rect">
            <a:avLst/>
          </a:prstGeom>
          <a:noFill/>
          <a:ln/>
        </p:spPr>
        <p:txBody>
          <a:bodyPr wrap="square" lIns="0" tIns="0" rIns="0" bIns="0" rtlCol="0" anchor="ctr"/>
          <a:lstStyle/>
          <a:p>
            <a:pPr indent="0" marL="0">
              <a:buNone/>
            </a:pPr>
            <a:r>
              <a:rPr lang="en-US" sz="1400" b="1" dirty="0">
                <a:solidFill>
                  <a:schemeClr val="tx1"/>
                </a:solidFill>
              </a:rPr>
              <a:t>温和、低刺激的角质剥脱</a:t>
            </a:r>
            <a:endParaRPr lang="en-US" sz="1400" dirty="0"/>
          </a:p>
          <a:p>
            <a:pPr indent="0" marL="0">
              <a:buNone/>
            </a:pPr>
            <a:r>
              <a:rPr lang="en-US" sz="1200" dirty="0">
                <a:solidFill>
                  <a:schemeClr val="accent6"/>
                </a:solidFill>
              </a:rPr>
              <a:t>Gentle, low‑irritation exfoliation</a:t>
            </a:r>
            <a:endParaRPr lang="en-US" sz="1400" dirty="0"/>
          </a:p>
        </p:txBody>
      </p:sp>
      <p:sp>
        <p:nvSpPr>
          <p:cNvPr id="19" name="lha row 5"/>
          <p:cNvSpPr/>
          <p:nvPr/>
        </p:nvSpPr>
        <p:spPr>
          <a:xfrm>
            <a:off x="457200" y="4270248"/>
            <a:ext cx="7406640" cy="621792"/>
          </a:xfrm>
          <a:prstGeom prst="roundRect">
            <a:avLst>
              <a:gd name="adj" fmla="val 17647"/>
            </a:avLst>
          </a:prstGeom>
          <a:solidFill>
            <a:schemeClr val="bg2"/>
          </a:solidFill>
          <a:ln/>
        </p:spPr>
      </p:sp>
      <p:sp>
        <p:nvSpPr>
          <p:cNvPr id="20" name="lha check 5 bg"/>
          <p:cNvSpPr/>
          <p:nvPr/>
        </p:nvSpPr>
        <p:spPr>
          <a:xfrm>
            <a:off x="594360" y="4361688"/>
            <a:ext cx="438912" cy="438912"/>
          </a:xfrm>
          <a:prstGeom prst="ellipse">
            <a:avLst/>
          </a:prstGeom>
          <a:solidFill>
            <a:schemeClr val="accent1"/>
          </a:solidFill>
          <a:ln/>
        </p:spPr>
      </p:sp>
      <p:pic>
        <p:nvPicPr>
          <p:cNvPr id="21" name="lha check 5" descr="lha check 5">    </p:cNvPr>
          <p:cNvPicPr>
            <a:picLocks noChangeAspect="1"/>
          </p:cNvPicPr>
          <p:nvPr/>
        </p:nvPicPr>
        <p:blipFill>
          <a:blip r:embed="rId5"/>
          <a:stretch>
            <a:fillRect/>
          </a:stretch>
        </p:blipFill>
        <p:spPr>
          <a:xfrm>
            <a:off x="708477" y="4475805"/>
            <a:ext cx="210678" cy="210678"/>
          </a:xfrm>
          <a:prstGeom prst="rect">
            <a:avLst/>
          </a:prstGeom>
        </p:spPr>
      </p:pic>
      <p:sp>
        <p:nvSpPr>
          <p:cNvPr id="22" name="Text 15"/>
          <p:cNvSpPr txBox="1"/>
          <p:nvPr/>
        </p:nvSpPr>
        <p:spPr>
          <a:xfrm>
            <a:off x="1234440" y="4270248"/>
            <a:ext cx="6492240" cy="621792"/>
          </a:xfrm>
          <a:prstGeom prst="rect">
            <a:avLst/>
          </a:prstGeom>
          <a:noFill/>
          <a:ln/>
        </p:spPr>
        <p:txBody>
          <a:bodyPr wrap="square" lIns="0" tIns="0" rIns="0" bIns="0" rtlCol="0" anchor="ctr"/>
          <a:lstStyle/>
          <a:p>
            <a:pPr indent="0" marL="0">
              <a:buNone/>
            </a:pPr>
            <a:r>
              <a:rPr lang="en-US" sz="1400" b="1" dirty="0">
                <a:solidFill>
                  <a:schemeClr val="tx1"/>
                </a:solidFill>
              </a:rPr>
              <a:t>促进毛孔角质更新</a:t>
            </a:r>
            <a:endParaRPr lang="en-US" sz="1400" dirty="0"/>
          </a:p>
          <a:p>
            <a:pPr indent="0" marL="0">
              <a:buNone/>
            </a:pPr>
            <a:r>
              <a:rPr lang="en-US" sz="1200" dirty="0">
                <a:solidFill>
                  <a:schemeClr val="accent6"/>
                </a:solidFill>
              </a:rPr>
              <a:t>Promotes pore keratin renewal</a:t>
            </a:r>
            <a:endParaRPr lang="en-US" sz="1400" dirty="0"/>
          </a:p>
        </p:txBody>
      </p:sp>
      <p:sp>
        <p:nvSpPr>
          <p:cNvPr id="23" name="lha diagram frame"/>
          <p:cNvSpPr/>
          <p:nvPr/>
        </p:nvSpPr>
        <p:spPr>
          <a:xfrm>
            <a:off x="8138160" y="1417320"/>
            <a:ext cx="3566160" cy="3429000"/>
          </a:xfrm>
          <a:prstGeom prst="roundRect">
            <a:avLst>
              <a:gd name="adj" fmla="val 2667"/>
            </a:avLst>
          </a:prstGeom>
          <a:solidFill>
            <a:srgbClr val="FFFFFF"/>
          </a:solidFill>
          <a:ln w="12700">
            <a:solidFill>
              <a:schemeClr val="accent4"/>
            </a:solidFill>
            <a:prstDash val="solid"/>
          </a:ln>
        </p:spPr>
      </p:sp>
      <p:pic>
        <p:nvPicPr>
          <p:cNvPr id="24" name="LHA loosens cell adhesion proteins diagram" descr="LHA loosens cell adhesion proteins diagram">    </p:cNvPr>
          <p:cNvPicPr>
            <a:picLocks noChangeAspect="1"/>
          </p:cNvPicPr>
          <p:nvPr/>
        </p:nvPicPr>
        <p:blipFill>
          <a:blip r:embed="rId6"/>
          <a:stretch>
            <a:fillRect/>
          </a:stretch>
        </p:blipFill>
        <p:spPr>
          <a:xfrm>
            <a:off x="8378335" y="1481328"/>
            <a:ext cx="3085811" cy="2834640"/>
          </a:xfrm>
          <a:prstGeom prst="rect">
            <a:avLst/>
          </a:prstGeom>
        </p:spPr>
      </p:pic>
      <p:sp>
        <p:nvSpPr>
          <p:cNvPr id="25" name="Text 17"/>
          <p:cNvSpPr txBox="1"/>
          <p:nvPr/>
        </p:nvSpPr>
        <p:spPr>
          <a:xfrm>
            <a:off x="8138160" y="4434840"/>
            <a:ext cx="3566160" cy="320040"/>
          </a:xfrm>
          <a:prstGeom prst="rect">
            <a:avLst/>
          </a:prstGeom>
          <a:noFill/>
          <a:ln/>
        </p:spPr>
        <p:txBody>
          <a:bodyPr wrap="square" lIns="0" tIns="0" rIns="0" bIns="0" rtlCol="0" anchor="t"/>
          <a:lstStyle/>
          <a:p>
            <a:pPr algn="ctr" indent="0" marL="0">
              <a:spcAft>
                <a:spcPts val="300"/>
              </a:spcAft>
              <a:buNone/>
            </a:pPr>
            <a:r>
              <a:rPr lang="en-US" sz="1100" dirty="0">
                <a:solidFill>
                  <a:schemeClr val="accent6"/>
                </a:solidFill>
              </a:rPr>
              <a:t>LHA 松解角质细胞粘连 · loosens cell adhesion</a:t>
            </a:r>
            <a:endParaRPr lang="en-US" sz="1100" dirty="0"/>
          </a:p>
        </p:txBody>
      </p:sp>
      <p:sp>
        <p:nvSpPr>
          <p:cNvPr id="26" name="Text 18"/>
          <p:cNvSpPr txBox="1"/>
          <p:nvPr/>
        </p:nvSpPr>
        <p:spPr>
          <a:xfrm>
            <a:off x="457200" y="5029200"/>
            <a:ext cx="7315200" cy="320040"/>
          </a:xfrm>
          <a:prstGeom prst="rect">
            <a:avLst/>
          </a:prstGeom>
          <a:noFill/>
          <a:ln/>
        </p:spPr>
        <p:txBody>
          <a:bodyPr wrap="square" lIns="0" tIns="0" rIns="0" bIns="0" rtlCol="0" anchor="t"/>
          <a:lstStyle/>
          <a:p>
            <a:pPr indent="0" marL="0">
              <a:spcAft>
                <a:spcPts val="300"/>
              </a:spcAft>
              <a:buNone/>
            </a:pPr>
            <a:r>
              <a:rPr lang="en-US" sz="1600" b="1" dirty="0">
                <a:solidFill>
                  <a:schemeClr val="tx2"/>
                </a:solidFill>
              </a:rPr>
              <a:t>焕肤酸的演进  Evolution of peeling acids</a:t>
            </a:r>
            <a:endParaRPr lang="en-US" sz="1600" dirty="0"/>
          </a:p>
        </p:txBody>
      </p:sp>
      <p:sp>
        <p:nvSpPr>
          <p:cNvPr id="27" name="Text 19"/>
          <p:cNvSpPr txBox="1"/>
          <p:nvPr/>
        </p:nvSpPr>
        <p:spPr>
          <a:xfrm>
            <a:off x="4754880" y="5029200"/>
            <a:ext cx="6949440" cy="365760"/>
          </a:xfrm>
          <a:prstGeom prst="rect">
            <a:avLst/>
          </a:prstGeom>
          <a:noFill/>
          <a:ln/>
        </p:spPr>
        <p:txBody>
          <a:bodyPr wrap="square" lIns="0" tIns="0" rIns="0" bIns="0" rtlCol="0" anchor="ctr"/>
          <a:lstStyle/>
          <a:p>
            <a:pPr algn="r" indent="0" marL="0">
              <a:spcAft>
                <a:spcPts val="300"/>
              </a:spcAft>
              <a:buNone/>
            </a:pPr>
            <a:r>
              <a:rPr lang="en-US" sz="1100" dirty="0">
                <a:solidFill>
                  <a:schemeClr val="accent6"/>
                </a:solidFill>
              </a:rPr>
              <a:t>品牌定位；实际刺激程度取决于浓度、pH 与配方 · Brand positioning — actual irritation depends on strength, pH &amp; formula</a:t>
            </a:r>
            <a:endParaRPr lang="en-US" sz="1100" dirty="0"/>
          </a:p>
        </p:txBody>
      </p:sp>
      <p:sp>
        <p:nvSpPr>
          <p:cNvPr id="28" name="gen AHA"/>
          <p:cNvSpPr txBox="1"/>
          <p:nvPr/>
        </p:nvSpPr>
        <p:spPr>
          <a:xfrm>
            <a:off x="457200" y="5440680"/>
            <a:ext cx="2468880" cy="685800"/>
          </a:xfrm>
          <a:prstGeom prst="roundRect">
            <a:avLst>
              <a:gd name="adj" fmla="val 49333"/>
            </a:avLst>
          </a:prstGeom>
          <a:solidFill>
            <a:schemeClr val="bg2"/>
          </a:solidFill>
          <a:ln/>
        </p:spPr>
        <p:txBody>
          <a:bodyPr wrap="square" lIns="0" tIns="0" rIns="0" bIns="0" rtlCol="0" anchor="ctr"/>
          <a:lstStyle/>
          <a:p>
            <a:pPr algn="ctr" indent="0" marL="0">
              <a:buNone/>
            </a:pPr>
            <a:r>
              <a:rPr lang="en-US" sz="1200" dirty="0">
                <a:solidFill>
                  <a:schemeClr val="tx1"/>
                </a:solidFill>
              </a:rPr>
              <a:t>1st Gen  </a:t>
            </a:r>
            <a:pPr algn="ctr" indent="0" marL="0">
              <a:buNone/>
            </a:pPr>
            <a:r>
              <a:rPr lang="en-US" sz="2000" b="1" dirty="0">
                <a:solidFill>
                  <a:schemeClr val="tx1"/>
                </a:solidFill>
              </a:rPr>
              <a:t>AHA</a:t>
            </a:r>
            <a:pPr algn="ctr" indent="0" marL="0">
              <a:buNone/>
            </a:pPr>
            <a:r>
              <a:rPr lang="en-US" sz="1200" dirty="0">
                <a:solidFill>
                  <a:schemeClr val="tx1"/>
                </a:solidFill>
              </a:rPr>
              <a:t>  果酸</a:t>
            </a:r>
            <a:endParaRPr lang="en-US" sz="1200" dirty="0"/>
          </a:p>
        </p:txBody>
      </p:sp>
      <p:sp>
        <p:nvSpPr>
          <p:cNvPr id="29" name="gen arrow 1"/>
          <p:cNvSpPr/>
          <p:nvPr/>
        </p:nvSpPr>
        <p:spPr>
          <a:xfrm>
            <a:off x="2971800" y="5669280"/>
            <a:ext cx="274320" cy="228600"/>
          </a:xfrm>
          <a:prstGeom prst="rightArrow">
            <a:avLst/>
          </a:prstGeom>
          <a:solidFill>
            <a:schemeClr val="accent4"/>
          </a:solidFill>
          <a:ln/>
        </p:spPr>
      </p:sp>
      <p:sp>
        <p:nvSpPr>
          <p:cNvPr id="30" name="gen BHA"/>
          <p:cNvSpPr txBox="1"/>
          <p:nvPr/>
        </p:nvSpPr>
        <p:spPr>
          <a:xfrm>
            <a:off x="3291840" y="5440680"/>
            <a:ext cx="2468880" cy="685800"/>
          </a:xfrm>
          <a:prstGeom prst="roundRect">
            <a:avLst>
              <a:gd name="adj" fmla="val 49333"/>
            </a:avLst>
          </a:prstGeom>
          <a:solidFill>
            <a:schemeClr val="bg2"/>
          </a:solidFill>
          <a:ln/>
        </p:spPr>
        <p:txBody>
          <a:bodyPr wrap="square" lIns="0" tIns="0" rIns="0" bIns="0" rtlCol="0" anchor="ctr"/>
          <a:lstStyle/>
          <a:p>
            <a:pPr algn="ctr" indent="0" marL="0">
              <a:buNone/>
            </a:pPr>
            <a:r>
              <a:rPr lang="en-US" sz="1200" dirty="0">
                <a:solidFill>
                  <a:schemeClr val="tx1"/>
                </a:solidFill>
              </a:rPr>
              <a:t>2nd Gen  </a:t>
            </a:r>
            <a:pPr algn="ctr" indent="0" marL="0">
              <a:buNone/>
            </a:pPr>
            <a:r>
              <a:rPr lang="en-US" sz="2000" b="1" dirty="0">
                <a:solidFill>
                  <a:schemeClr val="tx1"/>
                </a:solidFill>
              </a:rPr>
              <a:t>BHA</a:t>
            </a:r>
            <a:pPr algn="ctr" indent="0" marL="0">
              <a:buNone/>
            </a:pPr>
            <a:r>
              <a:rPr lang="en-US" sz="1200" dirty="0">
                <a:solidFill>
                  <a:schemeClr val="tx1"/>
                </a:solidFill>
              </a:rPr>
              <a:t>  水杨酸</a:t>
            </a:r>
            <a:endParaRPr lang="en-US" sz="1200" dirty="0"/>
          </a:p>
        </p:txBody>
      </p:sp>
      <p:sp>
        <p:nvSpPr>
          <p:cNvPr id="31" name="gen arrow 2"/>
          <p:cNvSpPr/>
          <p:nvPr/>
        </p:nvSpPr>
        <p:spPr>
          <a:xfrm>
            <a:off x="5806440" y="5669280"/>
            <a:ext cx="274320" cy="228600"/>
          </a:xfrm>
          <a:prstGeom prst="rightArrow">
            <a:avLst/>
          </a:prstGeom>
          <a:solidFill>
            <a:schemeClr val="accent4"/>
          </a:solidFill>
          <a:ln/>
        </p:spPr>
      </p:sp>
      <p:sp>
        <p:nvSpPr>
          <p:cNvPr id="32" name="gen PHA"/>
          <p:cNvSpPr txBox="1"/>
          <p:nvPr/>
        </p:nvSpPr>
        <p:spPr>
          <a:xfrm>
            <a:off x="6126480" y="5440680"/>
            <a:ext cx="2468880" cy="685800"/>
          </a:xfrm>
          <a:prstGeom prst="roundRect">
            <a:avLst>
              <a:gd name="adj" fmla="val 49333"/>
            </a:avLst>
          </a:prstGeom>
          <a:solidFill>
            <a:schemeClr val="bg2"/>
          </a:solidFill>
          <a:ln/>
        </p:spPr>
        <p:txBody>
          <a:bodyPr wrap="square" lIns="0" tIns="0" rIns="0" bIns="0" rtlCol="0" anchor="ctr"/>
          <a:lstStyle/>
          <a:p>
            <a:pPr algn="ctr" indent="0" marL="0">
              <a:buNone/>
            </a:pPr>
            <a:r>
              <a:rPr lang="en-US" sz="1200" dirty="0">
                <a:solidFill>
                  <a:schemeClr val="tx1"/>
                </a:solidFill>
              </a:rPr>
              <a:t>3rd Gen  </a:t>
            </a:r>
            <a:pPr algn="ctr" indent="0" marL="0">
              <a:buNone/>
            </a:pPr>
            <a:r>
              <a:rPr lang="en-US" sz="2000" b="1" dirty="0">
                <a:solidFill>
                  <a:schemeClr val="tx1"/>
                </a:solidFill>
              </a:rPr>
              <a:t>PHA</a:t>
            </a:r>
            <a:pPr algn="ctr" indent="0" marL="0">
              <a:buNone/>
            </a:pPr>
            <a:r>
              <a:rPr lang="en-US" sz="1200" dirty="0">
                <a:solidFill>
                  <a:schemeClr val="tx1"/>
                </a:solidFill>
              </a:rPr>
              <a:t>  葡糖酸内酯</a:t>
            </a:r>
            <a:endParaRPr lang="en-US" sz="1200" dirty="0"/>
          </a:p>
        </p:txBody>
      </p:sp>
      <p:sp>
        <p:nvSpPr>
          <p:cNvPr id="33" name="gen arrow 3"/>
          <p:cNvSpPr/>
          <p:nvPr/>
        </p:nvSpPr>
        <p:spPr>
          <a:xfrm>
            <a:off x="8641080" y="5669280"/>
            <a:ext cx="274320" cy="228600"/>
          </a:xfrm>
          <a:prstGeom prst="rightArrow">
            <a:avLst/>
          </a:prstGeom>
          <a:solidFill>
            <a:schemeClr val="accent4"/>
          </a:solidFill>
          <a:ln/>
        </p:spPr>
      </p:sp>
      <p:sp>
        <p:nvSpPr>
          <p:cNvPr id="34" name="gen LHA"/>
          <p:cNvSpPr txBox="1"/>
          <p:nvPr/>
        </p:nvSpPr>
        <p:spPr>
          <a:xfrm>
            <a:off x="8961120" y="5440680"/>
            <a:ext cx="2468880" cy="685800"/>
          </a:xfrm>
          <a:prstGeom prst="roundRect">
            <a:avLst>
              <a:gd name="adj" fmla="val 49333"/>
            </a:avLst>
          </a:prstGeom>
          <a:solidFill>
            <a:schemeClr val="accent1"/>
          </a:solidFill>
          <a:ln/>
        </p:spPr>
        <p:txBody>
          <a:bodyPr wrap="square" lIns="0" tIns="0" rIns="0" bIns="0" rtlCol="0" anchor="ctr"/>
          <a:lstStyle/>
          <a:p>
            <a:pPr algn="ctr" indent="0" marL="0">
              <a:buNone/>
            </a:pPr>
            <a:r>
              <a:rPr lang="en-US" sz="1200" dirty="0">
                <a:solidFill>
                  <a:schemeClr val="bg1"/>
                </a:solidFill>
              </a:rPr>
              <a:t>4th Gen  </a:t>
            </a:r>
            <a:pPr algn="ctr" indent="0" marL="0">
              <a:buNone/>
            </a:pPr>
            <a:r>
              <a:rPr lang="en-US" sz="2000" b="1" dirty="0">
                <a:solidFill>
                  <a:schemeClr val="bg1"/>
                </a:solidFill>
              </a:rPr>
              <a:t>LHA</a:t>
            </a:r>
            <a:pPr algn="ctr" indent="0" marL="0">
              <a:buNone/>
            </a:pPr>
            <a:r>
              <a:rPr lang="en-US" sz="1200" dirty="0">
                <a:solidFill>
                  <a:schemeClr val="bg1"/>
                </a:solidFill>
              </a:rPr>
              <a:t>  XE‑LHA</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作用原理</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Working Principle</a:t>
            </a:r>
            <a:endParaRPr lang="en-US" sz="3000" dirty="0"/>
          </a:p>
        </p:txBody>
      </p:sp>
      <p:sp>
        <p:nvSpPr>
          <p:cNvPr id="3" name="layer stratum corneum"/>
          <p:cNvSpPr/>
          <p:nvPr/>
        </p:nvSpPr>
        <p:spPr>
          <a:xfrm>
            <a:off x="457200" y="1417320"/>
            <a:ext cx="4389120" cy="685800"/>
          </a:xfrm>
          <a:prstGeom prst="rect">
            <a:avLst/>
          </a:prstGeom>
          <a:solidFill>
            <a:srgbClr val="D8B98C"/>
          </a:solidFill>
          <a:ln/>
        </p:spPr>
      </p:sp>
      <p:sp>
        <p:nvSpPr>
          <p:cNvPr id="4" name="layer epidermis"/>
          <p:cNvSpPr/>
          <p:nvPr/>
        </p:nvSpPr>
        <p:spPr>
          <a:xfrm>
            <a:off x="457200" y="2103120"/>
            <a:ext cx="4389120" cy="1188720"/>
          </a:xfrm>
          <a:prstGeom prst="rect">
            <a:avLst/>
          </a:prstGeom>
          <a:solidFill>
            <a:srgbClr val="F2C4A8"/>
          </a:solidFill>
          <a:ln/>
        </p:spPr>
      </p:sp>
      <p:sp>
        <p:nvSpPr>
          <p:cNvPr id="5" name="layer dermis"/>
          <p:cNvSpPr/>
          <p:nvPr/>
        </p:nvSpPr>
        <p:spPr>
          <a:xfrm>
            <a:off x="457200" y="3291840"/>
            <a:ext cx="4389120" cy="1874520"/>
          </a:xfrm>
          <a:prstGeom prst="rect">
            <a:avLst/>
          </a:prstGeom>
          <a:solidFill>
            <a:srgbClr val="E69D8E"/>
          </a:solidFill>
          <a:ln/>
        </p:spPr>
      </p:sp>
      <p:sp>
        <p:nvSpPr>
          <p:cNvPr id="6" name="pore"/>
          <p:cNvSpPr/>
          <p:nvPr/>
        </p:nvSpPr>
        <p:spPr>
          <a:xfrm>
            <a:off x="3611880" y="1417320"/>
            <a:ext cx="502920" cy="2194560"/>
          </a:xfrm>
          <a:prstGeom prst="roundRect">
            <a:avLst>
              <a:gd name="adj" fmla="val 36364"/>
            </a:avLst>
          </a:prstGeom>
          <a:solidFill>
            <a:srgbClr val="FFF1B8"/>
          </a:solidFill>
          <a:ln w="19050">
            <a:solidFill>
              <a:schemeClr val="accent2"/>
            </a:solidFill>
            <a:prstDash val="solid"/>
          </a:ln>
        </p:spPr>
      </p:sp>
      <p:sp>
        <p:nvSpPr>
          <p:cNvPr id="7" name="sebum 0"/>
          <p:cNvSpPr/>
          <p:nvPr/>
        </p:nvSpPr>
        <p:spPr>
          <a:xfrm>
            <a:off x="3749040" y="1828800"/>
            <a:ext cx="201168" cy="201168"/>
          </a:xfrm>
          <a:prstGeom prst="ellipse">
            <a:avLst/>
          </a:prstGeom>
          <a:solidFill>
            <a:schemeClr val="accent2"/>
          </a:solidFill>
          <a:ln/>
        </p:spPr>
      </p:sp>
      <p:sp>
        <p:nvSpPr>
          <p:cNvPr id="8" name="sebum 1"/>
          <p:cNvSpPr/>
          <p:nvPr/>
        </p:nvSpPr>
        <p:spPr>
          <a:xfrm>
            <a:off x="3840480" y="2377440"/>
            <a:ext cx="201168" cy="201168"/>
          </a:xfrm>
          <a:prstGeom prst="ellipse">
            <a:avLst/>
          </a:prstGeom>
          <a:solidFill>
            <a:schemeClr val="accent2"/>
          </a:solidFill>
          <a:ln/>
        </p:spPr>
      </p:sp>
      <p:sp>
        <p:nvSpPr>
          <p:cNvPr id="9" name="sebum 2"/>
          <p:cNvSpPr/>
          <p:nvPr/>
        </p:nvSpPr>
        <p:spPr>
          <a:xfrm>
            <a:off x="3730752" y="2926080"/>
            <a:ext cx="201168" cy="201168"/>
          </a:xfrm>
          <a:prstGeom prst="ellipse">
            <a:avLst/>
          </a:prstGeom>
          <a:solidFill>
            <a:schemeClr val="accent2"/>
          </a:solidFill>
          <a:ln/>
        </p:spPr>
      </p:sp>
      <p:sp>
        <p:nvSpPr>
          <p:cNvPr id="10" name="Text 8"/>
          <p:cNvSpPr txBox="1"/>
          <p:nvPr/>
        </p:nvSpPr>
        <p:spPr>
          <a:xfrm>
            <a:off x="594360" y="1508760"/>
            <a:ext cx="3017520" cy="548640"/>
          </a:xfrm>
          <a:prstGeom prst="rect">
            <a:avLst/>
          </a:prstGeom>
          <a:noFill/>
          <a:ln/>
        </p:spPr>
        <p:txBody>
          <a:bodyPr wrap="square" lIns="0" tIns="0" rIns="0" bIns="0" rtlCol="0" anchor="t"/>
          <a:lstStyle/>
          <a:p>
            <a:pPr indent="0" marL="0">
              <a:buNone/>
            </a:pPr>
            <a:r>
              <a:rPr lang="en-US" sz="1300" b="1" dirty="0">
                <a:solidFill>
                  <a:srgbClr val="3B2A14"/>
                </a:solidFill>
              </a:rPr>
              <a:t>角质层 Stratum corneum</a:t>
            </a:r>
            <a:endParaRPr lang="en-US" sz="1300" dirty="0"/>
          </a:p>
          <a:p>
            <a:pPr indent="0" marL="0">
              <a:buNone/>
            </a:pPr>
            <a:r>
              <a:rPr lang="en-US" sz="1100" dirty="0">
                <a:solidFill>
                  <a:srgbClr val="3B2A14"/>
                </a:solidFill>
              </a:rPr>
              <a:t>老废角质 · dead keratin (LHA 软化)</a:t>
            </a:r>
            <a:endParaRPr lang="en-US" sz="1300" dirty="0"/>
          </a:p>
        </p:txBody>
      </p:sp>
      <p:sp>
        <p:nvSpPr>
          <p:cNvPr id="11" name="Text 9"/>
          <p:cNvSpPr txBox="1"/>
          <p:nvPr/>
        </p:nvSpPr>
        <p:spPr>
          <a:xfrm>
            <a:off x="594360" y="2286000"/>
            <a:ext cx="3017520" cy="640080"/>
          </a:xfrm>
          <a:prstGeom prst="rect">
            <a:avLst/>
          </a:prstGeom>
          <a:noFill/>
          <a:ln/>
        </p:spPr>
        <p:txBody>
          <a:bodyPr wrap="square" lIns="0" tIns="0" rIns="0" bIns="0" rtlCol="0" anchor="t"/>
          <a:lstStyle/>
          <a:p>
            <a:pPr indent="0" marL="0">
              <a:buNone/>
            </a:pPr>
            <a:r>
              <a:rPr lang="en-US" sz="1300" b="1" dirty="0">
                <a:solidFill>
                  <a:srgbClr val="3F2316"/>
                </a:solidFill>
              </a:rPr>
              <a:t>表皮层 Epidermis</a:t>
            </a:r>
            <a:endParaRPr lang="en-US" sz="1300" dirty="0"/>
          </a:p>
          <a:p>
            <a:pPr indent="0" marL="0">
              <a:buNone/>
            </a:pPr>
            <a:r>
              <a:rPr lang="en-US" sz="1100" dirty="0">
                <a:solidFill>
                  <a:srgbClr val="3F2316"/>
                </a:solidFill>
              </a:rPr>
              <a:t>健康细胞不受伤害 · healthy cells protected</a:t>
            </a:r>
            <a:endParaRPr lang="en-US" sz="1300" dirty="0"/>
          </a:p>
        </p:txBody>
      </p:sp>
      <p:sp>
        <p:nvSpPr>
          <p:cNvPr id="12" name="Text 10"/>
          <p:cNvSpPr txBox="1"/>
          <p:nvPr/>
        </p:nvSpPr>
        <p:spPr>
          <a:xfrm>
            <a:off x="594360" y="3520440"/>
            <a:ext cx="4023360" cy="1188720"/>
          </a:xfrm>
          <a:prstGeom prst="rect">
            <a:avLst/>
          </a:prstGeom>
          <a:noFill/>
          <a:ln/>
        </p:spPr>
        <p:txBody>
          <a:bodyPr wrap="square" lIns="0" tIns="0" rIns="0" bIns="0" rtlCol="0" anchor="t"/>
          <a:lstStyle/>
          <a:p>
            <a:pPr indent="0" marL="0">
              <a:spcAft>
                <a:spcPts val="200"/>
              </a:spcAft>
              <a:buNone/>
            </a:pPr>
            <a:r>
              <a:rPr lang="en-US" sz="1300" b="1" dirty="0">
                <a:solidFill>
                  <a:srgbClr val="FFFFFF"/>
                </a:solidFill>
              </a:rPr>
              <a:t>真皮层 Dermis</a:t>
            </a:r>
            <a:endParaRPr lang="en-US" sz="1300" dirty="0"/>
          </a:p>
          <a:p>
            <a:pPr indent="0" marL="0">
              <a:spcAft>
                <a:spcPts val="200"/>
              </a:spcAft>
              <a:buNone/>
            </a:pPr>
            <a:r>
              <a:rPr lang="en-US" sz="1100" dirty="0">
                <a:solidFill>
                  <a:srgbClr val="FFFFFF"/>
                </a:solidFill>
              </a:rPr>
              <a:t>不是 LHA 的作用目标 · not the target of LHA</a:t>
            </a:r>
            <a:endParaRPr lang="en-US" sz="1300" dirty="0"/>
          </a:p>
        </p:txBody>
      </p:sp>
      <p:sp>
        <p:nvSpPr>
          <p:cNvPr id="13" name="Text 11"/>
          <p:cNvSpPr txBox="1"/>
          <p:nvPr/>
        </p:nvSpPr>
        <p:spPr>
          <a:xfrm>
            <a:off x="4133088" y="2468880"/>
            <a:ext cx="731520" cy="457200"/>
          </a:xfrm>
          <a:prstGeom prst="rect">
            <a:avLst/>
          </a:prstGeom>
          <a:noFill/>
          <a:ln/>
        </p:spPr>
        <p:txBody>
          <a:bodyPr wrap="square" lIns="0" tIns="0" rIns="0" bIns="0" rtlCol="0" anchor="ctr"/>
          <a:lstStyle/>
          <a:p>
            <a:pPr indent="0" marL="0">
              <a:spcAft>
                <a:spcPts val="300"/>
              </a:spcAft>
              <a:buNone/>
            </a:pPr>
            <a:r>
              <a:rPr lang="en-US" sz="1100" b="1" dirty="0">
                <a:solidFill>
                  <a:srgbClr val="3B2A14"/>
                </a:solidFill>
              </a:rPr>
              <a:t>毛孔 Pore</a:t>
            </a:r>
            <a:endParaRPr lang="en-US" sz="1100" dirty="0"/>
          </a:p>
        </p:txBody>
      </p:sp>
      <p:sp>
        <p:nvSpPr>
          <p:cNvPr id="14" name="traditional peel box"/>
          <p:cNvSpPr/>
          <p:nvPr/>
        </p:nvSpPr>
        <p:spPr>
          <a:xfrm>
            <a:off x="5212080" y="1417320"/>
            <a:ext cx="6492240" cy="914400"/>
          </a:xfrm>
          <a:prstGeom prst="roundRect">
            <a:avLst>
              <a:gd name="adj" fmla="val 12000"/>
            </a:avLst>
          </a:prstGeom>
          <a:solidFill>
            <a:srgbClr val="FCEDE8"/>
          </a:solidFill>
          <a:ln/>
        </p:spPr>
      </p:sp>
      <p:sp>
        <p:nvSpPr>
          <p:cNvPr id="15" name="Text 13"/>
          <p:cNvSpPr txBox="1"/>
          <p:nvPr/>
        </p:nvSpPr>
        <p:spPr>
          <a:xfrm>
            <a:off x="5394960" y="1481328"/>
            <a:ext cx="6126480" cy="804672"/>
          </a:xfrm>
          <a:prstGeom prst="rect">
            <a:avLst/>
          </a:prstGeom>
          <a:noFill/>
          <a:ln/>
        </p:spPr>
        <p:txBody>
          <a:bodyPr wrap="square" lIns="0" tIns="0" rIns="0" bIns="0" rtlCol="0" anchor="ctr"/>
          <a:lstStyle/>
          <a:p>
            <a:pPr indent="0" marL="0">
              <a:spcAft>
                <a:spcPts val="200"/>
              </a:spcAft>
              <a:buNone/>
            </a:pPr>
            <a:r>
              <a:rPr lang="en-US" sz="1400" b="1" dirty="0">
                <a:solidFill>
                  <a:schemeClr val="tx1"/>
                </a:solidFill>
              </a:rPr>
              <a:t>传统焕肤：无差别腐蚀角质层 — 刺激大、脱皮、泛红、屏障易受损</a:t>
            </a:r>
            <a:endParaRPr lang="en-US" sz="1400" dirty="0"/>
          </a:p>
          <a:p>
            <a:pPr indent="0" marL="0">
              <a:spcAft>
                <a:spcPts val="200"/>
              </a:spcAft>
              <a:buNone/>
            </a:pPr>
            <a:r>
              <a:rPr lang="en-US" sz="1200" dirty="0">
                <a:solidFill>
                  <a:schemeClr val="accent6"/>
                </a:solidFill>
              </a:rPr>
              <a:t>Traditional peel: non‑selective — heavy peeling, irritation, barrier damage</a:t>
            </a:r>
            <a:endParaRPr lang="en-US" sz="1400" dirty="0"/>
          </a:p>
        </p:txBody>
      </p:sp>
      <p:sp>
        <p:nvSpPr>
          <p:cNvPr id="16" name="Text 14"/>
          <p:cNvSpPr txBox="1"/>
          <p:nvPr/>
        </p:nvSpPr>
        <p:spPr>
          <a:xfrm>
            <a:off x="5212080" y="2450592"/>
            <a:ext cx="6492240" cy="320040"/>
          </a:xfrm>
          <a:prstGeom prst="rect">
            <a:avLst/>
          </a:prstGeom>
          <a:noFill/>
          <a:ln/>
        </p:spPr>
        <p:txBody>
          <a:bodyPr wrap="square" lIns="0" tIns="0" rIns="0" bIns="0" rtlCol="0" anchor="t"/>
          <a:lstStyle/>
          <a:p>
            <a:pPr indent="0" marL="0">
              <a:spcAft>
                <a:spcPts val="300"/>
              </a:spcAft>
              <a:buNone/>
            </a:pPr>
            <a:r>
              <a:rPr lang="en-US" sz="1600" b="1" dirty="0">
                <a:solidFill>
                  <a:schemeClr val="tx2"/>
                </a:solidFill>
              </a:rPr>
              <a:t>XE‑LHA Peel 原理 Mechanism</a:t>
            </a:r>
            <a:endParaRPr lang="en-US" sz="1600" dirty="0"/>
          </a:p>
        </p:txBody>
      </p:sp>
      <p:sp>
        <p:nvSpPr>
          <p:cNvPr id="17" name="num 1"/>
          <p:cNvSpPr txBox="1"/>
          <p:nvPr/>
        </p:nvSpPr>
        <p:spPr>
          <a:xfrm>
            <a:off x="5212080" y="288036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8" name="Text 16"/>
          <p:cNvSpPr txBox="1"/>
          <p:nvPr/>
        </p:nvSpPr>
        <p:spPr>
          <a:xfrm>
            <a:off x="5852160" y="2834640"/>
            <a:ext cx="5852160" cy="566928"/>
          </a:xfrm>
          <a:prstGeom prst="rect">
            <a:avLst/>
          </a:prstGeom>
          <a:noFill/>
          <a:ln/>
        </p:spPr>
        <p:txBody>
          <a:bodyPr wrap="square" lIns="0" tIns="0" rIns="0" bIns="0" rtlCol="0" anchor="ctr"/>
          <a:lstStyle/>
          <a:p>
            <a:pPr indent="0" marL="0">
              <a:buNone/>
            </a:pPr>
            <a:r>
              <a:rPr lang="en-US" sz="1400" b="1" dirty="0">
                <a:solidFill>
                  <a:schemeClr val="tx1"/>
                </a:solidFill>
              </a:rPr>
              <a:t>LHA 油脂亲和力高，只软化老化粘连的角质细胞</a:t>
            </a:r>
            <a:endParaRPr lang="en-US" sz="1400" dirty="0"/>
          </a:p>
          <a:p>
            <a:pPr indent="0" marL="0">
              <a:buNone/>
            </a:pPr>
            <a:r>
              <a:rPr lang="en-US" sz="1200" dirty="0">
                <a:solidFill>
                  <a:schemeClr val="accent6"/>
                </a:solidFill>
              </a:rPr>
              <a:t>LHA selectively loosens only dead, aged keratin cells</a:t>
            </a:r>
            <a:endParaRPr lang="en-US" sz="1400" dirty="0"/>
          </a:p>
        </p:txBody>
      </p:sp>
      <p:sp>
        <p:nvSpPr>
          <p:cNvPr id="19" name="num 2"/>
          <p:cNvSpPr txBox="1"/>
          <p:nvPr/>
        </p:nvSpPr>
        <p:spPr>
          <a:xfrm>
            <a:off x="5212080" y="352044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0" name="Text 18"/>
          <p:cNvSpPr txBox="1"/>
          <p:nvPr/>
        </p:nvSpPr>
        <p:spPr>
          <a:xfrm>
            <a:off x="5852160" y="3474720"/>
            <a:ext cx="5852160" cy="566928"/>
          </a:xfrm>
          <a:prstGeom prst="rect">
            <a:avLst/>
          </a:prstGeom>
          <a:noFill/>
          <a:ln/>
        </p:spPr>
        <p:txBody>
          <a:bodyPr wrap="square" lIns="0" tIns="0" rIns="0" bIns="0" rtlCol="0" anchor="ctr"/>
          <a:lstStyle/>
          <a:p>
            <a:pPr indent="0" marL="0">
              <a:buNone/>
            </a:pPr>
            <a:r>
              <a:rPr lang="en-US" sz="1400" b="1" dirty="0">
                <a:solidFill>
                  <a:schemeClr val="tx1"/>
                </a:solidFill>
              </a:rPr>
              <a:t>专利油脂成分包裹活性物，缓慢渗透，降低刺激</a:t>
            </a:r>
            <a:endParaRPr lang="en-US" sz="1400" dirty="0"/>
          </a:p>
          <a:p>
            <a:pPr indent="0" marL="0">
              <a:buNone/>
            </a:pPr>
            <a:r>
              <a:rPr lang="en-US" sz="1200" dirty="0">
                <a:solidFill>
                  <a:schemeClr val="accent6"/>
                </a:solidFill>
              </a:rPr>
              <a:t>Lipid‑based patented carrier slows penetration &amp; minimises irritation</a:t>
            </a:r>
            <a:endParaRPr lang="en-US" sz="1400" dirty="0"/>
          </a:p>
        </p:txBody>
      </p:sp>
      <p:sp>
        <p:nvSpPr>
          <p:cNvPr id="21" name="num 3"/>
          <p:cNvSpPr txBox="1"/>
          <p:nvPr/>
        </p:nvSpPr>
        <p:spPr>
          <a:xfrm>
            <a:off x="5212080" y="416052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2" name="Text 20"/>
          <p:cNvSpPr txBox="1"/>
          <p:nvPr/>
        </p:nvSpPr>
        <p:spPr>
          <a:xfrm>
            <a:off x="5852160" y="4114800"/>
            <a:ext cx="5852160" cy="566928"/>
          </a:xfrm>
          <a:prstGeom prst="rect">
            <a:avLst/>
          </a:prstGeom>
          <a:noFill/>
          <a:ln/>
        </p:spPr>
        <p:txBody>
          <a:bodyPr wrap="square" lIns="0" tIns="0" rIns="0" bIns="0" rtlCol="0" anchor="ctr"/>
          <a:lstStyle/>
          <a:p>
            <a:pPr indent="0" marL="0">
              <a:buNone/>
            </a:pPr>
            <a:r>
              <a:rPr lang="en-US" sz="1400" b="1" dirty="0">
                <a:solidFill>
                  <a:schemeClr val="tx1"/>
                </a:solidFill>
              </a:rPr>
              <a:t>益生菌 + 亮肤成分同步护理肌肤</a:t>
            </a:r>
            <a:endParaRPr lang="en-US" sz="1400" dirty="0"/>
          </a:p>
          <a:p>
            <a:pPr indent="0" marL="0">
              <a:buNone/>
            </a:pPr>
            <a:r>
              <a:rPr lang="en-US" sz="1200" dirty="0">
                <a:solidFill>
                  <a:schemeClr val="accent6"/>
                </a:solidFill>
              </a:rPr>
              <a:t>Probiotic &amp; brightening ingredients care for the skin alongside the peel</a:t>
            </a:r>
            <a:endParaRPr lang="en-US" sz="1400" dirty="0"/>
          </a:p>
        </p:txBody>
      </p:sp>
      <p:sp>
        <p:nvSpPr>
          <p:cNvPr id="23" name="num 4"/>
          <p:cNvSpPr txBox="1"/>
          <p:nvPr/>
        </p:nvSpPr>
        <p:spPr>
          <a:xfrm>
            <a:off x="5212080" y="480060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4" name="Text 22"/>
          <p:cNvSpPr txBox="1"/>
          <p:nvPr/>
        </p:nvSpPr>
        <p:spPr>
          <a:xfrm>
            <a:off x="5852160" y="4754880"/>
            <a:ext cx="5852160" cy="566928"/>
          </a:xfrm>
          <a:prstGeom prst="rect">
            <a:avLst/>
          </a:prstGeom>
          <a:noFill/>
          <a:ln/>
        </p:spPr>
        <p:txBody>
          <a:bodyPr wrap="square" lIns="0" tIns="0" rIns="0" bIns="0" rtlCol="0" anchor="ctr"/>
          <a:lstStyle/>
          <a:p>
            <a:pPr indent="0" marL="0">
              <a:buNone/>
            </a:pPr>
            <a:r>
              <a:rPr lang="en-US" sz="1400" b="1" dirty="0">
                <a:solidFill>
                  <a:schemeClr val="tx1"/>
                </a:solidFill>
              </a:rPr>
              <a:t>支持皮肤自然新陈代谢，肤质更细腻</a:t>
            </a:r>
            <a:endParaRPr lang="en-US" sz="1400" dirty="0"/>
          </a:p>
          <a:p>
            <a:pPr indent="0" marL="0">
              <a:buNone/>
            </a:pPr>
            <a:r>
              <a:rPr lang="en-US" sz="1200" dirty="0">
                <a:solidFill>
                  <a:schemeClr val="accent6"/>
                </a:solidFill>
              </a:rPr>
              <a:t>Supports natural skin renewal for smoother, finer texture</a:t>
            </a:r>
            <a:endParaRPr lang="en-US" sz="1400" dirty="0"/>
          </a:p>
        </p:txBody>
      </p:sp>
      <p:sp>
        <p:nvSpPr>
          <p:cNvPr id="25" name="outcome banner"/>
          <p:cNvSpPr/>
          <p:nvPr/>
        </p:nvSpPr>
        <p:spPr>
          <a:xfrm>
            <a:off x="457200" y="5440680"/>
            <a:ext cx="11247120" cy="822960"/>
          </a:xfrm>
          <a:prstGeom prst="roundRect">
            <a:avLst>
              <a:gd name="adj" fmla="val 13333"/>
            </a:avLst>
          </a:prstGeom>
          <a:solidFill>
            <a:schemeClr val="tx2"/>
          </a:solidFill>
          <a:ln/>
        </p:spPr>
      </p:sp>
      <p:sp>
        <p:nvSpPr>
          <p:cNvPr id="26" name="Text 24"/>
          <p:cNvSpPr txBox="1"/>
          <p:nvPr/>
        </p:nvSpPr>
        <p:spPr>
          <a:xfrm>
            <a:off x="731520" y="5440680"/>
            <a:ext cx="10698480" cy="822960"/>
          </a:xfrm>
          <a:prstGeom prst="rect">
            <a:avLst/>
          </a:prstGeom>
          <a:noFill/>
          <a:ln/>
        </p:spPr>
        <p:txBody>
          <a:bodyPr wrap="square" lIns="0" tIns="0" rIns="0" bIns="0" rtlCol="0" anchor="ctr"/>
          <a:lstStyle/>
          <a:p>
            <a:pPr indent="0" marL="0">
              <a:spcAft>
                <a:spcPts val="200"/>
              </a:spcAft>
              <a:buNone/>
            </a:pPr>
            <a:r>
              <a:rPr lang="en-US" sz="1500" b="1" dirty="0">
                <a:solidFill>
                  <a:schemeClr val="bg1"/>
                </a:solidFill>
              </a:rPr>
              <a:t>结果：毛孔看起来更干净、肤质更细腻透亮，并支持皮肤屏障护理</a:t>
            </a:r>
            <a:endParaRPr lang="en-US" sz="1500" dirty="0"/>
          </a:p>
          <a:p>
            <a:pPr indent="0" marL="0">
              <a:spcAft>
                <a:spcPts val="200"/>
              </a:spcAft>
              <a:buNone/>
            </a:pPr>
            <a:r>
              <a:rPr lang="en-US" sz="1200" dirty="0">
                <a:solidFill>
                  <a:srgbClr val="CFE0D2"/>
                </a:solidFill>
              </a:rPr>
              <a:t>Outcome: cleaner‑looking pores, smoother and more radiant texture, with support for the skin barrier</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功效｜可改善的皮肤问题</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Skin Benefits</a:t>
            </a:r>
            <a:endParaRPr lang="en-US" sz="3000" dirty="0"/>
          </a:p>
        </p:txBody>
      </p:sp>
      <p:sp>
        <p:nvSpPr>
          <p:cNvPr id="3" name="benefit card 1"/>
          <p:cNvSpPr/>
          <p:nvPr/>
        </p:nvSpPr>
        <p:spPr>
          <a:xfrm>
            <a:off x="457200" y="1417320"/>
            <a:ext cx="3566160" cy="1783080"/>
          </a:xfrm>
          <a:prstGeom prst="roundRect">
            <a:avLst>
              <a:gd name="adj" fmla="val 6154"/>
            </a:avLst>
          </a:prstGeom>
          <a:solidFill>
            <a:schemeClr val="bg2"/>
          </a:solidFill>
          <a:ln/>
        </p:spPr>
      </p:sp>
      <p:sp>
        <p:nvSpPr>
          <p:cNvPr id="4" name="benefit icon 1 bg"/>
          <p:cNvSpPr/>
          <p:nvPr/>
        </p:nvSpPr>
        <p:spPr>
          <a:xfrm>
            <a:off x="640080" y="1600200"/>
            <a:ext cx="594360" cy="594360"/>
          </a:xfrm>
          <a:prstGeom prst="ellipse">
            <a:avLst/>
          </a:prstGeom>
          <a:solidFill>
            <a:schemeClr val="accent1"/>
          </a:solidFill>
          <a:ln/>
        </p:spPr>
      </p:sp>
      <p:pic>
        <p:nvPicPr>
          <p:cNvPr id="5" name="benefit icon 1" descr="benefit icon 1">    </p:cNvPr>
          <p:cNvPicPr>
            <a:picLocks noChangeAspect="1"/>
          </p:cNvPicPr>
          <p:nvPr/>
        </p:nvPicPr>
        <p:blipFill>
          <a:blip r:embed="rId1"/>
          <a:stretch>
            <a:fillRect/>
          </a:stretch>
        </p:blipFill>
        <p:spPr>
          <a:xfrm>
            <a:off x="794614" y="1754734"/>
            <a:ext cx="285293" cy="285293"/>
          </a:xfrm>
          <a:prstGeom prst="rect">
            <a:avLst/>
          </a:prstGeom>
        </p:spPr>
      </p:pic>
      <p:sp>
        <p:nvSpPr>
          <p:cNvPr id="6" name="Text 3"/>
          <p:cNvSpPr txBox="1"/>
          <p:nvPr/>
        </p:nvSpPr>
        <p:spPr>
          <a:xfrm>
            <a:off x="1417320" y="1581912"/>
            <a:ext cx="2468880" cy="1508760"/>
          </a:xfrm>
          <a:prstGeom prst="rect">
            <a:avLst/>
          </a:prstGeom>
          <a:noFill/>
          <a:ln/>
        </p:spPr>
        <p:txBody>
          <a:bodyPr wrap="square" lIns="0" tIns="0" rIns="0" bIns="0" rtlCol="0" anchor="t"/>
          <a:lstStyle/>
          <a:p>
            <a:pPr indent="0" marL="0">
              <a:spcAft>
                <a:spcPts val="500"/>
              </a:spcAft>
              <a:buNone/>
            </a:pPr>
            <a:r>
              <a:rPr lang="en-US" sz="1400" b="1" dirty="0">
                <a:solidFill>
                  <a:schemeClr val="tx1"/>
                </a:solidFill>
              </a:rPr>
              <a:t>改善毛孔粗大、黑头粉刺、油脂分泌旺盛（新加坡湿热出油肌首选）</a:t>
            </a:r>
            <a:endParaRPr lang="en-US" sz="1400" dirty="0"/>
          </a:p>
          <a:p>
            <a:pPr indent="0" marL="0">
              <a:spcAft>
                <a:spcPts val="500"/>
              </a:spcAft>
              <a:buNone/>
            </a:pPr>
            <a:r>
              <a:rPr lang="en-US" sz="1200" dirty="0">
                <a:solidFill>
                  <a:schemeClr val="accent6"/>
                </a:solidFill>
              </a:rPr>
              <a:t>Minimises large pores, blackheads &amp; excess sebum — ideal for Singapore's humid, oily skin</a:t>
            </a:r>
            <a:endParaRPr lang="en-US" sz="1400" dirty="0"/>
          </a:p>
        </p:txBody>
      </p:sp>
      <p:sp>
        <p:nvSpPr>
          <p:cNvPr id="7" name="benefit card 2"/>
          <p:cNvSpPr/>
          <p:nvPr/>
        </p:nvSpPr>
        <p:spPr>
          <a:xfrm>
            <a:off x="4297680" y="1417320"/>
            <a:ext cx="3566160" cy="1783080"/>
          </a:xfrm>
          <a:prstGeom prst="roundRect">
            <a:avLst>
              <a:gd name="adj" fmla="val 6154"/>
            </a:avLst>
          </a:prstGeom>
          <a:solidFill>
            <a:schemeClr val="bg2"/>
          </a:solidFill>
          <a:ln/>
        </p:spPr>
      </p:sp>
      <p:sp>
        <p:nvSpPr>
          <p:cNvPr id="8" name="benefit icon 2 bg"/>
          <p:cNvSpPr/>
          <p:nvPr/>
        </p:nvSpPr>
        <p:spPr>
          <a:xfrm>
            <a:off x="4480560" y="1600200"/>
            <a:ext cx="594360" cy="594360"/>
          </a:xfrm>
          <a:prstGeom prst="ellipse">
            <a:avLst/>
          </a:prstGeom>
          <a:solidFill>
            <a:schemeClr val="accent1"/>
          </a:solidFill>
          <a:ln/>
        </p:spPr>
      </p:sp>
      <p:pic>
        <p:nvPicPr>
          <p:cNvPr id="9" name="benefit icon 2" descr="benefit icon 2">    </p:cNvPr>
          <p:cNvPicPr>
            <a:picLocks noChangeAspect="1"/>
          </p:cNvPicPr>
          <p:nvPr/>
        </p:nvPicPr>
        <p:blipFill>
          <a:blip r:embed="rId2"/>
          <a:stretch>
            <a:fillRect/>
          </a:stretch>
        </p:blipFill>
        <p:spPr>
          <a:xfrm>
            <a:off x="4635094" y="1754734"/>
            <a:ext cx="285293" cy="285293"/>
          </a:xfrm>
          <a:prstGeom prst="rect">
            <a:avLst/>
          </a:prstGeom>
        </p:spPr>
      </p:pic>
      <p:sp>
        <p:nvSpPr>
          <p:cNvPr id="10" name="Text 6"/>
          <p:cNvSpPr txBox="1"/>
          <p:nvPr/>
        </p:nvSpPr>
        <p:spPr>
          <a:xfrm>
            <a:off x="5257800" y="1581912"/>
            <a:ext cx="2468880" cy="1508760"/>
          </a:xfrm>
          <a:prstGeom prst="rect">
            <a:avLst/>
          </a:prstGeom>
          <a:noFill/>
          <a:ln/>
        </p:spPr>
        <p:txBody>
          <a:bodyPr wrap="square" lIns="0" tIns="0" rIns="0" bIns="0" rtlCol="0" anchor="t"/>
          <a:lstStyle/>
          <a:p>
            <a:pPr indent="0" marL="0">
              <a:spcAft>
                <a:spcPts val="500"/>
              </a:spcAft>
              <a:buNone/>
            </a:pPr>
            <a:r>
              <a:rPr lang="en-US" sz="1400" b="1" dirty="0">
                <a:solidFill>
                  <a:schemeClr val="tx1"/>
                </a:solidFill>
              </a:rPr>
              <a:t>肤色暗沉、发黄、粗糙无光</a:t>
            </a:r>
            <a:endParaRPr lang="en-US" sz="1400" dirty="0"/>
          </a:p>
          <a:p>
            <a:pPr indent="0" marL="0">
              <a:spcAft>
                <a:spcPts val="500"/>
              </a:spcAft>
              <a:buNone/>
            </a:pPr>
            <a:r>
              <a:rPr lang="en-US" sz="1200" dirty="0">
                <a:solidFill>
                  <a:schemeClr val="accent6"/>
                </a:solidFill>
              </a:rPr>
              <a:t>Dull, sallow, rough skin texture</a:t>
            </a:r>
            <a:endParaRPr lang="en-US" sz="1400" dirty="0"/>
          </a:p>
        </p:txBody>
      </p:sp>
      <p:sp>
        <p:nvSpPr>
          <p:cNvPr id="11" name="benefit card 3"/>
          <p:cNvSpPr/>
          <p:nvPr/>
        </p:nvSpPr>
        <p:spPr>
          <a:xfrm>
            <a:off x="8138160" y="1417320"/>
            <a:ext cx="3566160" cy="1783080"/>
          </a:xfrm>
          <a:prstGeom prst="roundRect">
            <a:avLst>
              <a:gd name="adj" fmla="val 6154"/>
            </a:avLst>
          </a:prstGeom>
          <a:solidFill>
            <a:schemeClr val="bg2"/>
          </a:solidFill>
          <a:ln/>
        </p:spPr>
      </p:sp>
      <p:sp>
        <p:nvSpPr>
          <p:cNvPr id="12" name="benefit icon 3 bg"/>
          <p:cNvSpPr/>
          <p:nvPr/>
        </p:nvSpPr>
        <p:spPr>
          <a:xfrm>
            <a:off x="8321040" y="1600200"/>
            <a:ext cx="594360" cy="594360"/>
          </a:xfrm>
          <a:prstGeom prst="ellipse">
            <a:avLst/>
          </a:prstGeom>
          <a:solidFill>
            <a:schemeClr val="accent1"/>
          </a:solidFill>
          <a:ln/>
        </p:spPr>
      </p:sp>
      <p:pic>
        <p:nvPicPr>
          <p:cNvPr id="13" name="benefit icon 3" descr="benefit icon 3">    </p:cNvPr>
          <p:cNvPicPr>
            <a:picLocks noChangeAspect="1"/>
          </p:cNvPicPr>
          <p:nvPr/>
        </p:nvPicPr>
        <p:blipFill>
          <a:blip r:embed="rId3"/>
          <a:stretch>
            <a:fillRect/>
          </a:stretch>
        </p:blipFill>
        <p:spPr>
          <a:xfrm>
            <a:off x="8475574" y="1754734"/>
            <a:ext cx="285293" cy="285293"/>
          </a:xfrm>
          <a:prstGeom prst="rect">
            <a:avLst/>
          </a:prstGeom>
        </p:spPr>
      </p:pic>
      <p:sp>
        <p:nvSpPr>
          <p:cNvPr id="14" name="Text 9"/>
          <p:cNvSpPr txBox="1"/>
          <p:nvPr/>
        </p:nvSpPr>
        <p:spPr>
          <a:xfrm>
            <a:off x="9098280" y="1581912"/>
            <a:ext cx="2468880" cy="1508760"/>
          </a:xfrm>
          <a:prstGeom prst="rect">
            <a:avLst/>
          </a:prstGeom>
          <a:noFill/>
          <a:ln/>
        </p:spPr>
        <p:txBody>
          <a:bodyPr wrap="square" lIns="0" tIns="0" rIns="0" bIns="0" rtlCol="0" anchor="t"/>
          <a:lstStyle/>
          <a:p>
            <a:pPr indent="0" marL="0">
              <a:spcAft>
                <a:spcPts val="500"/>
              </a:spcAft>
              <a:buNone/>
            </a:pPr>
            <a:r>
              <a:rPr lang="en-US" sz="1400" b="1" dirty="0">
                <a:solidFill>
                  <a:schemeClr val="tx1"/>
                </a:solidFill>
              </a:rPr>
              <a:t>痘痘肌、闭口、红色褐色痘印</a:t>
            </a:r>
            <a:endParaRPr lang="en-US" sz="1400" dirty="0"/>
          </a:p>
          <a:p>
            <a:pPr indent="0" marL="0">
              <a:spcAft>
                <a:spcPts val="500"/>
              </a:spcAft>
              <a:buNone/>
            </a:pPr>
            <a:r>
              <a:rPr lang="en-US" sz="1200" dirty="0">
                <a:solidFill>
                  <a:schemeClr val="accent6"/>
                </a:solidFill>
              </a:rPr>
              <a:t>Acne, clogged comedones, red &amp; brown post‑acne marks</a:t>
            </a:r>
            <a:endParaRPr lang="en-US" sz="1400" dirty="0"/>
          </a:p>
        </p:txBody>
      </p:sp>
      <p:sp>
        <p:nvSpPr>
          <p:cNvPr id="15" name="benefit card 4"/>
          <p:cNvSpPr/>
          <p:nvPr/>
        </p:nvSpPr>
        <p:spPr>
          <a:xfrm>
            <a:off x="457200" y="3337560"/>
            <a:ext cx="3566160" cy="1783080"/>
          </a:xfrm>
          <a:prstGeom prst="roundRect">
            <a:avLst>
              <a:gd name="adj" fmla="val 6154"/>
            </a:avLst>
          </a:prstGeom>
          <a:solidFill>
            <a:schemeClr val="bg2"/>
          </a:solidFill>
          <a:ln/>
        </p:spPr>
      </p:sp>
      <p:sp>
        <p:nvSpPr>
          <p:cNvPr id="16" name="benefit icon 4 bg"/>
          <p:cNvSpPr/>
          <p:nvPr/>
        </p:nvSpPr>
        <p:spPr>
          <a:xfrm>
            <a:off x="640080" y="3520440"/>
            <a:ext cx="594360" cy="594360"/>
          </a:xfrm>
          <a:prstGeom prst="ellipse">
            <a:avLst/>
          </a:prstGeom>
          <a:solidFill>
            <a:schemeClr val="accent1"/>
          </a:solidFill>
          <a:ln/>
        </p:spPr>
      </p:sp>
      <p:pic>
        <p:nvPicPr>
          <p:cNvPr id="17" name="benefit icon 4" descr="benefit icon 4">    </p:cNvPr>
          <p:cNvPicPr>
            <a:picLocks noChangeAspect="1"/>
          </p:cNvPicPr>
          <p:nvPr/>
        </p:nvPicPr>
        <p:blipFill>
          <a:blip r:embed="rId4"/>
          <a:stretch>
            <a:fillRect/>
          </a:stretch>
        </p:blipFill>
        <p:spPr>
          <a:xfrm>
            <a:off x="794614" y="3674974"/>
            <a:ext cx="285293" cy="285293"/>
          </a:xfrm>
          <a:prstGeom prst="rect">
            <a:avLst/>
          </a:prstGeom>
        </p:spPr>
      </p:pic>
      <p:sp>
        <p:nvSpPr>
          <p:cNvPr id="18" name="Text 12"/>
          <p:cNvSpPr txBox="1"/>
          <p:nvPr/>
        </p:nvSpPr>
        <p:spPr>
          <a:xfrm>
            <a:off x="1417320" y="3502152"/>
            <a:ext cx="2468880" cy="1508760"/>
          </a:xfrm>
          <a:prstGeom prst="rect">
            <a:avLst/>
          </a:prstGeom>
          <a:noFill/>
          <a:ln/>
        </p:spPr>
        <p:txBody>
          <a:bodyPr wrap="square" lIns="0" tIns="0" rIns="0" bIns="0" rtlCol="0" anchor="t"/>
          <a:lstStyle/>
          <a:p>
            <a:pPr indent="0" marL="0">
              <a:spcAft>
                <a:spcPts val="500"/>
              </a:spcAft>
              <a:buNone/>
            </a:pPr>
            <a:r>
              <a:rPr lang="en-US" sz="1400" b="1" dirty="0">
                <a:solidFill>
                  <a:schemeClr val="tx1"/>
                </a:solidFill>
              </a:rPr>
              <a:t>轻度色素沉着、晒后暗沉</a:t>
            </a:r>
            <a:endParaRPr lang="en-US" sz="1400" dirty="0"/>
          </a:p>
          <a:p>
            <a:pPr indent="0" marL="0">
              <a:spcAft>
                <a:spcPts val="500"/>
              </a:spcAft>
              <a:buNone/>
            </a:pPr>
            <a:r>
              <a:rPr lang="en-US" sz="1200" dirty="0">
                <a:solidFill>
                  <a:schemeClr val="accent6"/>
                </a:solidFill>
              </a:rPr>
              <a:t>Mild pigmentation &amp; sun‑related dullness</a:t>
            </a:r>
            <a:endParaRPr lang="en-US" sz="1400" dirty="0"/>
          </a:p>
        </p:txBody>
      </p:sp>
      <p:sp>
        <p:nvSpPr>
          <p:cNvPr id="19" name="benefit card 5"/>
          <p:cNvSpPr/>
          <p:nvPr/>
        </p:nvSpPr>
        <p:spPr>
          <a:xfrm>
            <a:off x="4297680" y="3337560"/>
            <a:ext cx="3566160" cy="1783080"/>
          </a:xfrm>
          <a:prstGeom prst="roundRect">
            <a:avLst>
              <a:gd name="adj" fmla="val 6154"/>
            </a:avLst>
          </a:prstGeom>
          <a:solidFill>
            <a:schemeClr val="bg2"/>
          </a:solidFill>
          <a:ln/>
        </p:spPr>
      </p:sp>
      <p:sp>
        <p:nvSpPr>
          <p:cNvPr id="20" name="benefit icon 5 bg"/>
          <p:cNvSpPr/>
          <p:nvPr/>
        </p:nvSpPr>
        <p:spPr>
          <a:xfrm>
            <a:off x="4480560" y="3520440"/>
            <a:ext cx="594360" cy="594360"/>
          </a:xfrm>
          <a:prstGeom prst="ellipse">
            <a:avLst/>
          </a:prstGeom>
          <a:solidFill>
            <a:schemeClr val="accent1"/>
          </a:solidFill>
          <a:ln/>
        </p:spPr>
      </p:sp>
      <p:pic>
        <p:nvPicPr>
          <p:cNvPr id="21" name="benefit icon 5" descr="benefit icon 5">    </p:cNvPr>
          <p:cNvPicPr>
            <a:picLocks noChangeAspect="1"/>
          </p:cNvPicPr>
          <p:nvPr/>
        </p:nvPicPr>
        <p:blipFill>
          <a:blip r:embed="rId5"/>
          <a:stretch>
            <a:fillRect/>
          </a:stretch>
        </p:blipFill>
        <p:spPr>
          <a:xfrm>
            <a:off x="4635094" y="3674974"/>
            <a:ext cx="285293" cy="285293"/>
          </a:xfrm>
          <a:prstGeom prst="rect">
            <a:avLst/>
          </a:prstGeom>
        </p:spPr>
      </p:pic>
      <p:sp>
        <p:nvSpPr>
          <p:cNvPr id="22" name="Text 15"/>
          <p:cNvSpPr txBox="1"/>
          <p:nvPr/>
        </p:nvSpPr>
        <p:spPr>
          <a:xfrm>
            <a:off x="5257800" y="3502152"/>
            <a:ext cx="2468880" cy="1508760"/>
          </a:xfrm>
          <a:prstGeom prst="rect">
            <a:avLst/>
          </a:prstGeom>
          <a:noFill/>
          <a:ln/>
        </p:spPr>
        <p:txBody>
          <a:bodyPr wrap="square" lIns="0" tIns="0" rIns="0" bIns="0" rtlCol="0" anchor="t"/>
          <a:lstStyle/>
          <a:p>
            <a:pPr indent="0" marL="0">
              <a:spcAft>
                <a:spcPts val="500"/>
              </a:spcAft>
              <a:buNone/>
            </a:pPr>
            <a:r>
              <a:rPr lang="en-US" sz="1400" b="1" dirty="0">
                <a:solidFill>
                  <a:schemeClr val="tx1"/>
                </a:solidFill>
              </a:rPr>
              <a:t>肌肤屏障脆弱、反复轻微泛红、肤质粗糙</a:t>
            </a:r>
            <a:endParaRPr lang="en-US" sz="1400" dirty="0"/>
          </a:p>
          <a:p>
            <a:pPr indent="0" marL="0">
              <a:spcAft>
                <a:spcPts val="500"/>
              </a:spcAft>
              <a:buNone/>
            </a:pPr>
            <a:r>
              <a:rPr lang="en-US" sz="1200" dirty="0">
                <a:solidFill>
                  <a:schemeClr val="accent6"/>
                </a:solidFill>
              </a:rPr>
              <a:t>Fragile skin barrier, mild recurring redness, rough texture</a:t>
            </a:r>
            <a:endParaRPr lang="en-US" sz="1400" dirty="0"/>
          </a:p>
        </p:txBody>
      </p:sp>
      <p:sp>
        <p:nvSpPr>
          <p:cNvPr id="23" name="benefit card 6"/>
          <p:cNvSpPr/>
          <p:nvPr/>
        </p:nvSpPr>
        <p:spPr>
          <a:xfrm>
            <a:off x="8138160" y="3337560"/>
            <a:ext cx="3566160" cy="1783080"/>
          </a:xfrm>
          <a:prstGeom prst="roundRect">
            <a:avLst>
              <a:gd name="adj" fmla="val 6154"/>
            </a:avLst>
          </a:prstGeom>
          <a:solidFill>
            <a:schemeClr val="bg2"/>
          </a:solidFill>
          <a:ln/>
        </p:spPr>
      </p:sp>
      <p:sp>
        <p:nvSpPr>
          <p:cNvPr id="24" name="benefit icon 6 bg"/>
          <p:cNvSpPr/>
          <p:nvPr/>
        </p:nvSpPr>
        <p:spPr>
          <a:xfrm>
            <a:off x="8321040" y="3520440"/>
            <a:ext cx="594360" cy="594360"/>
          </a:xfrm>
          <a:prstGeom prst="ellipse">
            <a:avLst/>
          </a:prstGeom>
          <a:solidFill>
            <a:schemeClr val="accent1"/>
          </a:solidFill>
          <a:ln/>
        </p:spPr>
      </p:sp>
      <p:pic>
        <p:nvPicPr>
          <p:cNvPr id="25" name="benefit icon 6" descr="benefit icon 6">    </p:cNvPr>
          <p:cNvPicPr>
            <a:picLocks noChangeAspect="1"/>
          </p:cNvPicPr>
          <p:nvPr/>
        </p:nvPicPr>
        <p:blipFill>
          <a:blip r:embed="rId6"/>
          <a:stretch>
            <a:fillRect/>
          </a:stretch>
        </p:blipFill>
        <p:spPr>
          <a:xfrm>
            <a:off x="8475574" y="3674974"/>
            <a:ext cx="285293" cy="285293"/>
          </a:xfrm>
          <a:prstGeom prst="rect">
            <a:avLst/>
          </a:prstGeom>
        </p:spPr>
      </p:pic>
      <p:sp>
        <p:nvSpPr>
          <p:cNvPr id="26" name="Text 18"/>
          <p:cNvSpPr txBox="1"/>
          <p:nvPr/>
        </p:nvSpPr>
        <p:spPr>
          <a:xfrm>
            <a:off x="9098280" y="3502152"/>
            <a:ext cx="2468880" cy="1508760"/>
          </a:xfrm>
          <a:prstGeom prst="rect">
            <a:avLst/>
          </a:prstGeom>
          <a:noFill/>
          <a:ln/>
        </p:spPr>
        <p:txBody>
          <a:bodyPr wrap="square" lIns="0" tIns="0" rIns="0" bIns="0" rtlCol="0" anchor="t"/>
          <a:lstStyle/>
          <a:p>
            <a:pPr indent="0" marL="0">
              <a:spcAft>
                <a:spcPts val="500"/>
              </a:spcAft>
              <a:buNone/>
            </a:pPr>
            <a:r>
              <a:rPr lang="en-US" sz="1400" b="1" dirty="0">
                <a:solidFill>
                  <a:schemeClr val="tx1"/>
                </a:solidFill>
              </a:rPr>
              <a:t>改善表层干纹，提升水润光泽度</a:t>
            </a:r>
            <a:endParaRPr lang="en-US" sz="1400" dirty="0"/>
          </a:p>
          <a:p>
            <a:pPr indent="0" marL="0">
              <a:spcAft>
                <a:spcPts val="500"/>
              </a:spcAft>
              <a:buNone/>
            </a:pPr>
            <a:r>
              <a:rPr lang="en-US" sz="1200" dirty="0">
                <a:solidFill>
                  <a:schemeClr val="accent6"/>
                </a:solidFill>
              </a:rPr>
              <a:t>Softens fine superficial lines; boosts hydration &amp; radiance</a:t>
            </a:r>
            <a:endParaRPr lang="en-US" sz="1400" dirty="0"/>
          </a:p>
        </p:txBody>
      </p:sp>
      <p:sp>
        <p:nvSpPr>
          <p:cNvPr id="27" name="note banner"/>
          <p:cNvSpPr/>
          <p:nvPr/>
        </p:nvSpPr>
        <p:spPr>
          <a:xfrm>
            <a:off x="457200" y="5349240"/>
            <a:ext cx="11247120" cy="868680"/>
          </a:xfrm>
          <a:prstGeom prst="roundRect">
            <a:avLst>
              <a:gd name="adj" fmla="val 12632"/>
            </a:avLst>
          </a:prstGeom>
          <a:solidFill>
            <a:srgbClr val="FBF1D6"/>
          </a:solidFill>
          <a:ln/>
        </p:spPr>
      </p:sp>
      <p:sp>
        <p:nvSpPr>
          <p:cNvPr id="28" name="note icon bg"/>
          <p:cNvSpPr/>
          <p:nvPr/>
        </p:nvSpPr>
        <p:spPr>
          <a:xfrm>
            <a:off x="685800" y="5550408"/>
            <a:ext cx="457200" cy="457200"/>
          </a:xfrm>
          <a:prstGeom prst="ellipse">
            <a:avLst/>
          </a:prstGeom>
          <a:solidFill>
            <a:schemeClr val="accent2"/>
          </a:solidFill>
          <a:ln/>
        </p:spPr>
      </p:sp>
      <p:pic>
        <p:nvPicPr>
          <p:cNvPr id="29" name="note icon" descr="note icon">    </p:cNvPr>
          <p:cNvPicPr>
            <a:picLocks noChangeAspect="1"/>
          </p:cNvPicPr>
          <p:nvPr/>
        </p:nvPicPr>
        <p:blipFill>
          <a:blip r:embed="rId7"/>
          <a:stretch>
            <a:fillRect/>
          </a:stretch>
        </p:blipFill>
        <p:spPr>
          <a:xfrm>
            <a:off x="804672" y="5669280"/>
            <a:ext cx="219456" cy="219456"/>
          </a:xfrm>
          <a:prstGeom prst="rect">
            <a:avLst/>
          </a:prstGeom>
        </p:spPr>
      </p:pic>
      <p:sp>
        <p:nvSpPr>
          <p:cNvPr id="30" name="Text 21"/>
          <p:cNvSpPr txBox="1"/>
          <p:nvPr/>
        </p:nvSpPr>
        <p:spPr>
          <a:xfrm>
            <a:off x="1371600" y="5349240"/>
            <a:ext cx="10058400" cy="868680"/>
          </a:xfrm>
          <a:prstGeom prst="rect">
            <a:avLst/>
          </a:prstGeom>
          <a:noFill/>
          <a:ln/>
        </p:spPr>
        <p:txBody>
          <a:bodyPr wrap="square" lIns="0" tIns="0" rIns="0" bIns="0" rtlCol="0" anchor="ctr"/>
          <a:lstStyle/>
          <a:p>
            <a:pPr indent="0" marL="0">
              <a:spcAft>
                <a:spcPts val="200"/>
              </a:spcAft>
              <a:buNone/>
            </a:pPr>
            <a:r>
              <a:rPr lang="en-US" sz="1400" b="1" dirty="0">
                <a:solidFill>
                  <a:srgbClr val="000000"/>
                </a:solidFill>
              </a:rPr>
              <a:t>注意：重度痘坑、深层色斑无法单次根治，需要疗程搭配其他仪器项目</a:t>
            </a:r>
            <a:endParaRPr lang="en-US" sz="1400" dirty="0"/>
          </a:p>
          <a:p>
            <a:pPr indent="0" marL="0">
              <a:spcAft>
                <a:spcPts val="200"/>
              </a:spcAft>
              <a:buNone/>
            </a:pPr>
            <a:r>
              <a:rPr lang="en-US" sz="1200" dirty="0">
                <a:solidFill>
                  <a:schemeClr val="accent6"/>
                </a:solidFill>
              </a:rPr>
              <a:t>Note: severe acne scars &amp; deep pigmentation cannot be fully solved by a single peel — a combined treatment plan is needed.</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临床数据｜Clinical Evidence</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Results reported by the brand's clinical studies</a:t>
            </a:r>
            <a:endParaRPr lang="en-US" sz="3000" dirty="0"/>
          </a:p>
        </p:txBody>
      </p:sp>
      <p:sp>
        <p:nvSpPr>
          <p:cNvPr id="3" name="irritation banner"/>
          <p:cNvSpPr/>
          <p:nvPr/>
        </p:nvSpPr>
        <p:spPr>
          <a:xfrm>
            <a:off x="457200" y="1417320"/>
            <a:ext cx="11247120" cy="914400"/>
          </a:xfrm>
          <a:prstGeom prst="roundRect">
            <a:avLst>
              <a:gd name="adj" fmla="val 12000"/>
            </a:avLst>
          </a:prstGeom>
          <a:solidFill>
            <a:schemeClr val="tx2"/>
          </a:solidFill>
          <a:ln/>
        </p:spPr>
      </p:sp>
      <p:sp>
        <p:nvSpPr>
          <p:cNvPr id="4" name="irritation icon bg"/>
          <p:cNvSpPr/>
          <p:nvPr/>
        </p:nvSpPr>
        <p:spPr>
          <a:xfrm>
            <a:off x="731520" y="1645920"/>
            <a:ext cx="457200" cy="457200"/>
          </a:xfrm>
          <a:prstGeom prst="ellipse">
            <a:avLst/>
          </a:prstGeom>
          <a:solidFill>
            <a:schemeClr val="accent1"/>
          </a:solidFill>
          <a:ln/>
        </p:spPr>
      </p:sp>
      <p:pic>
        <p:nvPicPr>
          <p:cNvPr id="5" name="irritation icon" descr="irritation icon">    </p:cNvPr>
          <p:cNvPicPr>
            <a:picLocks noChangeAspect="1"/>
          </p:cNvPicPr>
          <p:nvPr/>
        </p:nvPicPr>
        <p:blipFill>
          <a:blip r:embed="rId1"/>
          <a:stretch>
            <a:fillRect/>
          </a:stretch>
        </p:blipFill>
        <p:spPr>
          <a:xfrm>
            <a:off x="850392" y="1764792"/>
            <a:ext cx="219456" cy="219456"/>
          </a:xfrm>
          <a:prstGeom prst="rect">
            <a:avLst/>
          </a:prstGeom>
        </p:spPr>
      </p:pic>
      <p:sp>
        <p:nvSpPr>
          <p:cNvPr id="6" name="Text 3"/>
          <p:cNvSpPr txBox="1"/>
          <p:nvPr/>
        </p:nvSpPr>
        <p:spPr>
          <a:xfrm>
            <a:off x="1371600" y="1417320"/>
            <a:ext cx="10149840" cy="914400"/>
          </a:xfrm>
          <a:prstGeom prst="rect">
            <a:avLst/>
          </a:prstGeom>
          <a:noFill/>
          <a:ln/>
        </p:spPr>
        <p:txBody>
          <a:bodyPr wrap="square" lIns="0" tIns="0" rIns="0" bIns="0" rtlCol="0" anchor="ctr"/>
          <a:lstStyle/>
          <a:p>
            <a:pPr indent="0" marL="0">
              <a:spcAft>
                <a:spcPts val="200"/>
              </a:spcAft>
              <a:buNone/>
            </a:pPr>
            <a:r>
              <a:rPr lang="en-US" sz="1400" b="1" dirty="0">
                <a:solidFill>
                  <a:schemeClr val="bg1"/>
                </a:solidFill>
              </a:rPr>
              <a:t>人体皮肤刺激测试：判定为无刺激（0.00% 刺激）— 无红肿、灼热、瘙痒、刺痛、紧绷</a:t>
            </a:r>
            <a:endParaRPr lang="en-US" sz="1400" dirty="0"/>
          </a:p>
          <a:p>
            <a:pPr indent="0" marL="0">
              <a:spcAft>
                <a:spcPts val="200"/>
              </a:spcAft>
              <a:buNone/>
            </a:pPr>
            <a:r>
              <a:rPr lang="en-US" sz="1200" dirty="0">
                <a:solidFill>
                  <a:srgbClr val="CFE0D2"/>
                </a:solidFill>
              </a:rPr>
              <a:t>Human skin irritation test: classified non‑irritating — no redness, swelling, burning, itching, stinging or tightness observed</a:t>
            </a:r>
            <a:endParaRPr lang="en-US" sz="1400" dirty="0"/>
          </a:p>
        </p:txBody>
      </p:sp>
      <p:sp>
        <p:nvSpPr>
          <p:cNvPr id="7" name="clinical tile 1"/>
          <p:cNvSpPr/>
          <p:nvPr/>
        </p:nvSpPr>
        <p:spPr>
          <a:xfrm>
            <a:off x="457200" y="2514600"/>
            <a:ext cx="3566160" cy="1554480"/>
          </a:xfrm>
          <a:prstGeom prst="roundRect">
            <a:avLst>
              <a:gd name="adj" fmla="val 7059"/>
            </a:avLst>
          </a:prstGeom>
          <a:solidFill>
            <a:schemeClr val="bg2"/>
          </a:solidFill>
          <a:ln/>
        </p:spPr>
      </p:sp>
      <p:sp>
        <p:nvSpPr>
          <p:cNvPr id="8" name="Text 5"/>
          <p:cNvSpPr txBox="1"/>
          <p:nvPr/>
        </p:nvSpPr>
        <p:spPr>
          <a:xfrm>
            <a:off x="548640" y="2514600"/>
            <a:ext cx="1508760" cy="1554480"/>
          </a:xfrm>
          <a:prstGeom prst="rect">
            <a:avLst/>
          </a:prstGeom>
          <a:noFill/>
          <a:ln/>
        </p:spPr>
        <p:txBody>
          <a:bodyPr wrap="square" lIns="0" tIns="0" rIns="0" bIns="0" rtlCol="0" anchor="ctr"/>
          <a:lstStyle/>
          <a:p>
            <a:pPr algn="ctr" indent="0" marL="0">
              <a:buNone/>
            </a:pPr>
            <a:r>
              <a:rPr lang="en-US" sz="2600" b="1" dirty="0">
                <a:solidFill>
                  <a:schemeClr val="accent1"/>
                </a:solidFill>
              </a:rPr>
              <a:t>50%</a:t>
            </a:r>
            <a:endParaRPr lang="en-US" sz="2600" dirty="0"/>
          </a:p>
        </p:txBody>
      </p:sp>
      <p:sp>
        <p:nvSpPr>
          <p:cNvPr id="9" name="Text 6"/>
          <p:cNvSpPr txBox="1"/>
          <p:nvPr/>
        </p:nvSpPr>
        <p:spPr>
          <a:xfrm>
            <a:off x="2103120" y="2606040"/>
            <a:ext cx="1828800" cy="1371600"/>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角质剥脱改善</a:t>
            </a:r>
            <a:endParaRPr lang="en-US" sz="1400" dirty="0"/>
          </a:p>
          <a:p>
            <a:pPr indent="0" marL="0">
              <a:spcAft>
                <a:spcPts val="300"/>
              </a:spcAft>
              <a:buNone/>
            </a:pPr>
            <a:r>
              <a:rPr lang="en-US" sz="1200" dirty="0">
                <a:solidFill>
                  <a:schemeClr val="accent6"/>
                </a:solidFill>
              </a:rPr>
              <a:t>Improved exfoliation · 3 sessions, 1‑week intervals</a:t>
            </a:r>
            <a:endParaRPr lang="en-US" sz="1400" dirty="0"/>
          </a:p>
        </p:txBody>
      </p:sp>
      <p:sp>
        <p:nvSpPr>
          <p:cNvPr id="10" name="clinical tile 2"/>
          <p:cNvSpPr/>
          <p:nvPr/>
        </p:nvSpPr>
        <p:spPr>
          <a:xfrm>
            <a:off x="4297680" y="2514600"/>
            <a:ext cx="3566160" cy="1554480"/>
          </a:xfrm>
          <a:prstGeom prst="roundRect">
            <a:avLst>
              <a:gd name="adj" fmla="val 7059"/>
            </a:avLst>
          </a:prstGeom>
          <a:solidFill>
            <a:schemeClr val="bg2"/>
          </a:solidFill>
          <a:ln/>
        </p:spPr>
      </p:sp>
      <p:sp>
        <p:nvSpPr>
          <p:cNvPr id="11" name="Text 8"/>
          <p:cNvSpPr txBox="1"/>
          <p:nvPr/>
        </p:nvSpPr>
        <p:spPr>
          <a:xfrm>
            <a:off x="4389120" y="2514600"/>
            <a:ext cx="1508760" cy="1554480"/>
          </a:xfrm>
          <a:prstGeom prst="rect">
            <a:avLst/>
          </a:prstGeom>
          <a:noFill/>
          <a:ln/>
        </p:spPr>
        <p:txBody>
          <a:bodyPr wrap="square" lIns="0" tIns="0" rIns="0" bIns="0" rtlCol="0" anchor="ctr"/>
          <a:lstStyle/>
          <a:p>
            <a:pPr algn="ctr" indent="0" marL="0">
              <a:buNone/>
            </a:pPr>
            <a:r>
              <a:rPr lang="en-US" sz="2600" b="1" dirty="0">
                <a:solidFill>
                  <a:schemeClr val="accent1"/>
                </a:solidFill>
              </a:rPr>
              <a:t>13.85%</a:t>
            </a:r>
            <a:endParaRPr lang="en-US" sz="2600" dirty="0"/>
          </a:p>
        </p:txBody>
      </p:sp>
      <p:sp>
        <p:nvSpPr>
          <p:cNvPr id="12" name="Text 9"/>
          <p:cNvSpPr txBox="1"/>
          <p:nvPr/>
        </p:nvSpPr>
        <p:spPr>
          <a:xfrm>
            <a:off x="5943600" y="2606040"/>
            <a:ext cx="1828800" cy="1371600"/>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毛孔面积改善</a:t>
            </a:r>
            <a:endParaRPr lang="en-US" sz="1400" dirty="0"/>
          </a:p>
          <a:p>
            <a:pPr indent="0" marL="0">
              <a:spcAft>
                <a:spcPts val="300"/>
              </a:spcAft>
              <a:buNone/>
            </a:pPr>
            <a:r>
              <a:rPr lang="en-US" sz="1200" dirty="0">
                <a:solidFill>
                  <a:schemeClr val="accent6"/>
                </a:solidFill>
              </a:rPr>
              <a:t>Pore area improvement</a:t>
            </a:r>
            <a:endParaRPr lang="en-US" sz="1400" dirty="0"/>
          </a:p>
        </p:txBody>
      </p:sp>
      <p:sp>
        <p:nvSpPr>
          <p:cNvPr id="13" name="clinical tile 3"/>
          <p:cNvSpPr/>
          <p:nvPr/>
        </p:nvSpPr>
        <p:spPr>
          <a:xfrm>
            <a:off x="8138160" y="2514600"/>
            <a:ext cx="3566160" cy="1554480"/>
          </a:xfrm>
          <a:prstGeom prst="roundRect">
            <a:avLst>
              <a:gd name="adj" fmla="val 7059"/>
            </a:avLst>
          </a:prstGeom>
          <a:solidFill>
            <a:schemeClr val="bg2"/>
          </a:solidFill>
          <a:ln/>
        </p:spPr>
      </p:sp>
      <p:sp>
        <p:nvSpPr>
          <p:cNvPr id="14" name="Text 11"/>
          <p:cNvSpPr txBox="1"/>
          <p:nvPr/>
        </p:nvSpPr>
        <p:spPr>
          <a:xfrm>
            <a:off x="8229600" y="2514600"/>
            <a:ext cx="1508760" cy="1554480"/>
          </a:xfrm>
          <a:prstGeom prst="rect">
            <a:avLst/>
          </a:prstGeom>
          <a:noFill/>
          <a:ln/>
        </p:spPr>
        <p:txBody>
          <a:bodyPr wrap="square" lIns="0" tIns="0" rIns="0" bIns="0" rtlCol="0" anchor="ctr"/>
          <a:lstStyle/>
          <a:p>
            <a:pPr algn="ctr" indent="0" marL="0">
              <a:buNone/>
            </a:pPr>
            <a:r>
              <a:rPr lang="en-US" sz="2600" b="1" dirty="0">
                <a:solidFill>
                  <a:schemeClr val="accent1"/>
                </a:solidFill>
              </a:rPr>
              <a:t>9.48%</a:t>
            </a:r>
            <a:endParaRPr lang="en-US" sz="2600" dirty="0"/>
          </a:p>
        </p:txBody>
      </p:sp>
      <p:sp>
        <p:nvSpPr>
          <p:cNvPr id="15" name="Text 12"/>
          <p:cNvSpPr txBox="1"/>
          <p:nvPr/>
        </p:nvSpPr>
        <p:spPr>
          <a:xfrm>
            <a:off x="9784080" y="2606040"/>
            <a:ext cx="1828800" cy="1371600"/>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皮肤密度改善</a:t>
            </a:r>
            <a:endParaRPr lang="en-US" sz="1400" dirty="0"/>
          </a:p>
          <a:p>
            <a:pPr indent="0" marL="0">
              <a:spcAft>
                <a:spcPts val="300"/>
              </a:spcAft>
              <a:buNone/>
            </a:pPr>
            <a:r>
              <a:rPr lang="en-US" sz="1200" dirty="0">
                <a:solidFill>
                  <a:schemeClr val="accent6"/>
                </a:solidFill>
              </a:rPr>
              <a:t>Skin density improvement</a:t>
            </a:r>
            <a:endParaRPr lang="en-US" sz="1400" dirty="0"/>
          </a:p>
        </p:txBody>
      </p:sp>
      <p:sp>
        <p:nvSpPr>
          <p:cNvPr id="16" name="clinical tile 4"/>
          <p:cNvSpPr/>
          <p:nvPr/>
        </p:nvSpPr>
        <p:spPr>
          <a:xfrm>
            <a:off x="457200" y="4206240"/>
            <a:ext cx="3566160" cy="1554480"/>
          </a:xfrm>
          <a:prstGeom prst="roundRect">
            <a:avLst>
              <a:gd name="adj" fmla="val 7059"/>
            </a:avLst>
          </a:prstGeom>
          <a:solidFill>
            <a:schemeClr val="bg2"/>
          </a:solidFill>
          <a:ln/>
        </p:spPr>
      </p:sp>
      <p:sp>
        <p:nvSpPr>
          <p:cNvPr id="17" name="Text 14"/>
          <p:cNvSpPr txBox="1"/>
          <p:nvPr/>
        </p:nvSpPr>
        <p:spPr>
          <a:xfrm>
            <a:off x="548640" y="4206240"/>
            <a:ext cx="1508760" cy="1554480"/>
          </a:xfrm>
          <a:prstGeom prst="rect">
            <a:avLst/>
          </a:prstGeom>
          <a:noFill/>
          <a:ln/>
        </p:spPr>
        <p:txBody>
          <a:bodyPr wrap="square" lIns="0" tIns="0" rIns="0" bIns="0" rtlCol="0" anchor="ctr"/>
          <a:lstStyle/>
          <a:p>
            <a:pPr algn="ctr" indent="0" marL="0">
              <a:buNone/>
            </a:pPr>
            <a:r>
              <a:rPr lang="en-US" sz="2600" b="1" dirty="0">
                <a:solidFill>
                  <a:schemeClr val="accent1"/>
                </a:solidFill>
              </a:rPr>
              <a:t>10.83%</a:t>
            </a:r>
            <a:endParaRPr lang="en-US" sz="2600" dirty="0"/>
          </a:p>
        </p:txBody>
      </p:sp>
      <p:sp>
        <p:nvSpPr>
          <p:cNvPr id="18" name="Text 15"/>
          <p:cNvSpPr txBox="1"/>
          <p:nvPr/>
        </p:nvSpPr>
        <p:spPr>
          <a:xfrm>
            <a:off x="2103120" y="4297680"/>
            <a:ext cx="1828800" cy="1371600"/>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外界刺激后的舒缓效果</a:t>
            </a:r>
            <a:endParaRPr lang="en-US" sz="1400" dirty="0"/>
          </a:p>
          <a:p>
            <a:pPr indent="0" marL="0">
              <a:spcAft>
                <a:spcPts val="300"/>
              </a:spcAft>
              <a:buNone/>
            </a:pPr>
            <a:r>
              <a:rPr lang="en-US" sz="1200" dirty="0">
                <a:solidFill>
                  <a:schemeClr val="accent6"/>
                </a:solidFill>
              </a:rPr>
              <a:t>Soothing effect after external irritation</a:t>
            </a:r>
            <a:endParaRPr lang="en-US" sz="1400" dirty="0"/>
          </a:p>
        </p:txBody>
      </p:sp>
      <p:sp>
        <p:nvSpPr>
          <p:cNvPr id="19" name="clinical tile 5"/>
          <p:cNvSpPr/>
          <p:nvPr/>
        </p:nvSpPr>
        <p:spPr>
          <a:xfrm>
            <a:off x="4297680" y="4206240"/>
            <a:ext cx="3566160" cy="1554480"/>
          </a:xfrm>
          <a:prstGeom prst="roundRect">
            <a:avLst>
              <a:gd name="adj" fmla="val 7059"/>
            </a:avLst>
          </a:prstGeom>
          <a:solidFill>
            <a:schemeClr val="bg2"/>
          </a:solidFill>
          <a:ln/>
        </p:spPr>
      </p:sp>
      <p:sp>
        <p:nvSpPr>
          <p:cNvPr id="20" name="Text 17"/>
          <p:cNvSpPr txBox="1"/>
          <p:nvPr/>
        </p:nvSpPr>
        <p:spPr>
          <a:xfrm>
            <a:off x="4389120" y="4206240"/>
            <a:ext cx="1508760" cy="1554480"/>
          </a:xfrm>
          <a:prstGeom prst="rect">
            <a:avLst/>
          </a:prstGeom>
          <a:noFill/>
          <a:ln/>
        </p:spPr>
        <p:txBody>
          <a:bodyPr wrap="square" lIns="0" tIns="0" rIns="0" bIns="0" rtlCol="0" anchor="ctr"/>
          <a:lstStyle/>
          <a:p>
            <a:pPr algn="ctr" indent="0" marL="0">
              <a:buNone/>
            </a:pPr>
            <a:r>
              <a:rPr lang="en-US" sz="2600" b="1" dirty="0">
                <a:solidFill>
                  <a:schemeClr val="accent1"/>
                </a:solidFill>
              </a:rPr>
              <a:t>4.96%</a:t>
            </a:r>
            <a:endParaRPr lang="en-US" sz="2600" dirty="0"/>
          </a:p>
        </p:txBody>
      </p:sp>
      <p:sp>
        <p:nvSpPr>
          <p:cNvPr id="21" name="Text 18"/>
          <p:cNvSpPr txBox="1"/>
          <p:nvPr/>
        </p:nvSpPr>
        <p:spPr>
          <a:xfrm>
            <a:off x="5943600" y="4297680"/>
            <a:ext cx="1828800" cy="1371600"/>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色素沉着改善</a:t>
            </a:r>
            <a:endParaRPr lang="en-US" sz="1400" dirty="0"/>
          </a:p>
          <a:p>
            <a:pPr indent="0" marL="0">
              <a:spcAft>
                <a:spcPts val="300"/>
              </a:spcAft>
              <a:buNone/>
            </a:pPr>
            <a:r>
              <a:rPr lang="en-US" sz="1200" dirty="0">
                <a:solidFill>
                  <a:schemeClr val="accent6"/>
                </a:solidFill>
              </a:rPr>
              <a:t>Pigmentation improvement · 3 sessions, 1‑week intervals</a:t>
            </a:r>
            <a:endParaRPr lang="en-US" sz="1400" dirty="0"/>
          </a:p>
        </p:txBody>
      </p:sp>
      <p:sp>
        <p:nvSpPr>
          <p:cNvPr id="22" name="clinical tile 6"/>
          <p:cNvSpPr/>
          <p:nvPr/>
        </p:nvSpPr>
        <p:spPr>
          <a:xfrm>
            <a:off x="8138160" y="4206240"/>
            <a:ext cx="3566160" cy="1554480"/>
          </a:xfrm>
          <a:prstGeom prst="roundRect">
            <a:avLst>
              <a:gd name="adj" fmla="val 7059"/>
            </a:avLst>
          </a:prstGeom>
          <a:solidFill>
            <a:schemeClr val="bg2"/>
          </a:solidFill>
          <a:ln/>
        </p:spPr>
      </p:sp>
      <p:sp>
        <p:nvSpPr>
          <p:cNvPr id="23" name="Text 20"/>
          <p:cNvSpPr txBox="1"/>
          <p:nvPr/>
        </p:nvSpPr>
        <p:spPr>
          <a:xfrm>
            <a:off x="8229600" y="4206240"/>
            <a:ext cx="1508760" cy="1554480"/>
          </a:xfrm>
          <a:prstGeom prst="rect">
            <a:avLst/>
          </a:prstGeom>
          <a:noFill/>
          <a:ln/>
        </p:spPr>
        <p:txBody>
          <a:bodyPr wrap="square" lIns="0" tIns="0" rIns="0" bIns="0" rtlCol="0" anchor="ctr"/>
          <a:lstStyle/>
          <a:p>
            <a:pPr algn="ctr" indent="0" marL="0">
              <a:buNone/>
            </a:pPr>
            <a:r>
              <a:rPr lang="en-US" sz="2600" b="1" dirty="0">
                <a:solidFill>
                  <a:schemeClr val="accent1"/>
                </a:solidFill>
              </a:rPr>
              <a:t>6.73%</a:t>
            </a:r>
            <a:endParaRPr lang="en-US" sz="2600" dirty="0"/>
          </a:p>
        </p:txBody>
      </p:sp>
      <p:sp>
        <p:nvSpPr>
          <p:cNvPr id="24" name="Text 21"/>
          <p:cNvSpPr txBox="1"/>
          <p:nvPr/>
        </p:nvSpPr>
        <p:spPr>
          <a:xfrm>
            <a:off x="9784080" y="4297680"/>
            <a:ext cx="1828800" cy="1371600"/>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皱纹与弹性改善</a:t>
            </a:r>
            <a:endParaRPr lang="en-US" sz="1400" dirty="0"/>
          </a:p>
          <a:p>
            <a:pPr indent="0" marL="0">
              <a:spcAft>
                <a:spcPts val="300"/>
              </a:spcAft>
              <a:buNone/>
            </a:pPr>
            <a:r>
              <a:rPr lang="en-US" sz="1200" dirty="0">
                <a:solidFill>
                  <a:schemeClr val="accent6"/>
                </a:solidFill>
              </a:rPr>
              <a:t>Wrinkle &amp; elasticity improvement · Youth P‑Sol™ study, 113 adults</a:t>
            </a:r>
            <a:endParaRPr lang="en-US" sz="1400" dirty="0"/>
          </a:p>
        </p:txBody>
      </p:sp>
      <p:sp>
        <p:nvSpPr>
          <p:cNvPr id="25" name="Text 22"/>
          <p:cNvSpPr txBox="1"/>
          <p:nvPr/>
        </p:nvSpPr>
        <p:spPr>
          <a:xfrm>
            <a:off x="457200" y="5943600"/>
            <a:ext cx="11247120" cy="365760"/>
          </a:xfrm>
          <a:prstGeom prst="rect">
            <a:avLst/>
          </a:prstGeom>
          <a:noFill/>
          <a:ln/>
        </p:spPr>
        <p:txBody>
          <a:bodyPr wrap="square" lIns="0" tIns="0" rIns="0" bIns="0" rtlCol="0" anchor="t"/>
          <a:lstStyle/>
          <a:p>
            <a:pPr indent="0" marL="0">
              <a:spcAft>
                <a:spcPts val="300"/>
              </a:spcAft>
              <a:buNone/>
            </a:pPr>
            <a:r>
              <a:rPr lang="en-US" sz="1000" dirty="0">
                <a:solidFill>
                  <a:schemeClr val="accent6"/>
                </a:solidFill>
              </a:rPr>
              <a:t>资料来源 Source: XE‑LHA Brand Introduction (YSmedi, 2026). 个体效果因人而异，请勿向客人承诺相同结果 · Individual results vary — never promise identical outcomes.</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bg1"/>
                </a:solidFill>
                <a:latin typeface="Calibri" pitchFamily="34" charset="0"/>
                <a:ea typeface="Calibri" pitchFamily="34" charset="-122"/>
                <a:cs typeface="Calibri" pitchFamily="34" charset="-120"/>
              </a:rPr>
              <a:t>第二部分｜了解焕肤原理与 Facial 的区别</a:t>
            </a:r>
            <a:endParaRPr lang="en-US" sz="3000" dirty="0"/>
          </a:p>
          <a:p>
            <a:pPr algn="l" indent="0" marL="0">
              <a:buNone/>
            </a:pPr>
            <a:r>
              <a:rPr lang="en-US" sz="1600" dirty="0">
                <a:solidFill>
                  <a:srgbClr val="CFE0D2"/>
                </a:solidFill>
                <a:latin typeface="Calibri" pitchFamily="34" charset="0"/>
                <a:ea typeface="Calibri" pitchFamily="34" charset="-122"/>
                <a:cs typeface="Calibri" pitchFamily="34" charset="-120"/>
              </a:rPr>
              <a:t>Part 2 · Understanding how peeling works — and how it differs from a facial</a:t>
            </a:r>
            <a:endParaRPr lang="en-US" sz="3000" dirty="0"/>
          </a:p>
        </p:txBody>
      </p:sp>
      <p:sp>
        <p:nvSpPr>
          <p:cNvPr id="3" name="goal card 1"/>
          <p:cNvSpPr/>
          <p:nvPr/>
        </p:nvSpPr>
        <p:spPr>
          <a:xfrm>
            <a:off x="457200" y="1508760"/>
            <a:ext cx="11247120" cy="804672"/>
          </a:xfrm>
          <a:prstGeom prst="roundRect">
            <a:avLst>
              <a:gd name="adj" fmla="val 13636"/>
            </a:avLst>
          </a:prstGeom>
          <a:solidFill>
            <a:srgbClr val="3D5F4A"/>
          </a:solidFill>
          <a:ln/>
        </p:spPr>
      </p:sp>
      <p:sp>
        <p:nvSpPr>
          <p:cNvPr id="4" name="num 1"/>
          <p:cNvSpPr txBox="1"/>
          <p:nvPr/>
        </p:nvSpPr>
        <p:spPr>
          <a:xfrm>
            <a:off x="685800" y="1655064"/>
            <a:ext cx="512064" cy="512064"/>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463040" y="1508760"/>
            <a:ext cx="10058400" cy="804672"/>
          </a:xfrm>
          <a:prstGeom prst="rect">
            <a:avLst/>
          </a:prstGeom>
          <a:noFill/>
          <a:ln/>
        </p:spPr>
        <p:txBody>
          <a:bodyPr wrap="square" lIns="0" tIns="0" rIns="0" bIns="0" rtlCol="0" anchor="ctr"/>
          <a:lstStyle/>
          <a:p>
            <a:pPr indent="0" marL="0">
              <a:spcAft>
                <a:spcPts val="100"/>
              </a:spcAft>
              <a:buNone/>
            </a:pPr>
            <a:r>
              <a:rPr lang="en-US" sz="1700" b="1" dirty="0">
                <a:solidFill>
                  <a:schemeClr val="bg1"/>
                </a:solidFill>
              </a:rPr>
              <a:t>为什么做完 XE LHA Peel，皮肤会变亮、变滑？</a:t>
            </a:r>
            <a:endParaRPr lang="en-US" sz="1700" dirty="0"/>
          </a:p>
          <a:p>
            <a:pPr indent="0" marL="0">
              <a:spcAft>
                <a:spcPts val="100"/>
              </a:spcAft>
              <a:buNone/>
            </a:pPr>
            <a:r>
              <a:rPr lang="en-US" sz="1300" dirty="0">
                <a:solidFill>
                  <a:srgbClr val="CFE0D2"/>
                </a:solidFill>
              </a:rPr>
              <a:t>Why does skin look brighter and smoother after XE LHA Peel?</a:t>
            </a:r>
            <a:endParaRPr lang="en-US" sz="1700" dirty="0"/>
          </a:p>
        </p:txBody>
      </p:sp>
      <p:sp>
        <p:nvSpPr>
          <p:cNvPr id="6" name="goal card 2"/>
          <p:cNvSpPr/>
          <p:nvPr/>
        </p:nvSpPr>
        <p:spPr>
          <a:xfrm>
            <a:off x="457200" y="2441448"/>
            <a:ext cx="11247120" cy="804672"/>
          </a:xfrm>
          <a:prstGeom prst="roundRect">
            <a:avLst>
              <a:gd name="adj" fmla="val 13636"/>
            </a:avLst>
          </a:prstGeom>
          <a:solidFill>
            <a:srgbClr val="3D5F4A"/>
          </a:solidFill>
          <a:ln/>
        </p:spPr>
      </p:sp>
      <p:sp>
        <p:nvSpPr>
          <p:cNvPr id="7" name="num 2"/>
          <p:cNvSpPr txBox="1"/>
          <p:nvPr/>
        </p:nvSpPr>
        <p:spPr>
          <a:xfrm>
            <a:off x="685800" y="2587752"/>
            <a:ext cx="512064" cy="512064"/>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1463040" y="2441448"/>
            <a:ext cx="10058400" cy="804672"/>
          </a:xfrm>
          <a:prstGeom prst="rect">
            <a:avLst/>
          </a:prstGeom>
          <a:noFill/>
          <a:ln/>
        </p:spPr>
        <p:txBody>
          <a:bodyPr wrap="square" lIns="0" tIns="0" rIns="0" bIns="0" rtlCol="0" anchor="ctr"/>
          <a:lstStyle/>
          <a:p>
            <a:pPr indent="0" marL="0">
              <a:spcAft>
                <a:spcPts val="100"/>
              </a:spcAft>
              <a:buNone/>
            </a:pPr>
            <a:r>
              <a:rPr lang="en-US" sz="1700" b="1" dirty="0">
                <a:solidFill>
                  <a:schemeClr val="bg1"/>
                </a:solidFill>
              </a:rPr>
              <a:t>XE LHA Peel 和普通 Facial 有什么不同？</a:t>
            </a:r>
            <a:endParaRPr lang="en-US" sz="1700" dirty="0"/>
          </a:p>
          <a:p>
            <a:pPr indent="0" marL="0">
              <a:spcAft>
                <a:spcPts val="100"/>
              </a:spcAft>
              <a:buNone/>
            </a:pPr>
            <a:r>
              <a:rPr lang="en-US" sz="1300" dirty="0">
                <a:solidFill>
                  <a:srgbClr val="CFE0D2"/>
                </a:solidFill>
              </a:rPr>
              <a:t>How is XE LHA Peel different from a regular facial?</a:t>
            </a:r>
            <a:endParaRPr lang="en-US" sz="1700" dirty="0"/>
          </a:p>
        </p:txBody>
      </p:sp>
      <p:sp>
        <p:nvSpPr>
          <p:cNvPr id="9" name="goal card 3"/>
          <p:cNvSpPr/>
          <p:nvPr/>
        </p:nvSpPr>
        <p:spPr>
          <a:xfrm>
            <a:off x="457200" y="3374136"/>
            <a:ext cx="11247120" cy="804672"/>
          </a:xfrm>
          <a:prstGeom prst="roundRect">
            <a:avLst>
              <a:gd name="adj" fmla="val 13636"/>
            </a:avLst>
          </a:prstGeom>
          <a:solidFill>
            <a:srgbClr val="3D5F4A"/>
          </a:solidFill>
          <a:ln/>
        </p:spPr>
      </p:sp>
      <p:sp>
        <p:nvSpPr>
          <p:cNvPr id="10" name="num 3"/>
          <p:cNvSpPr txBox="1"/>
          <p:nvPr/>
        </p:nvSpPr>
        <p:spPr>
          <a:xfrm>
            <a:off x="685800" y="3520440"/>
            <a:ext cx="512064" cy="512064"/>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1463040" y="3374136"/>
            <a:ext cx="10058400" cy="804672"/>
          </a:xfrm>
          <a:prstGeom prst="rect">
            <a:avLst/>
          </a:prstGeom>
          <a:noFill/>
          <a:ln/>
        </p:spPr>
        <p:txBody>
          <a:bodyPr wrap="square" lIns="0" tIns="0" rIns="0" bIns="0" rtlCol="0" anchor="ctr"/>
          <a:lstStyle/>
          <a:p>
            <a:pPr indent="0" marL="0">
              <a:spcAft>
                <a:spcPts val="100"/>
              </a:spcAft>
              <a:buNone/>
            </a:pPr>
            <a:r>
              <a:rPr lang="en-US" sz="1700" b="1" dirty="0">
                <a:solidFill>
                  <a:schemeClr val="bg1"/>
                </a:solidFill>
              </a:rPr>
              <a:t>LHA、AHA、BHA 有什么区别？</a:t>
            </a:r>
            <a:endParaRPr lang="en-US" sz="1700" dirty="0"/>
          </a:p>
          <a:p>
            <a:pPr indent="0" marL="0">
              <a:spcAft>
                <a:spcPts val="100"/>
              </a:spcAft>
              <a:buNone/>
            </a:pPr>
            <a:r>
              <a:rPr lang="en-US" sz="1300" dirty="0">
                <a:solidFill>
                  <a:srgbClr val="CFE0D2"/>
                </a:solidFill>
              </a:rPr>
              <a:t>What are the differences between LHA, AHA and BHA?</a:t>
            </a:r>
            <a:endParaRPr lang="en-US" sz="1700" dirty="0"/>
          </a:p>
        </p:txBody>
      </p:sp>
      <p:sp>
        <p:nvSpPr>
          <p:cNvPr id="12" name="goal card 4"/>
          <p:cNvSpPr/>
          <p:nvPr/>
        </p:nvSpPr>
        <p:spPr>
          <a:xfrm>
            <a:off x="457200" y="4306824"/>
            <a:ext cx="11247120" cy="804672"/>
          </a:xfrm>
          <a:prstGeom prst="roundRect">
            <a:avLst>
              <a:gd name="adj" fmla="val 13636"/>
            </a:avLst>
          </a:prstGeom>
          <a:solidFill>
            <a:srgbClr val="3D5F4A"/>
          </a:solidFill>
          <a:ln/>
        </p:spPr>
      </p:sp>
      <p:sp>
        <p:nvSpPr>
          <p:cNvPr id="13" name="num 4"/>
          <p:cNvSpPr txBox="1"/>
          <p:nvPr/>
        </p:nvSpPr>
        <p:spPr>
          <a:xfrm>
            <a:off x="685800" y="4453128"/>
            <a:ext cx="512064" cy="512064"/>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Text 12"/>
          <p:cNvSpPr txBox="1"/>
          <p:nvPr/>
        </p:nvSpPr>
        <p:spPr>
          <a:xfrm>
            <a:off x="1463040" y="4306824"/>
            <a:ext cx="10058400" cy="804672"/>
          </a:xfrm>
          <a:prstGeom prst="rect">
            <a:avLst/>
          </a:prstGeom>
          <a:noFill/>
          <a:ln/>
        </p:spPr>
        <p:txBody>
          <a:bodyPr wrap="square" lIns="0" tIns="0" rIns="0" bIns="0" rtlCol="0" anchor="ctr"/>
          <a:lstStyle/>
          <a:p>
            <a:pPr indent="0" marL="0">
              <a:spcAft>
                <a:spcPts val="100"/>
              </a:spcAft>
              <a:buNone/>
            </a:pPr>
            <a:r>
              <a:rPr lang="en-US" sz="1700" b="1" dirty="0">
                <a:solidFill>
                  <a:schemeClr val="bg1"/>
                </a:solidFill>
              </a:rPr>
              <a:t>为什么顾客需要定期护理——但不能过度？</a:t>
            </a:r>
            <a:endParaRPr lang="en-US" sz="1700" dirty="0"/>
          </a:p>
          <a:p>
            <a:pPr indent="0" marL="0">
              <a:spcAft>
                <a:spcPts val="100"/>
              </a:spcAft>
              <a:buNone/>
            </a:pPr>
            <a:r>
              <a:rPr lang="en-US" sz="1300" dirty="0">
                <a:solidFill>
                  <a:srgbClr val="CFE0D2"/>
                </a:solidFill>
              </a:rPr>
              <a:t>Why do clients need regular care — but never too much?</a:t>
            </a:r>
            <a:endParaRPr lang="en-US" sz="1700" dirty="0"/>
          </a:p>
        </p:txBody>
      </p:sp>
      <p:sp>
        <p:nvSpPr>
          <p:cNvPr id="15" name="goal card 5"/>
          <p:cNvSpPr/>
          <p:nvPr/>
        </p:nvSpPr>
        <p:spPr>
          <a:xfrm>
            <a:off x="457200" y="5239512"/>
            <a:ext cx="11247120" cy="804672"/>
          </a:xfrm>
          <a:prstGeom prst="roundRect">
            <a:avLst>
              <a:gd name="adj" fmla="val 13636"/>
            </a:avLst>
          </a:prstGeom>
          <a:solidFill>
            <a:srgbClr val="3D5F4A"/>
          </a:solidFill>
          <a:ln/>
        </p:spPr>
      </p:sp>
      <p:sp>
        <p:nvSpPr>
          <p:cNvPr id="16" name="num 5"/>
          <p:cNvSpPr txBox="1"/>
          <p:nvPr/>
        </p:nvSpPr>
        <p:spPr>
          <a:xfrm>
            <a:off x="685800" y="5385816"/>
            <a:ext cx="512064" cy="512064"/>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7" name="Text 15"/>
          <p:cNvSpPr txBox="1"/>
          <p:nvPr/>
        </p:nvSpPr>
        <p:spPr>
          <a:xfrm>
            <a:off x="1463040" y="5239512"/>
            <a:ext cx="10058400" cy="804672"/>
          </a:xfrm>
          <a:prstGeom prst="rect">
            <a:avLst/>
          </a:prstGeom>
          <a:noFill/>
          <a:ln/>
        </p:spPr>
        <p:txBody>
          <a:bodyPr wrap="square" lIns="0" tIns="0" rIns="0" bIns="0" rtlCol="0" anchor="ctr"/>
          <a:lstStyle/>
          <a:p>
            <a:pPr indent="0" marL="0">
              <a:spcAft>
                <a:spcPts val="100"/>
              </a:spcAft>
              <a:buNone/>
            </a:pPr>
            <a:r>
              <a:rPr lang="en-US" sz="1700" b="1" dirty="0">
                <a:solidFill>
                  <a:schemeClr val="bg1"/>
                </a:solidFill>
              </a:rPr>
              <a:t>如何向顾客解释 XE LHA Peel 的价值？</a:t>
            </a:r>
            <a:endParaRPr lang="en-US" sz="1700" dirty="0"/>
          </a:p>
          <a:p>
            <a:pPr indent="0" marL="0">
              <a:spcAft>
                <a:spcPts val="100"/>
              </a:spcAft>
              <a:buNone/>
            </a:pPr>
            <a:r>
              <a:rPr lang="en-US" sz="1300" dirty="0">
                <a:solidFill>
                  <a:srgbClr val="CFE0D2"/>
                </a:solidFill>
              </a:rPr>
              <a:t>How do we explain the value of XE LHA Peel to clients?</a:t>
            </a:r>
            <a:endParaRPr lang="en-US" sz="1700" dirty="0"/>
          </a:p>
        </p:txBody>
      </p:sp>
      <p:sp>
        <p:nvSpPr>
          <p:cNvPr id="18" name="Text 16"/>
          <p:cNvSpPr txBox="1"/>
          <p:nvPr/>
        </p:nvSpPr>
        <p:spPr>
          <a:xfrm>
            <a:off x="457200" y="6172200"/>
            <a:ext cx="11247120" cy="274320"/>
          </a:xfrm>
          <a:prstGeom prst="rect">
            <a:avLst/>
          </a:prstGeom>
          <a:noFill/>
          <a:ln/>
        </p:spPr>
        <p:txBody>
          <a:bodyPr wrap="square" lIns="0" tIns="0" rIns="0" bIns="0" rtlCol="0" anchor="t"/>
          <a:lstStyle/>
          <a:p>
            <a:pPr indent="0" marL="0">
              <a:spcAft>
                <a:spcPts val="300"/>
              </a:spcAft>
              <a:buNone/>
            </a:pPr>
            <a:r>
              <a:rPr lang="en-US" sz="1300" dirty="0">
                <a:solidFill>
                  <a:srgbClr val="CFE0D2"/>
                </a:solidFill>
              </a:rPr>
              <a:t>培训目标：不只记功效，更要理解原理 · Goal: understand the “why”, not just memorise claims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0D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为什么皮肤会变亮、变滑？</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Why does skin look brighter and smoother? · The mirror analogy</a:t>
            </a:r>
            <a:endParaRPr lang="en-US" sz="3000" dirty="0"/>
          </a:p>
        </p:txBody>
      </p:sp>
      <p:sp>
        <p:nvSpPr>
          <p:cNvPr id="3" name="dusty mirror"/>
          <p:cNvSpPr/>
          <p:nvPr/>
        </p:nvSpPr>
        <p:spPr>
          <a:xfrm>
            <a:off x="640080" y="1463040"/>
            <a:ext cx="2286000" cy="2103120"/>
          </a:xfrm>
          <a:prstGeom prst="roundRect">
            <a:avLst>
              <a:gd name="adj" fmla="val 6522"/>
            </a:avLst>
          </a:prstGeom>
          <a:solidFill>
            <a:srgbClr val="D5DBD8"/>
          </a:solidFill>
          <a:ln w="38100">
            <a:solidFill>
              <a:schemeClr val="accent4"/>
            </a:solidFill>
            <a:prstDash val="solid"/>
          </a:ln>
        </p:spPr>
      </p:sp>
      <p:sp>
        <p:nvSpPr>
          <p:cNvPr id="4" name="dust 0"/>
          <p:cNvSpPr/>
          <p:nvPr/>
        </p:nvSpPr>
        <p:spPr>
          <a:xfrm>
            <a:off x="777240" y="1600200"/>
            <a:ext cx="109728" cy="109728"/>
          </a:xfrm>
          <a:prstGeom prst="ellipse">
            <a:avLst/>
          </a:prstGeom>
          <a:solidFill>
            <a:srgbClr val="8A938E"/>
          </a:solidFill>
          <a:ln/>
        </p:spPr>
      </p:sp>
      <p:sp>
        <p:nvSpPr>
          <p:cNvPr id="5" name="dust 1"/>
          <p:cNvSpPr/>
          <p:nvPr/>
        </p:nvSpPr>
        <p:spPr>
          <a:xfrm>
            <a:off x="2240280" y="2971800"/>
            <a:ext cx="201168" cy="201168"/>
          </a:xfrm>
          <a:prstGeom prst="ellipse">
            <a:avLst/>
          </a:prstGeom>
          <a:solidFill>
            <a:srgbClr val="8A938E"/>
          </a:solidFill>
          <a:ln/>
        </p:spPr>
      </p:sp>
      <p:sp>
        <p:nvSpPr>
          <p:cNvPr id="6" name="dust 2"/>
          <p:cNvSpPr/>
          <p:nvPr/>
        </p:nvSpPr>
        <p:spPr>
          <a:xfrm>
            <a:off x="1783080" y="2606040"/>
            <a:ext cx="292608" cy="292608"/>
          </a:xfrm>
          <a:prstGeom prst="ellipse">
            <a:avLst/>
          </a:prstGeom>
          <a:solidFill>
            <a:srgbClr val="8A938E"/>
          </a:solidFill>
          <a:ln/>
        </p:spPr>
      </p:sp>
      <p:sp>
        <p:nvSpPr>
          <p:cNvPr id="7" name="dust 3"/>
          <p:cNvSpPr/>
          <p:nvPr/>
        </p:nvSpPr>
        <p:spPr>
          <a:xfrm>
            <a:off x="1325880" y="2240280"/>
            <a:ext cx="155448" cy="155448"/>
          </a:xfrm>
          <a:prstGeom prst="ellipse">
            <a:avLst/>
          </a:prstGeom>
          <a:solidFill>
            <a:srgbClr val="8A938E"/>
          </a:solidFill>
          <a:ln/>
        </p:spPr>
      </p:sp>
      <p:sp>
        <p:nvSpPr>
          <p:cNvPr id="8" name="dust 4"/>
          <p:cNvSpPr/>
          <p:nvPr/>
        </p:nvSpPr>
        <p:spPr>
          <a:xfrm>
            <a:off x="868680" y="1874520"/>
            <a:ext cx="246888" cy="246888"/>
          </a:xfrm>
          <a:prstGeom prst="ellipse">
            <a:avLst/>
          </a:prstGeom>
          <a:solidFill>
            <a:srgbClr val="8A938E"/>
          </a:solidFill>
          <a:ln/>
        </p:spPr>
      </p:sp>
      <p:sp>
        <p:nvSpPr>
          <p:cNvPr id="9" name="dust 5"/>
          <p:cNvSpPr/>
          <p:nvPr/>
        </p:nvSpPr>
        <p:spPr>
          <a:xfrm>
            <a:off x="2331720" y="3246120"/>
            <a:ext cx="109728" cy="109728"/>
          </a:xfrm>
          <a:prstGeom prst="ellipse">
            <a:avLst/>
          </a:prstGeom>
          <a:solidFill>
            <a:srgbClr val="8A938E"/>
          </a:solidFill>
          <a:ln/>
        </p:spPr>
      </p:sp>
      <p:sp>
        <p:nvSpPr>
          <p:cNvPr id="10" name="dust 6"/>
          <p:cNvSpPr/>
          <p:nvPr/>
        </p:nvSpPr>
        <p:spPr>
          <a:xfrm>
            <a:off x="1874520" y="2880360"/>
            <a:ext cx="201168" cy="201168"/>
          </a:xfrm>
          <a:prstGeom prst="ellipse">
            <a:avLst/>
          </a:prstGeom>
          <a:solidFill>
            <a:srgbClr val="8A938E"/>
          </a:solidFill>
          <a:ln/>
        </p:spPr>
      </p:sp>
      <p:sp>
        <p:nvSpPr>
          <p:cNvPr id="11" name="dust 7"/>
          <p:cNvSpPr/>
          <p:nvPr/>
        </p:nvSpPr>
        <p:spPr>
          <a:xfrm>
            <a:off x="1417320" y="2514600"/>
            <a:ext cx="292608" cy="292608"/>
          </a:xfrm>
          <a:prstGeom prst="ellipse">
            <a:avLst/>
          </a:prstGeom>
          <a:solidFill>
            <a:srgbClr val="8A938E"/>
          </a:solidFill>
          <a:ln/>
        </p:spPr>
      </p:sp>
      <p:sp>
        <p:nvSpPr>
          <p:cNvPr id="12" name="dust 8"/>
          <p:cNvSpPr/>
          <p:nvPr/>
        </p:nvSpPr>
        <p:spPr>
          <a:xfrm>
            <a:off x="960120" y="2148840"/>
            <a:ext cx="155448" cy="155448"/>
          </a:xfrm>
          <a:prstGeom prst="ellipse">
            <a:avLst/>
          </a:prstGeom>
          <a:solidFill>
            <a:srgbClr val="8A938E"/>
          </a:solidFill>
          <a:ln/>
        </p:spPr>
      </p:sp>
      <p:sp>
        <p:nvSpPr>
          <p:cNvPr id="13" name="dust 9"/>
          <p:cNvSpPr/>
          <p:nvPr/>
        </p:nvSpPr>
        <p:spPr>
          <a:xfrm>
            <a:off x="2423160" y="1783080"/>
            <a:ext cx="246888" cy="246888"/>
          </a:xfrm>
          <a:prstGeom prst="ellipse">
            <a:avLst/>
          </a:prstGeom>
          <a:solidFill>
            <a:srgbClr val="8A938E"/>
          </a:solidFill>
          <a:ln/>
        </p:spPr>
      </p:sp>
      <p:sp>
        <p:nvSpPr>
          <p:cNvPr id="14" name="dust 10"/>
          <p:cNvSpPr/>
          <p:nvPr/>
        </p:nvSpPr>
        <p:spPr>
          <a:xfrm>
            <a:off x="1965960" y="3154680"/>
            <a:ext cx="109728" cy="109728"/>
          </a:xfrm>
          <a:prstGeom prst="ellipse">
            <a:avLst/>
          </a:prstGeom>
          <a:solidFill>
            <a:srgbClr val="8A938E"/>
          </a:solidFill>
          <a:ln/>
        </p:spPr>
      </p:sp>
      <p:sp>
        <p:nvSpPr>
          <p:cNvPr id="15" name="dust 11"/>
          <p:cNvSpPr/>
          <p:nvPr/>
        </p:nvSpPr>
        <p:spPr>
          <a:xfrm>
            <a:off x="1508760" y="2788920"/>
            <a:ext cx="201168" cy="201168"/>
          </a:xfrm>
          <a:prstGeom prst="ellipse">
            <a:avLst/>
          </a:prstGeom>
          <a:solidFill>
            <a:srgbClr val="8A938E"/>
          </a:solidFill>
          <a:ln/>
        </p:spPr>
      </p:sp>
      <p:sp>
        <p:nvSpPr>
          <p:cNvPr id="16" name="dust 12"/>
          <p:cNvSpPr/>
          <p:nvPr/>
        </p:nvSpPr>
        <p:spPr>
          <a:xfrm>
            <a:off x="1051560" y="2423160"/>
            <a:ext cx="292608" cy="292608"/>
          </a:xfrm>
          <a:prstGeom prst="ellipse">
            <a:avLst/>
          </a:prstGeom>
          <a:solidFill>
            <a:srgbClr val="8A938E"/>
          </a:solidFill>
          <a:ln/>
        </p:spPr>
      </p:sp>
      <p:sp>
        <p:nvSpPr>
          <p:cNvPr id="17" name="dust 13"/>
          <p:cNvSpPr/>
          <p:nvPr/>
        </p:nvSpPr>
        <p:spPr>
          <a:xfrm>
            <a:off x="2514600" y="2057400"/>
            <a:ext cx="155448" cy="155448"/>
          </a:xfrm>
          <a:prstGeom prst="ellipse">
            <a:avLst/>
          </a:prstGeom>
          <a:solidFill>
            <a:srgbClr val="8A938E"/>
          </a:solidFill>
          <a:ln/>
        </p:spPr>
      </p:sp>
      <p:sp>
        <p:nvSpPr>
          <p:cNvPr id="18" name="dust 14"/>
          <p:cNvSpPr/>
          <p:nvPr/>
        </p:nvSpPr>
        <p:spPr>
          <a:xfrm>
            <a:off x="2057400" y="1691640"/>
            <a:ext cx="246888" cy="246888"/>
          </a:xfrm>
          <a:prstGeom prst="ellipse">
            <a:avLst/>
          </a:prstGeom>
          <a:solidFill>
            <a:srgbClr val="8A938E"/>
          </a:solidFill>
          <a:ln/>
        </p:spPr>
      </p:sp>
      <p:sp>
        <p:nvSpPr>
          <p:cNvPr id="19" name="dust 15"/>
          <p:cNvSpPr/>
          <p:nvPr/>
        </p:nvSpPr>
        <p:spPr>
          <a:xfrm>
            <a:off x="1600200" y="3063240"/>
            <a:ext cx="109728" cy="109728"/>
          </a:xfrm>
          <a:prstGeom prst="ellipse">
            <a:avLst/>
          </a:prstGeom>
          <a:solidFill>
            <a:srgbClr val="8A938E"/>
          </a:solidFill>
          <a:ln/>
        </p:spPr>
      </p:sp>
      <p:sp>
        <p:nvSpPr>
          <p:cNvPr id="20" name="dust 16"/>
          <p:cNvSpPr/>
          <p:nvPr/>
        </p:nvSpPr>
        <p:spPr>
          <a:xfrm>
            <a:off x="1143000" y="2697480"/>
            <a:ext cx="201168" cy="201168"/>
          </a:xfrm>
          <a:prstGeom prst="ellipse">
            <a:avLst/>
          </a:prstGeom>
          <a:solidFill>
            <a:srgbClr val="8A938E"/>
          </a:solidFill>
          <a:ln/>
        </p:spPr>
      </p:sp>
      <p:sp>
        <p:nvSpPr>
          <p:cNvPr id="21" name="dust 17"/>
          <p:cNvSpPr/>
          <p:nvPr/>
        </p:nvSpPr>
        <p:spPr>
          <a:xfrm>
            <a:off x="2606040" y="2331720"/>
            <a:ext cx="292608" cy="292608"/>
          </a:xfrm>
          <a:prstGeom prst="ellipse">
            <a:avLst/>
          </a:prstGeom>
          <a:solidFill>
            <a:srgbClr val="8A938E"/>
          </a:solidFill>
          <a:ln/>
        </p:spPr>
      </p:sp>
      <p:sp>
        <p:nvSpPr>
          <p:cNvPr id="22" name="dust 18"/>
          <p:cNvSpPr/>
          <p:nvPr/>
        </p:nvSpPr>
        <p:spPr>
          <a:xfrm>
            <a:off x="2148840" y="1965960"/>
            <a:ext cx="155448" cy="155448"/>
          </a:xfrm>
          <a:prstGeom prst="ellipse">
            <a:avLst/>
          </a:prstGeom>
          <a:solidFill>
            <a:srgbClr val="8A938E"/>
          </a:solidFill>
          <a:ln/>
        </p:spPr>
      </p:sp>
      <p:sp>
        <p:nvSpPr>
          <p:cNvPr id="23" name="dust 19"/>
          <p:cNvSpPr/>
          <p:nvPr/>
        </p:nvSpPr>
        <p:spPr>
          <a:xfrm>
            <a:off x="1691640" y="1600200"/>
            <a:ext cx="246888" cy="246888"/>
          </a:xfrm>
          <a:prstGeom prst="ellipse">
            <a:avLst/>
          </a:prstGeom>
          <a:solidFill>
            <a:srgbClr val="8A938E"/>
          </a:solidFill>
          <a:ln/>
        </p:spPr>
      </p:sp>
      <p:sp>
        <p:nvSpPr>
          <p:cNvPr id="24" name="dust 20"/>
          <p:cNvSpPr/>
          <p:nvPr/>
        </p:nvSpPr>
        <p:spPr>
          <a:xfrm>
            <a:off x="1234440" y="2971800"/>
            <a:ext cx="109728" cy="109728"/>
          </a:xfrm>
          <a:prstGeom prst="ellipse">
            <a:avLst/>
          </a:prstGeom>
          <a:solidFill>
            <a:srgbClr val="8A938E"/>
          </a:solidFill>
          <a:ln/>
        </p:spPr>
      </p:sp>
      <p:sp>
        <p:nvSpPr>
          <p:cNvPr id="25" name="dust 21"/>
          <p:cNvSpPr/>
          <p:nvPr/>
        </p:nvSpPr>
        <p:spPr>
          <a:xfrm>
            <a:off x="777240" y="2606040"/>
            <a:ext cx="201168" cy="201168"/>
          </a:xfrm>
          <a:prstGeom prst="ellipse">
            <a:avLst/>
          </a:prstGeom>
          <a:solidFill>
            <a:srgbClr val="8A938E"/>
          </a:solidFill>
          <a:ln/>
        </p:spPr>
      </p:sp>
      <p:sp>
        <p:nvSpPr>
          <p:cNvPr id="26" name="dust 22"/>
          <p:cNvSpPr/>
          <p:nvPr/>
        </p:nvSpPr>
        <p:spPr>
          <a:xfrm>
            <a:off x="2240280" y="2240280"/>
            <a:ext cx="292608" cy="292608"/>
          </a:xfrm>
          <a:prstGeom prst="ellipse">
            <a:avLst/>
          </a:prstGeom>
          <a:solidFill>
            <a:srgbClr val="8A938E"/>
          </a:solidFill>
          <a:ln/>
        </p:spPr>
      </p:sp>
      <p:sp>
        <p:nvSpPr>
          <p:cNvPr id="27" name="dust 23"/>
          <p:cNvSpPr/>
          <p:nvPr/>
        </p:nvSpPr>
        <p:spPr>
          <a:xfrm>
            <a:off x="1783080" y="1874520"/>
            <a:ext cx="155448" cy="155448"/>
          </a:xfrm>
          <a:prstGeom prst="ellipse">
            <a:avLst/>
          </a:prstGeom>
          <a:solidFill>
            <a:srgbClr val="8A938E"/>
          </a:solidFill>
          <a:ln/>
        </p:spPr>
      </p:sp>
      <p:sp>
        <p:nvSpPr>
          <p:cNvPr id="28" name="dust 24"/>
          <p:cNvSpPr/>
          <p:nvPr/>
        </p:nvSpPr>
        <p:spPr>
          <a:xfrm>
            <a:off x="1325880" y="3246120"/>
            <a:ext cx="246888" cy="246888"/>
          </a:xfrm>
          <a:prstGeom prst="ellipse">
            <a:avLst/>
          </a:prstGeom>
          <a:solidFill>
            <a:srgbClr val="8A938E"/>
          </a:solidFill>
          <a:ln/>
        </p:spPr>
      </p:sp>
      <p:sp>
        <p:nvSpPr>
          <p:cNvPr id="29" name="dust 25"/>
          <p:cNvSpPr/>
          <p:nvPr/>
        </p:nvSpPr>
        <p:spPr>
          <a:xfrm>
            <a:off x="868680" y="2880360"/>
            <a:ext cx="109728" cy="109728"/>
          </a:xfrm>
          <a:prstGeom prst="ellipse">
            <a:avLst/>
          </a:prstGeom>
          <a:solidFill>
            <a:srgbClr val="8A938E"/>
          </a:solidFill>
          <a:ln/>
        </p:spPr>
      </p:sp>
      <p:sp>
        <p:nvSpPr>
          <p:cNvPr id="30" name="mirror arrow"/>
          <p:cNvSpPr/>
          <p:nvPr/>
        </p:nvSpPr>
        <p:spPr>
          <a:xfrm>
            <a:off x="3063240" y="2331720"/>
            <a:ext cx="548640" cy="411480"/>
          </a:xfrm>
          <a:prstGeom prst="rightArrow">
            <a:avLst/>
          </a:prstGeom>
          <a:solidFill>
            <a:schemeClr val="accent1"/>
          </a:solidFill>
          <a:ln/>
        </p:spPr>
      </p:sp>
      <p:sp>
        <p:nvSpPr>
          <p:cNvPr id="31" name="clean mirror"/>
          <p:cNvSpPr/>
          <p:nvPr/>
        </p:nvSpPr>
        <p:spPr>
          <a:xfrm>
            <a:off x="3749040" y="1463040"/>
            <a:ext cx="2286000" cy="2103120"/>
          </a:xfrm>
          <a:prstGeom prst="roundRect">
            <a:avLst>
              <a:gd name="adj" fmla="val 6522"/>
            </a:avLst>
          </a:prstGeom>
          <a:solidFill>
            <a:srgbClr val="F8FCFB"/>
          </a:solidFill>
          <a:ln w="38100">
            <a:solidFill>
              <a:schemeClr val="accent4"/>
            </a:solidFill>
            <a:prstDash val="solid"/>
          </a:ln>
        </p:spPr>
      </p:sp>
      <p:sp>
        <p:nvSpPr>
          <p:cNvPr id="32" name="shine 1"/>
          <p:cNvSpPr/>
          <p:nvPr/>
        </p:nvSpPr>
        <p:spPr>
          <a:xfrm>
            <a:off x="4114800" y="1600200"/>
            <a:ext cx="457200" cy="1828800"/>
          </a:xfrm>
          <a:prstGeom prst="parallelogram">
            <a:avLst/>
          </a:prstGeom>
          <a:solidFill>
            <a:srgbClr val="FFFFFF"/>
          </a:solidFill>
          <a:ln/>
        </p:spPr>
      </p:sp>
      <p:sp>
        <p:nvSpPr>
          <p:cNvPr id="33" name="shine 2"/>
          <p:cNvSpPr/>
          <p:nvPr/>
        </p:nvSpPr>
        <p:spPr>
          <a:xfrm>
            <a:off x="4754880" y="1600200"/>
            <a:ext cx="228600" cy="1828800"/>
          </a:xfrm>
          <a:prstGeom prst="parallelogram">
            <a:avLst/>
          </a:prstGeom>
          <a:solidFill>
            <a:srgbClr val="FFFFFF"/>
          </a:solidFill>
          <a:ln/>
        </p:spPr>
      </p:sp>
      <p:sp>
        <p:nvSpPr>
          <p:cNvPr id="34" name="Text 32"/>
          <p:cNvSpPr txBox="1"/>
          <p:nvPr/>
        </p:nvSpPr>
        <p:spPr>
          <a:xfrm>
            <a:off x="640080" y="3657600"/>
            <a:ext cx="2377440" cy="640080"/>
          </a:xfrm>
          <a:prstGeom prst="rect">
            <a:avLst/>
          </a:prstGeom>
          <a:noFill/>
          <a:ln/>
        </p:spPr>
        <p:txBody>
          <a:bodyPr wrap="square" lIns="0" tIns="0" rIns="0" bIns="0" rtlCol="0" anchor="t"/>
          <a:lstStyle/>
          <a:p>
            <a:pPr algn="ctr" indent="0" marL="0">
              <a:spcAft>
                <a:spcPts val="300"/>
              </a:spcAft>
              <a:buNone/>
            </a:pPr>
            <a:r>
              <a:rPr lang="en-US" sz="1300" b="1" dirty="0">
                <a:solidFill>
                  <a:schemeClr val="tx1"/>
                </a:solidFill>
              </a:rPr>
              <a:t>灰尘堆积 → 模糊暗沉</a:t>
            </a:r>
            <a:endParaRPr lang="en-US" sz="1300" dirty="0"/>
          </a:p>
          <a:p>
            <a:pPr algn="ctr" indent="0" marL="0">
              <a:spcAft>
                <a:spcPts val="300"/>
              </a:spcAft>
              <a:buNone/>
            </a:pPr>
            <a:r>
              <a:rPr lang="en-US" sz="1100" dirty="0">
                <a:solidFill>
                  <a:schemeClr val="accent6"/>
                </a:solidFill>
              </a:rPr>
              <a:t>Dust builds up → looks dull</a:t>
            </a:r>
            <a:endParaRPr lang="en-US" sz="1300" dirty="0"/>
          </a:p>
        </p:txBody>
      </p:sp>
      <p:sp>
        <p:nvSpPr>
          <p:cNvPr id="35" name="Text 33"/>
          <p:cNvSpPr txBox="1"/>
          <p:nvPr/>
        </p:nvSpPr>
        <p:spPr>
          <a:xfrm>
            <a:off x="3657600" y="3657600"/>
            <a:ext cx="2468880" cy="640080"/>
          </a:xfrm>
          <a:prstGeom prst="rect">
            <a:avLst/>
          </a:prstGeom>
          <a:noFill/>
          <a:ln/>
        </p:spPr>
        <p:txBody>
          <a:bodyPr wrap="square" lIns="0" tIns="0" rIns="0" bIns="0" rtlCol="0" anchor="t"/>
          <a:lstStyle/>
          <a:p>
            <a:pPr algn="ctr" indent="0" marL="0">
              <a:spcAft>
                <a:spcPts val="300"/>
              </a:spcAft>
              <a:buNone/>
            </a:pPr>
            <a:r>
              <a:rPr lang="en-US" sz="1300" b="1" dirty="0">
                <a:solidFill>
                  <a:schemeClr val="tx1"/>
                </a:solidFill>
              </a:rPr>
              <a:t>擦掉灰尘 → 恢复光亮</a:t>
            </a:r>
            <a:endParaRPr lang="en-US" sz="1300" dirty="0"/>
          </a:p>
          <a:p>
            <a:pPr algn="ctr" indent="0" marL="0">
              <a:spcAft>
                <a:spcPts val="300"/>
              </a:spcAft>
              <a:buNone/>
            </a:pPr>
            <a:r>
              <a:rPr lang="en-US" sz="1100" dirty="0">
                <a:solidFill>
                  <a:schemeClr val="accent6"/>
                </a:solidFill>
              </a:rPr>
              <a:t>Wipe it away → bright again</a:t>
            </a:r>
            <a:endParaRPr lang="en-US" sz="1300" dirty="0"/>
          </a:p>
        </p:txBody>
      </p:sp>
      <p:sp>
        <p:nvSpPr>
          <p:cNvPr id="36" name="Text 34"/>
          <p:cNvSpPr txBox="1"/>
          <p:nvPr/>
        </p:nvSpPr>
        <p:spPr>
          <a:xfrm>
            <a:off x="640080" y="4389120"/>
            <a:ext cx="5486400" cy="1188720"/>
          </a:xfrm>
          <a:prstGeom prst="rect">
            <a:avLst/>
          </a:prstGeom>
          <a:noFill/>
          <a:ln/>
        </p:spPr>
        <p:txBody>
          <a:bodyPr wrap="square" lIns="0" tIns="0" rIns="0" bIns="0" rtlCol="0" anchor="t"/>
          <a:lstStyle/>
          <a:p>
            <a:pPr indent="0" marL="0">
              <a:spcAft>
                <a:spcPts val="500"/>
              </a:spcAft>
              <a:buNone/>
            </a:pPr>
            <a:r>
              <a:rPr lang="en-US" sz="1400" b="1" dirty="0">
                <a:solidFill>
                  <a:schemeClr val="tx1"/>
                </a:solidFill>
              </a:rPr>
              <a:t>老废角质堆积 → 表面不平整 → 光线反射不均 → 看起来暗沉</a:t>
            </a:r>
            <a:endParaRPr lang="en-US" sz="1400" dirty="0"/>
          </a:p>
          <a:p>
            <a:pPr indent="0" marL="0">
              <a:spcAft>
                <a:spcPts val="500"/>
              </a:spcAft>
              <a:buNone/>
            </a:pPr>
            <a:r>
              <a:rPr lang="en-US" sz="1200" dirty="0">
                <a:solidFill>
                  <a:schemeClr val="accent6"/>
                </a:solidFill>
              </a:rPr>
              <a:t>Dead skin builds up → uneven surface → uneven light reflection → dull look</a:t>
            </a:r>
            <a:endParaRPr lang="en-US" sz="1400" dirty="0"/>
          </a:p>
          <a:p>
            <a:pPr indent="0" marL="0">
              <a:spcAft>
                <a:spcPts val="500"/>
              </a:spcAft>
              <a:buNone/>
            </a:pPr>
            <a:r>
              <a:rPr lang="en-US" sz="1400" b="1" dirty="0">
                <a:solidFill>
                  <a:schemeClr val="accent1"/>
                </a:solidFill>
              </a:rPr>
              <a:t>LHA 帮助老废角质脱落 → 表面更平滑 → 光线反射更均匀 → 更透亮</a:t>
            </a:r>
            <a:endParaRPr lang="en-US" sz="1400" dirty="0"/>
          </a:p>
          <a:p>
            <a:pPr indent="0" marL="0">
              <a:spcAft>
                <a:spcPts val="500"/>
              </a:spcAft>
              <a:buNone/>
            </a:pPr>
            <a:r>
              <a:rPr lang="en-US" sz="1200" dirty="0">
                <a:solidFill>
                  <a:schemeClr val="accent6"/>
                </a:solidFill>
              </a:rPr>
              <a:t>LHA helps dead skin shed → smoother surface → even light reflection → more radiant</a:t>
            </a:r>
            <a:endParaRPr lang="en-US" sz="1400" dirty="0"/>
          </a:p>
        </p:txBody>
      </p:sp>
      <p:sp>
        <p:nvSpPr>
          <p:cNvPr id="37" name="recall card 1"/>
          <p:cNvSpPr/>
          <p:nvPr/>
        </p:nvSpPr>
        <p:spPr>
          <a:xfrm>
            <a:off x="6400800" y="1463040"/>
            <a:ext cx="5303520" cy="914400"/>
          </a:xfrm>
          <a:prstGeom prst="roundRect">
            <a:avLst>
              <a:gd name="adj" fmla="val 12000"/>
            </a:avLst>
          </a:prstGeom>
          <a:solidFill>
            <a:schemeClr val="bg2"/>
          </a:solidFill>
          <a:ln/>
        </p:spPr>
      </p:sp>
      <p:sp>
        <p:nvSpPr>
          <p:cNvPr id="38" name="recall icon 1 bg"/>
          <p:cNvSpPr/>
          <p:nvPr/>
        </p:nvSpPr>
        <p:spPr>
          <a:xfrm>
            <a:off x="6583680" y="1627632"/>
            <a:ext cx="585216" cy="585216"/>
          </a:xfrm>
          <a:prstGeom prst="ellipse">
            <a:avLst/>
          </a:prstGeom>
          <a:solidFill>
            <a:schemeClr val="accent1"/>
          </a:solidFill>
          <a:ln/>
        </p:spPr>
      </p:sp>
      <p:pic>
        <p:nvPicPr>
          <p:cNvPr id="39" name="recall icon 1" descr="recall icon 1">    </p:cNvPr>
          <p:cNvPicPr>
            <a:picLocks noChangeAspect="1"/>
          </p:cNvPicPr>
          <p:nvPr/>
        </p:nvPicPr>
        <p:blipFill>
          <a:blip r:embed="rId1"/>
          <a:stretch>
            <a:fillRect/>
          </a:stretch>
        </p:blipFill>
        <p:spPr>
          <a:xfrm>
            <a:off x="6735836" y="1779788"/>
            <a:ext cx="280904" cy="280904"/>
          </a:xfrm>
          <a:prstGeom prst="rect">
            <a:avLst/>
          </a:prstGeom>
        </p:spPr>
      </p:pic>
      <p:sp>
        <p:nvSpPr>
          <p:cNvPr id="40" name="Text 37"/>
          <p:cNvSpPr txBox="1"/>
          <p:nvPr/>
        </p:nvSpPr>
        <p:spPr>
          <a:xfrm>
            <a:off x="7360920" y="1508760"/>
            <a:ext cx="4251960" cy="822960"/>
          </a:xfrm>
          <a:prstGeom prst="rect">
            <a:avLst/>
          </a:prstGeom>
          <a:noFill/>
          <a:ln/>
        </p:spPr>
        <p:txBody>
          <a:bodyPr wrap="square" lIns="0" tIns="0" rIns="0" bIns="0" rtlCol="0" anchor="ctr"/>
          <a:lstStyle/>
          <a:p>
            <a:pPr indent="0" marL="0">
              <a:spcAft>
                <a:spcPts val="100"/>
              </a:spcAft>
              <a:buNone/>
            </a:pPr>
            <a:r>
              <a:rPr lang="en-US" sz="1500" b="1" dirty="0">
                <a:solidFill>
                  <a:schemeClr val="tx2"/>
                </a:solidFill>
              </a:rPr>
              <a:t>皮肤变亮  Brighter</a:t>
            </a:r>
            <a:endParaRPr lang="en-US" sz="1500" dirty="0"/>
          </a:p>
          <a:p>
            <a:pPr indent="0" marL="0">
              <a:spcAft>
                <a:spcPts val="100"/>
              </a:spcAft>
              <a:buNone/>
            </a:pPr>
            <a:r>
              <a:rPr lang="en-US" sz="1300" dirty="0">
                <a:solidFill>
                  <a:srgbClr val="000000"/>
                </a:solidFill>
              </a:rPr>
              <a:t>老废角质减少，表面光线反射更均匀</a:t>
            </a:r>
            <a:endParaRPr lang="en-US" sz="1500" dirty="0"/>
          </a:p>
          <a:p>
            <a:pPr indent="0" marL="0">
              <a:spcAft>
                <a:spcPts val="100"/>
              </a:spcAft>
              <a:buNone/>
            </a:pPr>
            <a:r>
              <a:rPr lang="en-US" sz="1150" dirty="0">
                <a:solidFill>
                  <a:schemeClr val="accent6"/>
                </a:solidFill>
              </a:rPr>
              <a:t>Less dead skin, more even light reflection</a:t>
            </a:r>
            <a:endParaRPr lang="en-US" sz="1500" dirty="0"/>
          </a:p>
        </p:txBody>
      </p:sp>
      <p:sp>
        <p:nvSpPr>
          <p:cNvPr id="41" name="recall card 2"/>
          <p:cNvSpPr/>
          <p:nvPr/>
        </p:nvSpPr>
        <p:spPr>
          <a:xfrm>
            <a:off x="6400800" y="2487168"/>
            <a:ext cx="5303520" cy="914400"/>
          </a:xfrm>
          <a:prstGeom prst="roundRect">
            <a:avLst>
              <a:gd name="adj" fmla="val 12000"/>
            </a:avLst>
          </a:prstGeom>
          <a:solidFill>
            <a:schemeClr val="bg2"/>
          </a:solidFill>
          <a:ln/>
        </p:spPr>
      </p:sp>
      <p:sp>
        <p:nvSpPr>
          <p:cNvPr id="42" name="recall icon 2 bg"/>
          <p:cNvSpPr/>
          <p:nvPr/>
        </p:nvSpPr>
        <p:spPr>
          <a:xfrm>
            <a:off x="6583680" y="2651760"/>
            <a:ext cx="585216" cy="585216"/>
          </a:xfrm>
          <a:prstGeom prst="ellipse">
            <a:avLst/>
          </a:prstGeom>
          <a:solidFill>
            <a:schemeClr val="accent1"/>
          </a:solidFill>
          <a:ln/>
        </p:spPr>
      </p:sp>
      <p:pic>
        <p:nvPicPr>
          <p:cNvPr id="43" name="recall icon 2" descr="recall icon 2">    </p:cNvPr>
          <p:cNvPicPr>
            <a:picLocks noChangeAspect="1"/>
          </p:cNvPicPr>
          <p:nvPr/>
        </p:nvPicPr>
        <p:blipFill>
          <a:blip r:embed="rId2"/>
          <a:stretch>
            <a:fillRect/>
          </a:stretch>
        </p:blipFill>
        <p:spPr>
          <a:xfrm>
            <a:off x="6735836" y="2803916"/>
            <a:ext cx="280904" cy="280904"/>
          </a:xfrm>
          <a:prstGeom prst="rect">
            <a:avLst/>
          </a:prstGeom>
        </p:spPr>
      </p:pic>
      <p:sp>
        <p:nvSpPr>
          <p:cNvPr id="44" name="Text 40"/>
          <p:cNvSpPr txBox="1"/>
          <p:nvPr/>
        </p:nvSpPr>
        <p:spPr>
          <a:xfrm>
            <a:off x="7360920" y="2532888"/>
            <a:ext cx="4251960" cy="822960"/>
          </a:xfrm>
          <a:prstGeom prst="rect">
            <a:avLst/>
          </a:prstGeom>
          <a:noFill/>
          <a:ln/>
        </p:spPr>
        <p:txBody>
          <a:bodyPr wrap="square" lIns="0" tIns="0" rIns="0" bIns="0" rtlCol="0" anchor="ctr"/>
          <a:lstStyle/>
          <a:p>
            <a:pPr indent="0" marL="0">
              <a:spcAft>
                <a:spcPts val="100"/>
              </a:spcAft>
              <a:buNone/>
            </a:pPr>
            <a:r>
              <a:rPr lang="en-US" sz="1500" b="1" dirty="0">
                <a:solidFill>
                  <a:schemeClr val="tx2"/>
                </a:solidFill>
              </a:rPr>
              <a:t>皮肤变滑  Smoother</a:t>
            </a:r>
            <a:endParaRPr lang="en-US" sz="1500" dirty="0"/>
          </a:p>
          <a:p>
            <a:pPr indent="0" marL="0">
              <a:spcAft>
                <a:spcPts val="100"/>
              </a:spcAft>
              <a:buNone/>
            </a:pPr>
            <a:r>
              <a:rPr lang="en-US" sz="1300" dirty="0">
                <a:solidFill>
                  <a:srgbClr val="000000"/>
                </a:solidFill>
              </a:rPr>
              <a:t>粗糙的角质逐渐脱落</a:t>
            </a:r>
            <a:endParaRPr lang="en-US" sz="1500" dirty="0"/>
          </a:p>
          <a:p>
            <a:pPr indent="0" marL="0">
              <a:spcAft>
                <a:spcPts val="100"/>
              </a:spcAft>
              <a:buNone/>
            </a:pPr>
            <a:r>
              <a:rPr lang="en-US" sz="1150" dirty="0">
                <a:solidFill>
                  <a:schemeClr val="accent6"/>
                </a:solidFill>
              </a:rPr>
              <a:t>Rough dead skin gradually sheds</a:t>
            </a:r>
            <a:endParaRPr lang="en-US" sz="1500" dirty="0"/>
          </a:p>
        </p:txBody>
      </p:sp>
      <p:sp>
        <p:nvSpPr>
          <p:cNvPr id="45" name="recall card 3"/>
          <p:cNvSpPr/>
          <p:nvPr/>
        </p:nvSpPr>
        <p:spPr>
          <a:xfrm>
            <a:off x="6400800" y="3511296"/>
            <a:ext cx="5303520" cy="914400"/>
          </a:xfrm>
          <a:prstGeom prst="roundRect">
            <a:avLst>
              <a:gd name="adj" fmla="val 12000"/>
            </a:avLst>
          </a:prstGeom>
          <a:solidFill>
            <a:schemeClr val="bg2"/>
          </a:solidFill>
          <a:ln/>
        </p:spPr>
      </p:sp>
      <p:sp>
        <p:nvSpPr>
          <p:cNvPr id="46" name="recall icon 3 bg"/>
          <p:cNvSpPr/>
          <p:nvPr/>
        </p:nvSpPr>
        <p:spPr>
          <a:xfrm>
            <a:off x="6583680" y="3675888"/>
            <a:ext cx="585216" cy="585216"/>
          </a:xfrm>
          <a:prstGeom prst="ellipse">
            <a:avLst/>
          </a:prstGeom>
          <a:solidFill>
            <a:schemeClr val="accent1"/>
          </a:solidFill>
          <a:ln/>
        </p:spPr>
      </p:sp>
      <p:pic>
        <p:nvPicPr>
          <p:cNvPr id="47" name="recall icon 3" descr="recall icon 3">    </p:cNvPr>
          <p:cNvPicPr>
            <a:picLocks noChangeAspect="1"/>
          </p:cNvPicPr>
          <p:nvPr/>
        </p:nvPicPr>
        <p:blipFill>
          <a:blip r:embed="rId3"/>
          <a:stretch>
            <a:fillRect/>
          </a:stretch>
        </p:blipFill>
        <p:spPr>
          <a:xfrm>
            <a:off x="6735836" y="3828044"/>
            <a:ext cx="280904" cy="280904"/>
          </a:xfrm>
          <a:prstGeom prst="rect">
            <a:avLst/>
          </a:prstGeom>
        </p:spPr>
      </p:pic>
      <p:sp>
        <p:nvSpPr>
          <p:cNvPr id="48" name="Text 43"/>
          <p:cNvSpPr txBox="1"/>
          <p:nvPr/>
        </p:nvSpPr>
        <p:spPr>
          <a:xfrm>
            <a:off x="7360920" y="3557016"/>
            <a:ext cx="4251960" cy="822960"/>
          </a:xfrm>
          <a:prstGeom prst="rect">
            <a:avLst/>
          </a:prstGeom>
          <a:noFill/>
          <a:ln/>
        </p:spPr>
        <p:txBody>
          <a:bodyPr wrap="square" lIns="0" tIns="0" rIns="0" bIns="0" rtlCol="0" anchor="ctr"/>
          <a:lstStyle/>
          <a:p>
            <a:pPr indent="0" marL="0">
              <a:spcAft>
                <a:spcPts val="100"/>
              </a:spcAft>
              <a:buNone/>
            </a:pPr>
            <a:r>
              <a:rPr lang="en-US" sz="1500" b="1" dirty="0">
                <a:solidFill>
                  <a:schemeClr val="tx2"/>
                </a:solidFill>
              </a:rPr>
              <a:t>毛孔更干净  Cleaner pores</a:t>
            </a:r>
            <a:endParaRPr lang="en-US" sz="1500" dirty="0"/>
          </a:p>
          <a:p>
            <a:pPr indent="0" marL="0">
              <a:spcAft>
                <a:spcPts val="100"/>
              </a:spcAft>
              <a:buNone/>
            </a:pPr>
            <a:r>
              <a:rPr lang="en-US" sz="1300" dirty="0">
                <a:solidFill>
                  <a:srgbClr val="000000"/>
                </a:solidFill>
              </a:rPr>
              <a:t>改善毛孔周围的角质堆积</a:t>
            </a:r>
            <a:endParaRPr lang="en-US" sz="1500" dirty="0"/>
          </a:p>
          <a:p>
            <a:pPr indent="0" marL="0">
              <a:spcAft>
                <a:spcPts val="100"/>
              </a:spcAft>
              <a:buNone/>
            </a:pPr>
            <a:r>
              <a:rPr lang="en-US" sz="1150" dirty="0">
                <a:solidFill>
                  <a:schemeClr val="accent6"/>
                </a:solidFill>
              </a:rPr>
              <a:t>Less buildup around the pores</a:t>
            </a:r>
            <a:endParaRPr lang="en-US" sz="1500" dirty="0"/>
          </a:p>
        </p:txBody>
      </p:sp>
      <p:sp>
        <p:nvSpPr>
          <p:cNvPr id="49" name="recall card 4"/>
          <p:cNvSpPr/>
          <p:nvPr/>
        </p:nvSpPr>
        <p:spPr>
          <a:xfrm>
            <a:off x="6400800" y="4535424"/>
            <a:ext cx="5303520" cy="914400"/>
          </a:xfrm>
          <a:prstGeom prst="roundRect">
            <a:avLst>
              <a:gd name="adj" fmla="val 12000"/>
            </a:avLst>
          </a:prstGeom>
          <a:solidFill>
            <a:schemeClr val="bg2"/>
          </a:solidFill>
          <a:ln/>
        </p:spPr>
      </p:sp>
      <p:sp>
        <p:nvSpPr>
          <p:cNvPr id="50" name="recall icon 4 bg"/>
          <p:cNvSpPr/>
          <p:nvPr/>
        </p:nvSpPr>
        <p:spPr>
          <a:xfrm>
            <a:off x="6583680" y="4700016"/>
            <a:ext cx="585216" cy="585216"/>
          </a:xfrm>
          <a:prstGeom prst="ellipse">
            <a:avLst/>
          </a:prstGeom>
          <a:solidFill>
            <a:schemeClr val="accent1"/>
          </a:solidFill>
          <a:ln/>
        </p:spPr>
      </p:sp>
      <p:pic>
        <p:nvPicPr>
          <p:cNvPr id="51" name="recall icon 4" descr="recall icon 4">    </p:cNvPr>
          <p:cNvPicPr>
            <a:picLocks noChangeAspect="1"/>
          </p:cNvPicPr>
          <p:nvPr/>
        </p:nvPicPr>
        <p:blipFill>
          <a:blip r:embed="rId4"/>
          <a:stretch>
            <a:fillRect/>
          </a:stretch>
        </p:blipFill>
        <p:spPr>
          <a:xfrm>
            <a:off x="6735836" y="4852172"/>
            <a:ext cx="280904" cy="280904"/>
          </a:xfrm>
          <a:prstGeom prst="rect">
            <a:avLst/>
          </a:prstGeom>
        </p:spPr>
      </p:pic>
      <p:sp>
        <p:nvSpPr>
          <p:cNvPr id="52" name="Text 46"/>
          <p:cNvSpPr txBox="1"/>
          <p:nvPr/>
        </p:nvSpPr>
        <p:spPr>
          <a:xfrm>
            <a:off x="7360920" y="4581144"/>
            <a:ext cx="4251960" cy="822960"/>
          </a:xfrm>
          <a:prstGeom prst="rect">
            <a:avLst/>
          </a:prstGeom>
          <a:noFill/>
          <a:ln/>
        </p:spPr>
        <p:txBody>
          <a:bodyPr wrap="square" lIns="0" tIns="0" rIns="0" bIns="0" rtlCol="0" anchor="ctr"/>
          <a:lstStyle/>
          <a:p>
            <a:pPr indent="0" marL="0">
              <a:spcAft>
                <a:spcPts val="100"/>
              </a:spcAft>
              <a:buNone/>
            </a:pPr>
            <a:r>
              <a:rPr lang="en-US" sz="1500" b="1" dirty="0">
                <a:solidFill>
                  <a:schemeClr val="tx2"/>
                </a:solidFill>
              </a:rPr>
              <a:t>肤质更细腻  Finer texture</a:t>
            </a:r>
            <a:endParaRPr lang="en-US" sz="1500" dirty="0"/>
          </a:p>
          <a:p>
            <a:pPr indent="0" marL="0">
              <a:spcAft>
                <a:spcPts val="100"/>
              </a:spcAft>
              <a:buNone/>
            </a:pPr>
            <a:r>
              <a:rPr lang="en-US" sz="1300" dirty="0">
                <a:solidFill>
                  <a:srgbClr val="000000"/>
                </a:solidFill>
              </a:rPr>
              <a:t>皮肤表面逐渐变得平整</a:t>
            </a:r>
            <a:endParaRPr lang="en-US" sz="1500" dirty="0"/>
          </a:p>
          <a:p>
            <a:pPr indent="0" marL="0">
              <a:spcAft>
                <a:spcPts val="100"/>
              </a:spcAft>
              <a:buNone/>
            </a:pPr>
            <a:r>
              <a:rPr lang="en-US" sz="1150" dirty="0">
                <a:solidFill>
                  <a:schemeClr val="accent6"/>
                </a:solidFill>
              </a:rPr>
              <a:t>The surface gradually evens out</a:t>
            </a:r>
            <a:endParaRPr lang="en-US" sz="1500" dirty="0"/>
          </a:p>
        </p:txBody>
      </p:sp>
      <p:sp>
        <p:nvSpPr>
          <p:cNvPr id="53" name="caution banner"/>
          <p:cNvSpPr/>
          <p:nvPr/>
        </p:nvSpPr>
        <p:spPr>
          <a:xfrm>
            <a:off x="457200" y="5669280"/>
            <a:ext cx="11247120" cy="640080"/>
          </a:xfrm>
          <a:prstGeom prst="roundRect">
            <a:avLst>
              <a:gd name="adj" fmla="val 17143"/>
            </a:avLst>
          </a:prstGeom>
          <a:solidFill>
            <a:srgbClr val="FBF1D6"/>
          </a:solidFill>
          <a:ln/>
        </p:spPr>
      </p:sp>
      <p:sp>
        <p:nvSpPr>
          <p:cNvPr id="54" name="Text 48"/>
          <p:cNvSpPr txBox="1"/>
          <p:nvPr/>
        </p:nvSpPr>
        <p:spPr>
          <a:xfrm>
            <a:off x="685800" y="5669280"/>
            <a:ext cx="10789920" cy="640080"/>
          </a:xfrm>
          <a:prstGeom prst="rect">
            <a:avLst/>
          </a:prstGeom>
          <a:noFill/>
          <a:ln/>
        </p:spPr>
        <p:txBody>
          <a:bodyPr wrap="square" lIns="0" tIns="0" rIns="0" bIns="0" rtlCol="0" anchor="ctr"/>
          <a:lstStyle/>
          <a:p>
            <a:pPr indent="0" marL="0">
              <a:spcAft>
                <a:spcPts val="100"/>
              </a:spcAft>
              <a:buNone/>
            </a:pPr>
            <a:r>
              <a:rPr lang="en-US" sz="1300" b="1" dirty="0">
                <a:solidFill>
                  <a:srgbClr val="000000"/>
                </a:solidFill>
              </a:rPr>
              <a:t>皮肤变亮不代表被漂白，而是表面老废角质减少。效果因人而异，并非每位顾客做完一次都会明显变亮。</a:t>
            </a:r>
            <a:endParaRPr lang="en-US" sz="1300" dirty="0"/>
          </a:p>
          <a:p>
            <a:pPr indent="0" marL="0">
              <a:spcAft>
                <a:spcPts val="100"/>
              </a:spcAft>
              <a:buNone/>
            </a:pPr>
            <a:r>
              <a:rPr lang="en-US" sz="1150" dirty="0">
                <a:solidFill>
                  <a:schemeClr val="accent6"/>
                </a:solidFill>
              </a:rPr>
              <a:t>Brighter skin does not mean bleached — it means less dead skin on the surface. Results vary; not every client sees an obvious change after one session.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XE LHA Peel 和普通 Facial 有什么不同？</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How is XE LHA Peel different from a regular facial?</a:t>
            </a:r>
            <a:endParaRPr lang="en-US" sz="3000" dirty="0"/>
          </a:p>
        </p:txBody>
      </p:sp>
      <p:graphicFrame>
        <p:nvGraphicFramePr>
          <p:cNvPr id="16" name="data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47120" cy="914400"/>
        </p:xfrm>
        <a:graphic>
          <a:graphicData uri="http://schemas.openxmlformats.org/drawingml/2006/table">
            <a:tbl>
              <a:tblPr/>
              <a:tblGrid>
                <a:gridCol w="5623560"/>
                <a:gridCol w="5623560"/>
              </a:tblGrid>
              <a:tr h="411480">
                <a:tc>
                  <a:txBody>
                    <a:bodyPr/>
                    <a:lstStyle/>
                    <a:p>
                      <a:pPr algn="l" indent="0" marL="0">
                        <a:buNone/>
                      </a:pPr>
                      <a:r>
                        <a:rPr lang="en-US" sz="1400" b="1" dirty="0">
                          <a:solidFill>
                            <a:srgbClr val="FFFFFF"/>
                          </a:solidFill>
                        </a:rPr>
                        <a:t>普通 Facial · Regular Facial</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2F4A3A"/>
                    </a:solidFill>
                  </a:tcPr>
                </a:tc>
                <a:tc>
                  <a:txBody>
                    <a:bodyPr/>
                    <a:lstStyle/>
                    <a:p>
                      <a:pPr algn="l" indent="0" marL="0">
                        <a:buNone/>
                      </a:pPr>
                      <a:r>
                        <a:rPr lang="en-US" sz="1400" b="1" dirty="0">
                          <a:solidFill>
                            <a:srgbClr val="FFFFFF"/>
                          </a:solidFill>
                        </a:rPr>
                        <a:t>XE LHA Peel</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2F4A3A"/>
                    </a:solidFill>
                  </a:tcPr>
                </a:tc>
              </a:tr>
              <a:tr h="658368">
                <a:tc>
                  <a:txBody>
                    <a:bodyPr/>
                    <a:lstStyle/>
                    <a:p>
                      <a:pPr indent="0" marL="0">
                        <a:buNone/>
                      </a:pPr>
                      <a:r>
                        <a:rPr lang="en-US" sz="1300" b="1" dirty="0">
                          <a:solidFill>
                            <a:srgbClr val="1F2D26"/>
                          </a:solidFill>
                        </a:rPr>
                        <a:t>以清洁、保湿、舒缓为主</a:t>
                      </a:r>
                      <a:endParaRPr lang="en-US" sz="1200" dirty="0"/>
                    </a:p>
                    <a:p>
                      <a:pPr indent="0" marL="0">
                        <a:buNone/>
                      </a:pPr>
                      <a:r>
                        <a:rPr lang="en-US" sz="1150" dirty="0">
                          <a:solidFill>
                            <a:srgbClr val="55665C"/>
                          </a:solidFill>
                        </a:rPr>
                        <a:t>Focuses on cleansing, hydration and soothing</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c>
                  <a:txBody>
                    <a:bodyPr/>
                    <a:lstStyle/>
                    <a:p>
                      <a:pPr indent="0" marL="0">
                        <a:buNone/>
                      </a:pPr>
                      <a:r>
                        <a:rPr lang="en-US" sz="1300" b="1" dirty="0">
                          <a:solidFill>
                            <a:srgbClr val="1F2D26"/>
                          </a:solidFill>
                        </a:rPr>
                        <a:t>以角质调理、焕肤为重点</a:t>
                      </a:r>
                      <a:endParaRPr lang="en-US" sz="1200" dirty="0"/>
                    </a:p>
                    <a:p>
                      <a:pPr indent="0" marL="0">
                        <a:buNone/>
                      </a:pPr>
                      <a:r>
                        <a:rPr lang="en-US" sz="1150" dirty="0">
                          <a:solidFill>
                            <a:srgbClr val="55665C"/>
                          </a:solidFill>
                        </a:rPr>
                        <a:t>Focuses on exfoliation and skin renewal</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r>
              <a:tr h="658368">
                <a:tc>
                  <a:txBody>
                    <a:bodyPr/>
                    <a:lstStyle/>
                    <a:p>
                      <a:pPr indent="0" marL="0">
                        <a:buNone/>
                      </a:pPr>
                      <a:r>
                        <a:rPr lang="en-US" sz="1300" b="1" dirty="0">
                          <a:solidFill>
                            <a:srgbClr val="1F2D26"/>
                          </a:solidFill>
                        </a:rPr>
                        <a:t>清洁皮肤表面的污垢和油脂</a:t>
                      </a:r>
                      <a:endParaRPr lang="en-US" sz="1200" dirty="0"/>
                    </a:p>
                    <a:p>
                      <a:pPr indent="0" marL="0">
                        <a:buNone/>
                      </a:pPr>
                      <a:r>
                        <a:rPr lang="en-US" sz="1150" dirty="0">
                          <a:solidFill>
                            <a:srgbClr val="55665C"/>
                          </a:solidFill>
                        </a:rPr>
                        <a:t>Cleans surface dirt and oil</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1F2D26"/>
                          </a:solidFill>
                        </a:rPr>
                        <a:t>帮助代谢堆积的老废角质</a:t>
                      </a:r>
                      <a:endParaRPr lang="en-US" sz="1200" dirty="0"/>
                    </a:p>
                    <a:p>
                      <a:pPr indent="0" marL="0">
                        <a:buNone/>
                      </a:pPr>
                      <a:r>
                        <a:rPr lang="en-US" sz="1150" dirty="0">
                          <a:solidFill>
                            <a:srgbClr val="55665C"/>
                          </a:solidFill>
                        </a:rPr>
                        <a:t>Helps shed built‑up dead skin cells</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58368">
                <a:tc>
                  <a:txBody>
                    <a:bodyPr/>
                    <a:lstStyle/>
                    <a:p>
                      <a:pPr indent="0" marL="0">
                        <a:buNone/>
                      </a:pPr>
                      <a:r>
                        <a:rPr lang="en-US" sz="1300" b="1" dirty="0">
                          <a:solidFill>
                            <a:srgbClr val="1F2D26"/>
                          </a:solidFill>
                        </a:rPr>
                        <a:t>可搭配手动清理粉刺</a:t>
                      </a:r>
                      <a:endParaRPr lang="en-US" sz="1200" dirty="0"/>
                    </a:p>
                    <a:p>
                      <a:pPr indent="0" marL="0">
                        <a:buNone/>
                      </a:pPr>
                      <a:r>
                        <a:rPr lang="en-US" sz="1150" dirty="0">
                          <a:solidFill>
                            <a:srgbClr val="55665C"/>
                          </a:solidFill>
                        </a:rPr>
                        <a:t>May include manual extraction of blackheads</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c>
                  <a:txBody>
                    <a:bodyPr/>
                    <a:lstStyle/>
                    <a:p>
                      <a:pPr indent="0" marL="0">
                        <a:buNone/>
                      </a:pPr>
                      <a:r>
                        <a:rPr lang="en-US" sz="1300" b="1" dirty="0">
                          <a:solidFill>
                            <a:srgbClr val="1F2D26"/>
                          </a:solidFill>
                        </a:rPr>
                        <a:t>通过酸类成分改善角质堵塞</a:t>
                      </a:r>
                      <a:endParaRPr lang="en-US" sz="1200" dirty="0"/>
                    </a:p>
                    <a:p>
                      <a:pPr indent="0" marL="0">
                        <a:buNone/>
                      </a:pPr>
                      <a:r>
                        <a:rPr lang="en-US" sz="1150" dirty="0">
                          <a:solidFill>
                            <a:srgbClr val="55665C"/>
                          </a:solidFill>
                        </a:rPr>
                        <a:t>Uses acid ingredients to ease keratin clogging</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r>
              <a:tr h="658368">
                <a:tc>
                  <a:txBody>
                    <a:bodyPr/>
                    <a:lstStyle/>
                    <a:p>
                      <a:pPr indent="0" marL="0">
                        <a:buNone/>
                      </a:pPr>
                      <a:r>
                        <a:rPr lang="en-US" sz="1300" b="1" dirty="0">
                          <a:solidFill>
                            <a:srgbClr val="1F2D26"/>
                          </a:solidFill>
                        </a:rPr>
                        <a:t>主要根据护理步骤改善肤况</a:t>
                      </a:r>
                      <a:endParaRPr lang="en-US" sz="1200" dirty="0"/>
                    </a:p>
                    <a:p>
                      <a:pPr indent="0" marL="0">
                        <a:buNone/>
                      </a:pPr>
                      <a:r>
                        <a:rPr lang="en-US" sz="1150" dirty="0">
                          <a:solidFill>
                            <a:srgbClr val="55665C"/>
                          </a:solidFill>
                        </a:rPr>
                        <a:t>Skin improves mainly through the treatment steps</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1F2D26"/>
                          </a:solidFill>
                        </a:rPr>
                        <a:t>重点改善粗糙、暗沉及角质堆积</a:t>
                      </a:r>
                      <a:endParaRPr lang="en-US" sz="1200" dirty="0"/>
                    </a:p>
                    <a:p>
                      <a:pPr indent="0" marL="0">
                        <a:buNone/>
                      </a:pPr>
                      <a:r>
                        <a:rPr lang="en-US" sz="1150" dirty="0">
                          <a:solidFill>
                            <a:srgbClr val="55665C"/>
                          </a:solidFill>
                        </a:rPr>
                        <a:t>Targets roughness, dullness and dead‑skin buildup</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58368">
                <a:tc>
                  <a:txBody>
                    <a:bodyPr/>
                    <a:lstStyle/>
                    <a:p>
                      <a:pPr indent="0" marL="0">
                        <a:buNone/>
                      </a:pPr>
                      <a:r>
                        <a:rPr lang="en-US" sz="1300" b="1" dirty="0">
                          <a:solidFill>
                            <a:srgbClr val="1F2D26"/>
                          </a:solidFill>
                        </a:rPr>
                        <a:t>适合日常皮肤保养</a:t>
                      </a:r>
                      <a:endParaRPr lang="en-US" sz="1200" dirty="0"/>
                    </a:p>
                    <a:p>
                      <a:pPr indent="0" marL="0">
                        <a:buNone/>
                      </a:pPr>
                      <a:r>
                        <a:rPr lang="en-US" sz="1150" dirty="0">
                          <a:solidFill>
                            <a:srgbClr val="55665C"/>
                          </a:solidFill>
                        </a:rPr>
                        <a:t>Suitable for routine skin maintenance</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c>
                  <a:txBody>
                    <a:bodyPr/>
                    <a:lstStyle/>
                    <a:p>
                      <a:pPr indent="0" marL="0">
                        <a:buNone/>
                      </a:pPr>
                      <a:r>
                        <a:rPr lang="en-US" sz="1300" b="1" dirty="0">
                          <a:solidFill>
                            <a:srgbClr val="1F2D26"/>
                          </a:solidFill>
                        </a:rPr>
                        <a:t>适合需要针对性角质护理的顾客</a:t>
                      </a:r>
                      <a:endParaRPr lang="en-US" sz="1200" dirty="0"/>
                    </a:p>
                    <a:p>
                      <a:pPr indent="0" marL="0">
                        <a:buNone/>
                      </a:pPr>
                      <a:r>
                        <a:rPr lang="en-US" sz="1150" dirty="0">
                          <a:solidFill>
                            <a:srgbClr val="55665C"/>
                          </a:solidFill>
                        </a:rPr>
                        <a:t>Suitable for clients who need targeted exfoliation care</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r>
            </a:tbl>
          </a:graphicData>
        </a:graphic>
      </p:graphicFrame>
      <p:sp>
        <p:nvSpPr>
          <p:cNvPr id="4" name="equation banner"/>
          <p:cNvSpPr/>
          <p:nvPr/>
        </p:nvSpPr>
        <p:spPr>
          <a:xfrm>
            <a:off x="457200" y="5257800"/>
            <a:ext cx="11247120" cy="1005840"/>
          </a:xfrm>
          <a:prstGeom prst="roundRect">
            <a:avLst>
              <a:gd name="adj" fmla="val 10909"/>
            </a:avLst>
          </a:prstGeom>
          <a:solidFill>
            <a:schemeClr val="tx2"/>
          </a:solidFill>
          <a:ln/>
        </p:spPr>
      </p:sp>
      <p:sp>
        <p:nvSpPr>
          <p:cNvPr id="5" name="Text 2"/>
          <p:cNvSpPr txBox="1"/>
          <p:nvPr/>
        </p:nvSpPr>
        <p:spPr>
          <a:xfrm>
            <a:off x="731520" y="5257800"/>
            <a:ext cx="10698480" cy="1005840"/>
          </a:xfrm>
          <a:prstGeom prst="rect">
            <a:avLst/>
          </a:prstGeom>
          <a:noFill/>
          <a:ln/>
        </p:spPr>
        <p:txBody>
          <a:bodyPr wrap="square" lIns="0" tIns="0" rIns="0" bIns="0" rtlCol="0" anchor="ctr"/>
          <a:lstStyle/>
          <a:p>
            <a:pPr indent="0" marL="0">
              <a:spcAft>
                <a:spcPts val="200"/>
              </a:spcAft>
              <a:buNone/>
            </a:pPr>
            <a:r>
              <a:rPr lang="en-US" sz="1500" b="1" dirty="0">
                <a:solidFill>
                  <a:schemeClr val="bg1"/>
                </a:solidFill>
              </a:rPr>
              <a:t>普通 Facial＝日常清洁和保养　｜　XE LHA Peel＝针对老废角质堆积的焕肤护理</a:t>
            </a:r>
            <a:endParaRPr lang="en-US" sz="1500" dirty="0"/>
          </a:p>
          <a:p>
            <a:pPr indent="0" marL="0">
              <a:spcAft>
                <a:spcPts val="200"/>
              </a:spcAft>
              <a:buNone/>
            </a:pPr>
            <a:r>
              <a:rPr lang="en-US" sz="1250" dirty="0">
                <a:solidFill>
                  <a:srgbClr val="CFE0D2"/>
                </a:solidFill>
              </a:rPr>
              <a:t>两者并非完全独立：部分专业 Facial 也含酸类焕肤，实际区别取决于产品与护理流程。</a:t>
            </a:r>
            <a:endParaRPr lang="en-US" sz="1500" dirty="0"/>
          </a:p>
          <a:p>
            <a:pPr indent="0" marL="0">
              <a:spcAft>
                <a:spcPts val="200"/>
              </a:spcAft>
              <a:buNone/>
            </a:pPr>
            <a:r>
              <a:rPr lang="en-US" sz="1150" dirty="0">
                <a:solidFill>
                  <a:srgbClr val="CFE0D2"/>
                </a:solidFill>
              </a:rPr>
              <a:t>Facial = daily cleansing &amp; care | Peel = treatment for dead‑skin buildup. Not fully separate — some professional facials include acid peels; the real difference depends on products and protocol.</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顾客介绍话术</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Client script · when a client asks “why do I need a peel if I already get facials?”</a:t>
            </a:r>
            <a:endParaRPr lang="en-US" sz="3000" dirty="0"/>
          </a:p>
        </p:txBody>
      </p:sp>
      <p:sp>
        <p:nvSpPr>
          <p:cNvPr id="3" name="client question"/>
          <p:cNvSpPr/>
          <p:nvPr/>
        </p:nvSpPr>
        <p:spPr>
          <a:xfrm>
            <a:off x="457200" y="1417320"/>
            <a:ext cx="11247120" cy="1005840"/>
          </a:xfrm>
          <a:prstGeom prst="roundRect">
            <a:avLst>
              <a:gd name="adj" fmla="val 10909"/>
            </a:avLst>
          </a:prstGeom>
          <a:solidFill>
            <a:srgbClr val="FCEDE8"/>
          </a:solidFill>
          <a:ln/>
        </p:spPr>
      </p:sp>
      <p:sp>
        <p:nvSpPr>
          <p:cNvPr id="4" name="Text 2"/>
          <p:cNvSpPr txBox="1"/>
          <p:nvPr/>
        </p:nvSpPr>
        <p:spPr>
          <a:xfrm>
            <a:off x="731520" y="1417320"/>
            <a:ext cx="10698480" cy="1005840"/>
          </a:xfrm>
          <a:prstGeom prst="rect">
            <a:avLst/>
          </a:prstGeom>
          <a:noFill/>
          <a:ln/>
        </p:spPr>
        <p:txBody>
          <a:bodyPr wrap="square" lIns="0" tIns="0" rIns="0" bIns="0" rtlCol="0" anchor="ctr"/>
          <a:lstStyle/>
          <a:p>
            <a:pPr indent="0" marL="0">
              <a:spcAft>
                <a:spcPts val="300"/>
              </a:spcAft>
              <a:buNone/>
            </a:pPr>
            <a:r>
              <a:rPr lang="en-US" sz="1600" b="1" dirty="0">
                <a:solidFill>
                  <a:srgbClr val="000000"/>
                </a:solidFill>
              </a:rPr>
              <a:t>顾客：「我平时都有做 Facial，为什么还需要做 XE LHA Peel？」</a:t>
            </a:r>
            <a:endParaRPr lang="en-US" sz="1600" dirty="0"/>
          </a:p>
          <a:p>
            <a:pPr indent="0" marL="0">
              <a:spcAft>
                <a:spcPts val="300"/>
              </a:spcAft>
              <a:buNone/>
            </a:pPr>
            <a:r>
              <a:rPr lang="en-US" sz="1300" dirty="0">
                <a:solidFill>
                  <a:schemeClr val="accent6"/>
                </a:solidFill>
              </a:rPr>
              <a:t>Client: “I already get facials — why do I need XE LHA Peel?”</a:t>
            </a:r>
            <a:endParaRPr lang="en-US" sz="1600" dirty="0"/>
          </a:p>
        </p:txBody>
      </p:sp>
      <p:sp>
        <p:nvSpPr>
          <p:cNvPr id="5" name="script card"/>
          <p:cNvSpPr/>
          <p:nvPr/>
        </p:nvSpPr>
        <p:spPr>
          <a:xfrm>
            <a:off x="457200" y="2606040"/>
            <a:ext cx="11247120" cy="3611880"/>
          </a:xfrm>
          <a:prstGeom prst="roundRect">
            <a:avLst>
              <a:gd name="adj" fmla="val 3038"/>
            </a:avLst>
          </a:prstGeom>
          <a:solidFill>
            <a:schemeClr val="bg2"/>
          </a:solidFill>
          <a:ln/>
        </p:spPr>
      </p:sp>
      <p:sp>
        <p:nvSpPr>
          <p:cNvPr id="6" name="quote icon bg"/>
          <p:cNvSpPr/>
          <p:nvPr/>
        </p:nvSpPr>
        <p:spPr>
          <a:xfrm>
            <a:off x="731520" y="2788920"/>
            <a:ext cx="548640" cy="548640"/>
          </a:xfrm>
          <a:prstGeom prst="ellipse">
            <a:avLst/>
          </a:prstGeom>
          <a:solidFill>
            <a:schemeClr val="accent1"/>
          </a:solidFill>
          <a:ln/>
        </p:spPr>
      </p:sp>
      <p:pic>
        <p:nvPicPr>
          <p:cNvPr id="7" name="quote icon" descr="quote icon">    </p:cNvPr>
          <p:cNvPicPr>
            <a:picLocks noChangeAspect="1"/>
          </p:cNvPicPr>
          <p:nvPr/>
        </p:nvPicPr>
        <p:blipFill>
          <a:blip r:embed="rId1"/>
          <a:stretch>
            <a:fillRect/>
          </a:stretch>
        </p:blipFill>
        <p:spPr>
          <a:xfrm>
            <a:off x="874166" y="2931566"/>
            <a:ext cx="263347" cy="263347"/>
          </a:xfrm>
          <a:prstGeom prst="rect">
            <a:avLst/>
          </a:prstGeom>
        </p:spPr>
      </p:pic>
      <p:sp>
        <p:nvSpPr>
          <p:cNvPr id="8" name="Text 5"/>
          <p:cNvSpPr txBox="1"/>
          <p:nvPr/>
        </p:nvSpPr>
        <p:spPr>
          <a:xfrm>
            <a:off x="1554480" y="2743200"/>
            <a:ext cx="9966960" cy="3383280"/>
          </a:xfrm>
          <a:prstGeom prst="rect">
            <a:avLst/>
          </a:prstGeom>
          <a:noFill/>
          <a:ln/>
        </p:spPr>
        <p:txBody>
          <a:bodyPr wrap="square" lIns="0" tIns="0" rIns="0" bIns="0" rtlCol="0" anchor="t"/>
          <a:lstStyle/>
          <a:p>
            <a:pPr indent="0" marL="0">
              <a:spcAft>
                <a:spcPts val="1000"/>
              </a:spcAft>
              <a:buNone/>
            </a:pPr>
            <a:r>
              <a:rPr lang="en-US" sz="1700" b="1" dirty="0">
                <a:solidFill>
                  <a:srgbClr val="000000"/>
                </a:solidFill>
              </a:rPr>
              <a:t>普通 Facial 主要是帮助皮肤清洁、补水和保养。</a:t>
            </a:r>
            <a:endParaRPr lang="en-US" sz="1700" dirty="0"/>
          </a:p>
          <a:p>
            <a:pPr indent="0" marL="0">
              <a:spcAft>
                <a:spcPts val="1000"/>
              </a:spcAft>
              <a:buNone/>
            </a:pPr>
            <a:r>
              <a:rPr lang="en-US" sz="1400" dirty="0">
                <a:solidFill>
                  <a:schemeClr val="accent6"/>
                </a:solidFill>
              </a:rPr>
              <a:t>A regular facial mainly cleanses, hydrates and maintains your skin.</a:t>
            </a:r>
            <a:endParaRPr lang="en-US" sz="1700" dirty="0"/>
          </a:p>
          <a:p>
            <a:pPr indent="0" marL="0">
              <a:spcAft>
                <a:spcPts val="1000"/>
              </a:spcAft>
              <a:buNone/>
            </a:pPr>
            <a:r>
              <a:rPr lang="en-US" sz="1700" b="1" dirty="0">
                <a:solidFill>
                  <a:srgbClr val="000000"/>
                </a:solidFill>
              </a:rPr>
              <a:t>XE LHA Peel 则比较着重于改善皮肤的角质代谢。</a:t>
            </a:r>
            <a:endParaRPr lang="en-US" sz="1700" dirty="0"/>
          </a:p>
          <a:p>
            <a:pPr indent="0" marL="0">
              <a:spcAft>
                <a:spcPts val="1000"/>
              </a:spcAft>
              <a:buNone/>
            </a:pPr>
            <a:r>
              <a:rPr lang="en-US" sz="1400" dirty="0">
                <a:solidFill>
                  <a:schemeClr val="accent6"/>
                </a:solidFill>
              </a:rPr>
              <a:t>XE LHA Peel focuses more on improving how your skin sheds dead skin cells.</a:t>
            </a:r>
            <a:endParaRPr lang="en-US" sz="1700" dirty="0"/>
          </a:p>
          <a:p>
            <a:pPr indent="0" marL="0">
              <a:spcAft>
                <a:spcPts val="1000"/>
              </a:spcAft>
              <a:buNone/>
            </a:pPr>
            <a:r>
              <a:rPr lang="en-US" sz="1700" b="1" dirty="0">
                <a:solidFill>
                  <a:srgbClr val="000000"/>
                </a:solidFill>
              </a:rPr>
              <a:t>如果您的皮肤经常暗沉、粗糙、有闭口粉刺，或者毛孔容易堵塞，单纯清洁可能不足以改善这些问题。XE LHA Peel 可以通过焕肤成分帮助代谢老废角质，让皮肤逐渐变得更加平滑和细腻。</a:t>
            </a:r>
            <a:endParaRPr lang="en-US" sz="1700" dirty="0"/>
          </a:p>
          <a:p>
            <a:pPr indent="0" marL="0">
              <a:spcAft>
                <a:spcPts val="1000"/>
              </a:spcAft>
              <a:buNone/>
            </a:pPr>
            <a:r>
              <a:rPr lang="en-US" sz="1400" dirty="0">
                <a:solidFill>
                  <a:schemeClr val="accent6"/>
                </a:solidFill>
              </a:rPr>
              <a:t>If your skin is often dull, rough, has closed comedones or clogged pores, cleansing alone may not be enough. XE LHA Peel uses peeling ingredients to help shed dead skin, so skin gradually becomes smoother and finer.</a:t>
            </a:r>
            <a:endParaRPr lang="en-US" sz="17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AHA、BHA、LHA 有什么不同？</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AHA vs BHA vs LHA · know the main role of each — no chemistry needed</a:t>
            </a:r>
            <a:endParaRPr lang="en-US" sz="3000" dirty="0"/>
          </a:p>
        </p:txBody>
      </p:sp>
      <p:sp>
        <p:nvSpPr>
          <p:cNvPr id="3" name="acid card 1"/>
          <p:cNvSpPr/>
          <p:nvPr/>
        </p:nvSpPr>
        <p:spPr>
          <a:xfrm>
            <a:off x="457200" y="1417320"/>
            <a:ext cx="3566160" cy="3886200"/>
          </a:xfrm>
          <a:prstGeom prst="roundRect">
            <a:avLst>
              <a:gd name="adj" fmla="val 3077"/>
            </a:avLst>
          </a:prstGeom>
          <a:solidFill>
            <a:schemeClr val="bg2"/>
          </a:solidFill>
          <a:ln/>
        </p:spPr>
      </p:sp>
      <p:sp>
        <p:nvSpPr>
          <p:cNvPr id="4" name="acid pill 1"/>
          <p:cNvSpPr txBox="1"/>
          <p:nvPr/>
        </p:nvSpPr>
        <p:spPr>
          <a:xfrm>
            <a:off x="640080" y="1554480"/>
            <a:ext cx="3200400" cy="411480"/>
          </a:xfrm>
          <a:prstGeom prst="roundRect">
            <a:avLst>
              <a:gd name="adj" fmla="val 48889"/>
            </a:avLst>
          </a:prstGeom>
          <a:solidFill>
            <a:schemeClr val="accent2"/>
          </a:solidFill>
          <a:ln/>
        </p:spPr>
        <p:txBody>
          <a:bodyPr wrap="square" lIns="0" tIns="0" rIns="0" bIns="0" rtlCol="0" anchor="ctr"/>
          <a:lstStyle/>
          <a:p>
            <a:pPr algn="ctr" indent="0" marL="0">
              <a:buNone/>
            </a:pPr>
            <a:r>
              <a:rPr lang="en-US" sz="1500" b="1" dirty="0">
                <a:solidFill>
                  <a:schemeClr val="bg1"/>
                </a:solidFill>
              </a:rPr>
              <a:t>AHA 果酸</a:t>
            </a:r>
            <a:endParaRPr lang="en-US" sz="1500" dirty="0"/>
          </a:p>
        </p:txBody>
      </p:sp>
      <p:sp>
        <p:nvSpPr>
          <p:cNvPr id="5" name="Text 3"/>
          <p:cNvSpPr txBox="1"/>
          <p:nvPr/>
        </p:nvSpPr>
        <p:spPr>
          <a:xfrm>
            <a:off x="640080" y="2057400"/>
            <a:ext cx="3200400" cy="3200400"/>
          </a:xfrm>
          <a:prstGeom prst="rect">
            <a:avLst/>
          </a:prstGeom>
          <a:noFill/>
          <a:ln/>
        </p:spPr>
        <p:txBody>
          <a:bodyPr wrap="square" lIns="0" tIns="0" rIns="0" bIns="0" rtlCol="0" anchor="t"/>
          <a:lstStyle/>
          <a:p>
            <a:pPr indent="0" marL="0">
              <a:spcAft>
                <a:spcPts val="200"/>
              </a:spcAft>
              <a:buNone/>
            </a:pPr>
            <a:r>
              <a:rPr lang="en-US" sz="1100" i="1" dirty="0">
                <a:solidFill>
                  <a:schemeClr val="accent6"/>
                </a:solidFill>
              </a:rPr>
              <a:t>α‑hydroxy acid</a:t>
            </a:r>
            <a:endParaRPr lang="en-US" sz="1100" dirty="0"/>
          </a:p>
          <a:p>
            <a:pPr indent="0" marL="0">
              <a:spcAft>
                <a:spcPts val="200"/>
              </a:spcAft>
              <a:buNone/>
            </a:pPr>
            <a:r>
              <a:rPr lang="en-US" sz="1150" b="1" dirty="0">
                <a:solidFill>
                  <a:schemeClr val="accent1"/>
                </a:solidFill>
              </a:rPr>
              <a:t>主要作用 Main role</a:t>
            </a:r>
            <a:endParaRPr lang="en-US" sz="1100" dirty="0"/>
          </a:p>
          <a:p>
            <a:pPr indent="0" marL="0">
              <a:spcAft>
                <a:spcPts val="200"/>
              </a:spcAft>
              <a:buNone/>
            </a:pPr>
            <a:r>
              <a:rPr lang="en-US" sz="1400" b="1" dirty="0">
                <a:solidFill>
                  <a:srgbClr val="000000"/>
                </a:solidFill>
              </a:rPr>
              <a:t>表面角质代谢</a:t>
            </a:r>
            <a:endParaRPr lang="en-US" sz="1100" dirty="0"/>
          </a:p>
          <a:p>
            <a:pPr indent="0" marL="0">
              <a:spcAft>
                <a:spcPts val="200"/>
              </a:spcAft>
              <a:buNone/>
            </a:pPr>
            <a:r>
              <a:rPr lang="en-US" sz="1250" dirty="0">
                <a:solidFill>
                  <a:schemeClr val="accent6"/>
                </a:solidFill>
              </a:rPr>
              <a:t>Surface exfoliation</a:t>
            </a:r>
            <a:endParaRPr lang="en-US" sz="1100" dirty="0"/>
          </a:p>
          <a:p>
            <a:pPr indent="0" marL="0">
              <a:spcAft>
                <a:spcPts val="200"/>
              </a:spcAft>
              <a:buNone/>
            </a:pPr>
            <a:r>
              <a:rPr lang="en-US" sz="1150" b="1" dirty="0">
                <a:solidFill>
                  <a:schemeClr val="accent1"/>
                </a:solidFill>
              </a:rPr>
              <a:t>常见成分 Ingredients</a:t>
            </a:r>
            <a:endParaRPr lang="en-US" sz="1100" dirty="0"/>
          </a:p>
          <a:p>
            <a:pPr indent="0" marL="0">
              <a:spcAft>
                <a:spcPts val="200"/>
              </a:spcAft>
              <a:buNone/>
            </a:pPr>
            <a:r>
              <a:rPr lang="en-US" sz="1300" dirty="0">
                <a:solidFill>
                  <a:srgbClr val="000000"/>
                </a:solidFill>
              </a:rPr>
              <a:t>甘醇酸 Glycolic · 乳酸 Lactic · 杏仁酸 Mandelic</a:t>
            </a:r>
            <a:endParaRPr lang="en-US" sz="1100" dirty="0"/>
          </a:p>
          <a:p>
            <a:pPr indent="0" marL="0">
              <a:spcAft>
                <a:spcPts val="200"/>
              </a:spcAft>
              <a:buNone/>
            </a:pPr>
            <a:r>
              <a:rPr lang="en-US" sz="1150" b="1" dirty="0">
                <a:solidFill>
                  <a:schemeClr val="accent1"/>
                </a:solidFill>
              </a:rPr>
              <a:t>适合针对 Good for</a:t>
            </a:r>
            <a:endParaRPr lang="en-US" sz="1100" dirty="0"/>
          </a:p>
          <a:p>
            <a:pPr indent="0" marL="0">
              <a:spcAft>
                <a:spcPts val="200"/>
              </a:spcAft>
              <a:buNone/>
            </a:pPr>
            <a:r>
              <a:rPr lang="en-US" sz="1300" b="1" dirty="0">
                <a:solidFill>
                  <a:srgbClr val="000000"/>
                </a:solidFill>
              </a:rPr>
              <a:t>皮肤暗沉、粗糙、肤色不均、部分浅层色素</a:t>
            </a:r>
            <a:endParaRPr lang="en-US" sz="1100" dirty="0"/>
          </a:p>
          <a:p>
            <a:pPr indent="0" marL="0">
              <a:spcAft>
                <a:spcPts val="200"/>
              </a:spcAft>
              <a:buNone/>
            </a:pPr>
            <a:r>
              <a:rPr lang="en-US" sz="1200" dirty="0">
                <a:solidFill>
                  <a:schemeClr val="accent6"/>
                </a:solidFill>
              </a:rPr>
              <a:t>Dullness, roughness, uneven tone, some superficial pigmentation</a:t>
            </a:r>
            <a:endParaRPr lang="en-US" sz="1100" dirty="0"/>
          </a:p>
          <a:p>
            <a:pPr indent="0" marL="0">
              <a:spcAft>
                <a:spcPts val="200"/>
              </a:spcAft>
              <a:buNone/>
            </a:pPr>
            <a:r>
              <a:rPr lang="en-US" sz="1250" b="1" dirty="0">
                <a:solidFill>
                  <a:schemeClr val="accent2"/>
                </a:solidFill>
              </a:rPr>
              <a:t>AHA 着重皮肤表面的焕肤 · Think: surface renewal</a:t>
            </a:r>
            <a:endParaRPr lang="en-US" sz="1100" dirty="0"/>
          </a:p>
        </p:txBody>
      </p:sp>
      <p:sp>
        <p:nvSpPr>
          <p:cNvPr id="6" name="acid card 2"/>
          <p:cNvSpPr/>
          <p:nvPr/>
        </p:nvSpPr>
        <p:spPr>
          <a:xfrm>
            <a:off x="4297680" y="1417320"/>
            <a:ext cx="3566160" cy="3886200"/>
          </a:xfrm>
          <a:prstGeom prst="roundRect">
            <a:avLst>
              <a:gd name="adj" fmla="val 3077"/>
            </a:avLst>
          </a:prstGeom>
          <a:solidFill>
            <a:schemeClr val="bg2"/>
          </a:solidFill>
          <a:ln/>
        </p:spPr>
      </p:sp>
      <p:sp>
        <p:nvSpPr>
          <p:cNvPr id="7" name="acid pill 2"/>
          <p:cNvSpPr txBox="1"/>
          <p:nvPr/>
        </p:nvSpPr>
        <p:spPr>
          <a:xfrm>
            <a:off x="4480560" y="1554480"/>
            <a:ext cx="3200400" cy="411480"/>
          </a:xfrm>
          <a:prstGeom prst="roundRect">
            <a:avLst>
              <a:gd name="adj" fmla="val 48889"/>
            </a:avLst>
          </a:prstGeom>
          <a:solidFill>
            <a:schemeClr val="accent1"/>
          </a:solidFill>
          <a:ln/>
        </p:spPr>
        <p:txBody>
          <a:bodyPr wrap="square" lIns="0" tIns="0" rIns="0" bIns="0" rtlCol="0" anchor="ctr"/>
          <a:lstStyle/>
          <a:p>
            <a:pPr algn="ctr" indent="0" marL="0">
              <a:buNone/>
            </a:pPr>
            <a:r>
              <a:rPr lang="en-US" sz="1500" b="1" dirty="0">
                <a:solidFill>
                  <a:schemeClr val="bg1"/>
                </a:solidFill>
              </a:rPr>
              <a:t>BHA 水杨酸</a:t>
            </a:r>
            <a:endParaRPr lang="en-US" sz="1500" dirty="0"/>
          </a:p>
        </p:txBody>
      </p:sp>
      <p:sp>
        <p:nvSpPr>
          <p:cNvPr id="8" name="Text 6"/>
          <p:cNvSpPr txBox="1"/>
          <p:nvPr/>
        </p:nvSpPr>
        <p:spPr>
          <a:xfrm>
            <a:off x="4480560" y="2057400"/>
            <a:ext cx="3200400" cy="3200400"/>
          </a:xfrm>
          <a:prstGeom prst="rect">
            <a:avLst/>
          </a:prstGeom>
          <a:noFill/>
          <a:ln/>
        </p:spPr>
        <p:txBody>
          <a:bodyPr wrap="square" lIns="0" tIns="0" rIns="0" bIns="0" rtlCol="0" anchor="t"/>
          <a:lstStyle/>
          <a:p>
            <a:pPr indent="0" marL="0">
              <a:spcAft>
                <a:spcPts val="200"/>
              </a:spcAft>
              <a:buNone/>
            </a:pPr>
            <a:r>
              <a:rPr lang="en-US" sz="1100" i="1" dirty="0">
                <a:solidFill>
                  <a:schemeClr val="accent6"/>
                </a:solidFill>
              </a:rPr>
              <a:t>β‑hydroxy acid</a:t>
            </a:r>
            <a:endParaRPr lang="en-US" sz="1100" dirty="0"/>
          </a:p>
          <a:p>
            <a:pPr indent="0" marL="0">
              <a:spcAft>
                <a:spcPts val="200"/>
              </a:spcAft>
              <a:buNone/>
            </a:pPr>
            <a:r>
              <a:rPr lang="en-US" sz="1150" b="1" dirty="0">
                <a:solidFill>
                  <a:schemeClr val="accent1"/>
                </a:solidFill>
              </a:rPr>
              <a:t>主要作用 Main role</a:t>
            </a:r>
            <a:endParaRPr lang="en-US" sz="1100" dirty="0"/>
          </a:p>
          <a:p>
            <a:pPr indent="0" marL="0">
              <a:spcAft>
                <a:spcPts val="200"/>
              </a:spcAft>
              <a:buNone/>
            </a:pPr>
            <a:r>
              <a:rPr lang="en-US" sz="1400" b="1" dirty="0">
                <a:solidFill>
                  <a:srgbClr val="000000"/>
                </a:solidFill>
              </a:rPr>
              <a:t>毛孔内的角质及油脂堆积</a:t>
            </a:r>
            <a:endParaRPr lang="en-US" sz="1100" dirty="0"/>
          </a:p>
          <a:p>
            <a:pPr indent="0" marL="0">
              <a:spcAft>
                <a:spcPts val="200"/>
              </a:spcAft>
              <a:buNone/>
            </a:pPr>
            <a:r>
              <a:rPr lang="en-US" sz="1250" dirty="0">
                <a:solidFill>
                  <a:schemeClr val="accent6"/>
                </a:solidFill>
              </a:rPr>
              <a:t>Keratin &amp; oil buildup inside pores</a:t>
            </a:r>
            <a:endParaRPr lang="en-US" sz="1100" dirty="0"/>
          </a:p>
          <a:p>
            <a:pPr indent="0" marL="0">
              <a:spcAft>
                <a:spcPts val="200"/>
              </a:spcAft>
              <a:buNone/>
            </a:pPr>
            <a:r>
              <a:rPr lang="en-US" sz="1150" b="1" dirty="0">
                <a:solidFill>
                  <a:schemeClr val="accent1"/>
                </a:solidFill>
              </a:rPr>
              <a:t>常见成分 Ingredients</a:t>
            </a:r>
            <a:endParaRPr lang="en-US" sz="1100" dirty="0"/>
          </a:p>
          <a:p>
            <a:pPr indent="0" marL="0">
              <a:spcAft>
                <a:spcPts val="200"/>
              </a:spcAft>
              <a:buNone/>
            </a:pPr>
            <a:r>
              <a:rPr lang="en-US" sz="1300" dirty="0">
                <a:solidFill>
                  <a:srgbClr val="000000"/>
                </a:solidFill>
              </a:rPr>
              <a:t>水杨酸 Salicylic acid（脂溶性，可进入含油脂的毛囊）</a:t>
            </a:r>
            <a:endParaRPr lang="en-US" sz="1100" dirty="0"/>
          </a:p>
          <a:p>
            <a:pPr indent="0" marL="0">
              <a:spcAft>
                <a:spcPts val="200"/>
              </a:spcAft>
              <a:buNone/>
            </a:pPr>
            <a:r>
              <a:rPr lang="en-US" sz="1150" b="1" dirty="0">
                <a:solidFill>
                  <a:schemeClr val="accent1"/>
                </a:solidFill>
              </a:rPr>
              <a:t>适合针对 Good for</a:t>
            </a:r>
            <a:endParaRPr lang="en-US" sz="1100" dirty="0"/>
          </a:p>
          <a:p>
            <a:pPr indent="0" marL="0">
              <a:spcAft>
                <a:spcPts val="200"/>
              </a:spcAft>
              <a:buNone/>
            </a:pPr>
            <a:r>
              <a:rPr lang="en-US" sz="1300" b="1" dirty="0">
                <a:solidFill>
                  <a:srgbClr val="000000"/>
                </a:solidFill>
              </a:rPr>
              <a:t>油性肌、黑头、闭口、毛孔堵塞、易长痘肤质</a:t>
            </a:r>
            <a:endParaRPr lang="en-US" sz="1100" dirty="0"/>
          </a:p>
          <a:p>
            <a:pPr indent="0" marL="0">
              <a:spcAft>
                <a:spcPts val="200"/>
              </a:spcAft>
              <a:buNone/>
            </a:pPr>
            <a:r>
              <a:rPr lang="en-US" sz="1200" dirty="0">
                <a:solidFill>
                  <a:schemeClr val="accent6"/>
                </a:solidFill>
              </a:rPr>
              <a:t>Oily skin, blackheads, closed comedones, clogged pores, acne‑prone skin</a:t>
            </a:r>
            <a:endParaRPr lang="en-US" sz="1100" dirty="0"/>
          </a:p>
          <a:p>
            <a:pPr indent="0" marL="0">
              <a:spcAft>
                <a:spcPts val="200"/>
              </a:spcAft>
              <a:buNone/>
            </a:pPr>
            <a:r>
              <a:rPr lang="en-US" sz="1250" b="1" dirty="0">
                <a:solidFill>
                  <a:schemeClr val="accent2"/>
                </a:solidFill>
              </a:rPr>
              <a:t>BHA 着重毛孔和油脂问题 · Think: pores &amp; oil</a:t>
            </a:r>
            <a:endParaRPr lang="en-US" sz="1100" dirty="0"/>
          </a:p>
        </p:txBody>
      </p:sp>
      <p:sp>
        <p:nvSpPr>
          <p:cNvPr id="9" name="acid card 3"/>
          <p:cNvSpPr/>
          <p:nvPr/>
        </p:nvSpPr>
        <p:spPr>
          <a:xfrm>
            <a:off x="8138160" y="1417320"/>
            <a:ext cx="3566160" cy="3886200"/>
          </a:xfrm>
          <a:prstGeom prst="roundRect">
            <a:avLst>
              <a:gd name="adj" fmla="val 3077"/>
            </a:avLst>
          </a:prstGeom>
          <a:solidFill>
            <a:schemeClr val="bg2"/>
          </a:solidFill>
          <a:ln/>
        </p:spPr>
      </p:sp>
      <p:sp>
        <p:nvSpPr>
          <p:cNvPr id="10" name="acid pill 3"/>
          <p:cNvSpPr txBox="1"/>
          <p:nvPr/>
        </p:nvSpPr>
        <p:spPr>
          <a:xfrm>
            <a:off x="8321040" y="1554480"/>
            <a:ext cx="3200400" cy="411480"/>
          </a:xfrm>
          <a:prstGeom prst="roundRect">
            <a:avLst>
              <a:gd name="adj" fmla="val 48889"/>
            </a:avLst>
          </a:prstGeom>
          <a:solidFill>
            <a:schemeClr val="accent3"/>
          </a:solidFill>
          <a:ln/>
        </p:spPr>
        <p:txBody>
          <a:bodyPr wrap="square" lIns="0" tIns="0" rIns="0" bIns="0" rtlCol="0" anchor="ctr"/>
          <a:lstStyle/>
          <a:p>
            <a:pPr algn="ctr" indent="0" marL="0">
              <a:buNone/>
            </a:pPr>
            <a:r>
              <a:rPr lang="en-US" sz="1500" b="1" dirty="0">
                <a:solidFill>
                  <a:schemeClr val="bg1"/>
                </a:solidFill>
              </a:rPr>
              <a:t>LHA 辛酰水杨酸</a:t>
            </a:r>
            <a:endParaRPr lang="en-US" sz="1500" dirty="0"/>
          </a:p>
        </p:txBody>
      </p:sp>
      <p:sp>
        <p:nvSpPr>
          <p:cNvPr id="11" name="Text 9"/>
          <p:cNvSpPr txBox="1"/>
          <p:nvPr/>
        </p:nvSpPr>
        <p:spPr>
          <a:xfrm>
            <a:off x="8321040" y="2057400"/>
            <a:ext cx="3200400" cy="3200400"/>
          </a:xfrm>
          <a:prstGeom prst="rect">
            <a:avLst/>
          </a:prstGeom>
          <a:noFill/>
          <a:ln/>
        </p:spPr>
        <p:txBody>
          <a:bodyPr wrap="square" lIns="0" tIns="0" rIns="0" bIns="0" rtlCol="0" anchor="t"/>
          <a:lstStyle/>
          <a:p>
            <a:pPr indent="0" marL="0">
              <a:spcAft>
                <a:spcPts val="200"/>
              </a:spcAft>
              <a:buNone/>
            </a:pPr>
            <a:r>
              <a:rPr lang="en-US" sz="1100" i="1" dirty="0">
                <a:solidFill>
                  <a:schemeClr val="accent6"/>
                </a:solidFill>
              </a:rPr>
              <a:t>Lipo Hydroxy Acid · Capryloyl Salicylic Acid</a:t>
            </a:r>
            <a:endParaRPr lang="en-US" sz="1100" dirty="0"/>
          </a:p>
          <a:p>
            <a:pPr indent="0" marL="0">
              <a:spcAft>
                <a:spcPts val="200"/>
              </a:spcAft>
              <a:buNone/>
            </a:pPr>
            <a:r>
              <a:rPr lang="en-US" sz="1150" b="1" dirty="0">
                <a:solidFill>
                  <a:schemeClr val="accent1"/>
                </a:solidFill>
              </a:rPr>
              <a:t>主要作用 Main role</a:t>
            </a:r>
            <a:endParaRPr lang="en-US" sz="1100" dirty="0"/>
          </a:p>
          <a:p>
            <a:pPr indent="0" marL="0">
              <a:spcAft>
                <a:spcPts val="200"/>
              </a:spcAft>
              <a:buNone/>
            </a:pPr>
            <a:r>
              <a:rPr lang="en-US" sz="1400" b="1" dirty="0">
                <a:solidFill>
                  <a:srgbClr val="000000"/>
                </a:solidFill>
              </a:rPr>
              <a:t>温和角质调理及毛孔护理</a:t>
            </a:r>
            <a:endParaRPr lang="en-US" sz="1100" dirty="0"/>
          </a:p>
          <a:p>
            <a:pPr indent="0" marL="0">
              <a:spcAft>
                <a:spcPts val="200"/>
              </a:spcAft>
              <a:buNone/>
            </a:pPr>
            <a:r>
              <a:rPr lang="en-US" sz="1250" dirty="0">
                <a:solidFill>
                  <a:schemeClr val="accent6"/>
                </a:solidFill>
              </a:rPr>
              <a:t>Gentle keratin conditioning &amp; pore care</a:t>
            </a:r>
            <a:endParaRPr lang="en-US" sz="1100" dirty="0"/>
          </a:p>
          <a:p>
            <a:pPr indent="0" marL="0">
              <a:spcAft>
                <a:spcPts val="200"/>
              </a:spcAft>
              <a:buNone/>
            </a:pPr>
            <a:r>
              <a:rPr lang="en-US" sz="1150" b="1" dirty="0">
                <a:solidFill>
                  <a:schemeClr val="accent1"/>
                </a:solidFill>
              </a:rPr>
              <a:t>常见成分 Ingredients</a:t>
            </a:r>
            <a:endParaRPr lang="en-US" sz="1100" dirty="0"/>
          </a:p>
          <a:p>
            <a:pPr indent="0" marL="0">
              <a:spcAft>
                <a:spcPts val="200"/>
              </a:spcAft>
              <a:buNone/>
            </a:pPr>
            <a:r>
              <a:rPr lang="en-US" sz="1300" dirty="0">
                <a:solidFill>
                  <a:srgbClr val="000000"/>
                </a:solidFill>
              </a:rPr>
              <a:t>与水杨酸相关的脂溶性成分，帮助松动老废角质之间的连接</a:t>
            </a:r>
            <a:endParaRPr lang="en-US" sz="1100" dirty="0"/>
          </a:p>
          <a:p>
            <a:pPr indent="0" marL="0">
              <a:spcAft>
                <a:spcPts val="200"/>
              </a:spcAft>
              <a:buNone/>
            </a:pPr>
            <a:r>
              <a:rPr lang="en-US" sz="1150" b="1" dirty="0">
                <a:solidFill>
                  <a:schemeClr val="accent1"/>
                </a:solidFill>
              </a:rPr>
              <a:t>适合针对 Good for</a:t>
            </a:r>
            <a:endParaRPr lang="en-US" sz="1100" dirty="0"/>
          </a:p>
          <a:p>
            <a:pPr indent="0" marL="0">
              <a:spcAft>
                <a:spcPts val="200"/>
              </a:spcAft>
              <a:buNone/>
            </a:pPr>
            <a:r>
              <a:rPr lang="en-US" sz="1300" b="1" dirty="0">
                <a:solidFill>
                  <a:srgbClr val="000000"/>
                </a:solidFill>
              </a:rPr>
              <a:t>角质堆积、粗糙、暗沉、毛孔堵塞、闭口粉刺</a:t>
            </a:r>
            <a:endParaRPr lang="en-US" sz="1100" dirty="0"/>
          </a:p>
          <a:p>
            <a:pPr indent="0" marL="0">
              <a:spcAft>
                <a:spcPts val="200"/>
              </a:spcAft>
              <a:buNone/>
            </a:pPr>
            <a:r>
              <a:rPr lang="en-US" sz="1200" dirty="0">
                <a:solidFill>
                  <a:schemeClr val="accent6"/>
                </a:solidFill>
              </a:rPr>
              <a:t>Keratin buildup, roughness, dullness, clogged pores, closed comedones</a:t>
            </a:r>
            <a:endParaRPr lang="en-US" sz="1100" dirty="0"/>
          </a:p>
          <a:p>
            <a:pPr indent="0" marL="0">
              <a:spcAft>
                <a:spcPts val="200"/>
              </a:spcAft>
              <a:buNone/>
            </a:pPr>
            <a:r>
              <a:rPr lang="en-US" sz="1250" b="1" dirty="0">
                <a:solidFill>
                  <a:schemeClr val="accent2"/>
                </a:solidFill>
              </a:rPr>
              <a:t>LHA 帮助角质更新、改善肤质 · Think: keratin renewal &amp; texture</a:t>
            </a:r>
            <a:endParaRPr lang="en-US" sz="1100" dirty="0"/>
          </a:p>
        </p:txBody>
      </p:sp>
      <p:sp>
        <p:nvSpPr>
          <p:cNvPr id="12" name="acid caution"/>
          <p:cNvSpPr/>
          <p:nvPr/>
        </p:nvSpPr>
        <p:spPr>
          <a:xfrm>
            <a:off x="457200" y="5440680"/>
            <a:ext cx="11247120" cy="822960"/>
          </a:xfrm>
          <a:prstGeom prst="roundRect">
            <a:avLst>
              <a:gd name="adj" fmla="val 13333"/>
            </a:avLst>
          </a:prstGeom>
          <a:solidFill>
            <a:srgbClr val="FBF1D6"/>
          </a:solidFill>
          <a:ln/>
        </p:spPr>
      </p:sp>
      <p:sp>
        <p:nvSpPr>
          <p:cNvPr id="13" name="acid caution icon bg"/>
          <p:cNvSpPr/>
          <p:nvPr/>
        </p:nvSpPr>
        <p:spPr>
          <a:xfrm>
            <a:off x="640080" y="5623560"/>
            <a:ext cx="457200" cy="457200"/>
          </a:xfrm>
          <a:prstGeom prst="ellipse">
            <a:avLst/>
          </a:prstGeom>
          <a:solidFill>
            <a:schemeClr val="accent2"/>
          </a:solidFill>
          <a:ln/>
        </p:spPr>
      </p:sp>
      <p:pic>
        <p:nvPicPr>
          <p:cNvPr id="14" name="acid caution icon" descr="acid caution icon">    </p:cNvPr>
          <p:cNvPicPr>
            <a:picLocks noChangeAspect="1"/>
          </p:cNvPicPr>
          <p:nvPr/>
        </p:nvPicPr>
        <p:blipFill>
          <a:blip r:embed="rId1"/>
          <a:stretch>
            <a:fillRect/>
          </a:stretch>
        </p:blipFill>
        <p:spPr>
          <a:xfrm>
            <a:off x="758952" y="5742432"/>
            <a:ext cx="219456" cy="219456"/>
          </a:xfrm>
          <a:prstGeom prst="rect">
            <a:avLst/>
          </a:prstGeom>
        </p:spPr>
      </p:pic>
      <p:sp>
        <p:nvSpPr>
          <p:cNvPr id="15" name="Text 12"/>
          <p:cNvSpPr txBox="1"/>
          <p:nvPr/>
        </p:nvSpPr>
        <p:spPr>
          <a:xfrm>
            <a:off x="1280160" y="5440680"/>
            <a:ext cx="10241280" cy="822960"/>
          </a:xfrm>
          <a:prstGeom prst="rect">
            <a:avLst/>
          </a:prstGeom>
          <a:noFill/>
          <a:ln/>
        </p:spPr>
        <p:txBody>
          <a:bodyPr wrap="square" lIns="0" tIns="0" rIns="0" bIns="0" rtlCol="0" anchor="ctr"/>
          <a:lstStyle/>
          <a:p>
            <a:pPr indent="0" marL="0">
              <a:spcAft>
                <a:spcPts val="200"/>
              </a:spcAft>
              <a:buNone/>
            </a:pPr>
            <a:r>
              <a:rPr lang="en-US" sz="1250" b="1" dirty="0">
                <a:solidFill>
                  <a:srgbClr val="000000"/>
                </a:solidFill>
              </a:rPr>
              <a:t>LHA 不一定比 AHA、BHA 更好，只是特性不同；刺激程度取决于浓度、pH、配方与使用方式；XE LHA Peel 的效果须结合完整配方判断。</a:t>
            </a:r>
            <a:endParaRPr lang="en-US" sz="1250" dirty="0"/>
          </a:p>
          <a:p>
            <a:pPr indent="0" marL="0">
              <a:spcAft>
                <a:spcPts val="200"/>
              </a:spcAft>
              <a:buNone/>
            </a:pPr>
            <a:r>
              <a:rPr lang="en-US" sz="1100" dirty="0">
                <a:solidFill>
                  <a:schemeClr val="accent6"/>
                </a:solidFill>
              </a:rPr>
              <a:t>LHA is not automatically better than AHA or BHA. Irritation depends on concentration, pH, formula and method, and XE LHA Peel's results depend on the full formula — not LHA alone.</a:t>
            </a:r>
            <a:endParaRPr lang="en-US" sz="12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为什么需要定期护理——但不能过度</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Why regular care — but never too much</a:t>
            </a:r>
            <a:endParaRPr lang="en-US" sz="3000" dirty="0"/>
          </a:p>
        </p:txBody>
      </p:sp>
      <p:sp>
        <p:nvSpPr>
          <p:cNvPr id="3" name="care card 1"/>
          <p:cNvSpPr/>
          <p:nvPr/>
        </p:nvSpPr>
        <p:spPr>
          <a:xfrm>
            <a:off x="457200" y="1417320"/>
            <a:ext cx="3566160" cy="3611880"/>
          </a:xfrm>
          <a:prstGeom prst="roundRect">
            <a:avLst>
              <a:gd name="adj" fmla="val 3077"/>
            </a:avLst>
          </a:prstGeom>
          <a:solidFill>
            <a:schemeClr val="bg2"/>
          </a:solidFill>
          <a:ln/>
        </p:spPr>
      </p:sp>
      <p:sp>
        <p:nvSpPr>
          <p:cNvPr id="4" name="care icon 1 bg"/>
          <p:cNvSpPr/>
          <p:nvPr/>
        </p:nvSpPr>
        <p:spPr>
          <a:xfrm>
            <a:off x="685800" y="1600200"/>
            <a:ext cx="685800" cy="685800"/>
          </a:xfrm>
          <a:prstGeom prst="ellipse">
            <a:avLst/>
          </a:prstGeom>
          <a:solidFill>
            <a:schemeClr val="accent1"/>
          </a:solidFill>
          <a:ln/>
        </p:spPr>
      </p:sp>
      <p:pic>
        <p:nvPicPr>
          <p:cNvPr id="5" name="care icon 1" descr="care icon 1">    </p:cNvPr>
          <p:cNvPicPr>
            <a:picLocks noChangeAspect="1"/>
          </p:cNvPicPr>
          <p:nvPr/>
        </p:nvPicPr>
        <p:blipFill>
          <a:blip r:embed="rId1"/>
          <a:stretch>
            <a:fillRect/>
          </a:stretch>
        </p:blipFill>
        <p:spPr>
          <a:xfrm>
            <a:off x="864108" y="1778508"/>
            <a:ext cx="329184" cy="329184"/>
          </a:xfrm>
          <a:prstGeom prst="rect">
            <a:avLst/>
          </a:prstGeom>
        </p:spPr>
      </p:pic>
      <p:sp>
        <p:nvSpPr>
          <p:cNvPr id="6" name="Text 3"/>
          <p:cNvSpPr txBox="1"/>
          <p:nvPr/>
        </p:nvSpPr>
        <p:spPr>
          <a:xfrm>
            <a:off x="685800" y="2423160"/>
            <a:ext cx="3108960" cy="822960"/>
          </a:xfrm>
          <a:prstGeom prst="rect">
            <a:avLst/>
          </a:prstGeom>
          <a:noFill/>
          <a:ln/>
        </p:spPr>
        <p:txBody>
          <a:bodyPr wrap="square" lIns="0" tIns="0" rIns="0" bIns="0" rtlCol="0" anchor="t"/>
          <a:lstStyle/>
          <a:p>
            <a:pPr indent="0" marL="0">
              <a:spcAft>
                <a:spcPts val="100"/>
              </a:spcAft>
              <a:buNone/>
            </a:pPr>
            <a:r>
              <a:rPr lang="en-US" sz="1600" b="1" dirty="0">
                <a:solidFill>
                  <a:schemeClr val="tx1"/>
                </a:solidFill>
              </a:rPr>
              <a:t>皮肤每天都在更新</a:t>
            </a:r>
            <a:endParaRPr lang="en-US" sz="1600" dirty="0"/>
          </a:p>
          <a:p>
            <a:pPr indent="0" marL="0">
              <a:spcAft>
                <a:spcPts val="100"/>
              </a:spcAft>
              <a:buNone/>
            </a:pPr>
            <a:r>
              <a:rPr lang="en-US" sz="1250" dirty="0">
                <a:solidFill>
                  <a:schemeClr val="accent6"/>
                </a:solidFill>
              </a:rPr>
              <a:t>Skin renews every day</a:t>
            </a:r>
            <a:endParaRPr lang="en-US" sz="1600" dirty="0"/>
          </a:p>
        </p:txBody>
      </p:sp>
      <p:sp>
        <p:nvSpPr>
          <p:cNvPr id="7" name="Text 4"/>
          <p:cNvSpPr txBox="1"/>
          <p:nvPr/>
        </p:nvSpPr>
        <p:spPr>
          <a:xfrm>
            <a:off x="685800" y="3246120"/>
            <a:ext cx="3108960" cy="17373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皮肤每天产生新的角质细胞，旧角质也持续脱落。做一次焕肤，并不代表以后永远不会再堆积。</a:t>
            </a:r>
            <a:endParaRPr lang="en-US" sz="1400" dirty="0"/>
          </a:p>
          <a:p>
            <a:pPr indent="0" marL="0">
              <a:spcAft>
                <a:spcPts val="400"/>
              </a:spcAft>
              <a:buNone/>
            </a:pPr>
            <a:r>
              <a:rPr lang="en-US" sz="1250" dirty="0">
                <a:solidFill>
                  <a:schemeClr val="accent6"/>
                </a:solidFill>
              </a:rPr>
              <a:t>New skin cells form daily while old ones keep shedding. One peel does not stop buildup forever.</a:t>
            </a:r>
            <a:endParaRPr lang="en-US" sz="1400" dirty="0"/>
          </a:p>
        </p:txBody>
      </p:sp>
      <p:sp>
        <p:nvSpPr>
          <p:cNvPr id="8" name="care card 2"/>
          <p:cNvSpPr/>
          <p:nvPr/>
        </p:nvSpPr>
        <p:spPr>
          <a:xfrm>
            <a:off x="4297680" y="1417320"/>
            <a:ext cx="3566160" cy="3611880"/>
          </a:xfrm>
          <a:prstGeom prst="roundRect">
            <a:avLst>
              <a:gd name="adj" fmla="val 3077"/>
            </a:avLst>
          </a:prstGeom>
          <a:solidFill>
            <a:schemeClr val="bg2"/>
          </a:solidFill>
          <a:ln/>
        </p:spPr>
      </p:sp>
      <p:sp>
        <p:nvSpPr>
          <p:cNvPr id="9" name="care icon 2 bg"/>
          <p:cNvSpPr/>
          <p:nvPr/>
        </p:nvSpPr>
        <p:spPr>
          <a:xfrm>
            <a:off x="4526280" y="1600200"/>
            <a:ext cx="685800" cy="685800"/>
          </a:xfrm>
          <a:prstGeom prst="ellipse">
            <a:avLst/>
          </a:prstGeom>
          <a:solidFill>
            <a:schemeClr val="accent1"/>
          </a:solidFill>
          <a:ln/>
        </p:spPr>
      </p:sp>
      <p:pic>
        <p:nvPicPr>
          <p:cNvPr id="10" name="care icon 2" descr="care icon 2">    </p:cNvPr>
          <p:cNvPicPr>
            <a:picLocks noChangeAspect="1"/>
          </p:cNvPicPr>
          <p:nvPr/>
        </p:nvPicPr>
        <p:blipFill>
          <a:blip r:embed="rId2"/>
          <a:stretch>
            <a:fillRect/>
          </a:stretch>
        </p:blipFill>
        <p:spPr>
          <a:xfrm>
            <a:off x="4704588" y="1778508"/>
            <a:ext cx="329184" cy="329184"/>
          </a:xfrm>
          <a:prstGeom prst="rect">
            <a:avLst/>
          </a:prstGeom>
        </p:spPr>
      </p:pic>
      <p:sp>
        <p:nvSpPr>
          <p:cNvPr id="11" name="Text 7"/>
          <p:cNvSpPr txBox="1"/>
          <p:nvPr/>
        </p:nvSpPr>
        <p:spPr>
          <a:xfrm>
            <a:off x="4526280" y="2423160"/>
            <a:ext cx="3108960" cy="822960"/>
          </a:xfrm>
          <a:prstGeom prst="rect">
            <a:avLst/>
          </a:prstGeom>
          <a:noFill/>
          <a:ln/>
        </p:spPr>
        <p:txBody>
          <a:bodyPr wrap="square" lIns="0" tIns="0" rIns="0" bIns="0" rtlCol="0" anchor="t"/>
          <a:lstStyle/>
          <a:p>
            <a:pPr indent="0" marL="0">
              <a:spcAft>
                <a:spcPts val="100"/>
              </a:spcAft>
              <a:buNone/>
            </a:pPr>
            <a:r>
              <a:rPr lang="en-US" sz="1600" b="1" dirty="0">
                <a:solidFill>
                  <a:schemeClr val="tx1"/>
                </a:solidFill>
              </a:rPr>
              <a:t>适当的定期护理有助维持</a:t>
            </a:r>
            <a:endParaRPr lang="en-US" sz="1600" dirty="0"/>
          </a:p>
          <a:p>
            <a:pPr indent="0" marL="0">
              <a:spcAft>
                <a:spcPts val="100"/>
              </a:spcAft>
              <a:buNone/>
            </a:pPr>
            <a:r>
              <a:rPr lang="en-US" sz="1250" dirty="0">
                <a:solidFill>
                  <a:schemeClr val="accent6"/>
                </a:solidFill>
              </a:rPr>
              <a:t>Suitable regular care helps maintain</a:t>
            </a:r>
            <a:endParaRPr lang="en-US" sz="1600" dirty="0"/>
          </a:p>
        </p:txBody>
      </p:sp>
      <p:sp>
        <p:nvSpPr>
          <p:cNvPr id="12" name="Text 8"/>
          <p:cNvSpPr txBox="1"/>
          <p:nvPr/>
        </p:nvSpPr>
        <p:spPr>
          <a:xfrm>
            <a:off x="4526280" y="3246120"/>
            <a:ext cx="3108960" cy="17373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油脂分泌旺盛、有粉刺或角质代谢不规律的顾客，皮肤仍可能再次变粗糙或堵塞。适当护理可帮助维持肤质。</a:t>
            </a:r>
            <a:endParaRPr lang="en-US" sz="1400" dirty="0"/>
          </a:p>
          <a:p>
            <a:pPr indent="0" marL="0">
              <a:spcAft>
                <a:spcPts val="400"/>
              </a:spcAft>
              <a:buNone/>
            </a:pPr>
            <a:r>
              <a:rPr lang="en-US" sz="1250" dirty="0">
                <a:solidFill>
                  <a:schemeClr val="accent6"/>
                </a:solidFill>
              </a:rPr>
              <a:t>Clients with oily skin, comedones or irregular turnover may become rough or clogged again. Suitable care helps maintain skin quality.</a:t>
            </a:r>
            <a:endParaRPr lang="en-US" sz="1400" dirty="0"/>
          </a:p>
        </p:txBody>
      </p:sp>
      <p:sp>
        <p:nvSpPr>
          <p:cNvPr id="13" name="care card 3"/>
          <p:cNvSpPr/>
          <p:nvPr/>
        </p:nvSpPr>
        <p:spPr>
          <a:xfrm>
            <a:off x="8138160" y="1417320"/>
            <a:ext cx="3566160" cy="3611880"/>
          </a:xfrm>
          <a:prstGeom prst="roundRect">
            <a:avLst>
              <a:gd name="adj" fmla="val 3077"/>
            </a:avLst>
          </a:prstGeom>
          <a:solidFill>
            <a:srgbClr val="FCEDE8"/>
          </a:solidFill>
          <a:ln/>
        </p:spPr>
      </p:sp>
      <p:sp>
        <p:nvSpPr>
          <p:cNvPr id="14" name="care icon 3 bg"/>
          <p:cNvSpPr/>
          <p:nvPr/>
        </p:nvSpPr>
        <p:spPr>
          <a:xfrm>
            <a:off x="8366760" y="1600200"/>
            <a:ext cx="685800" cy="685800"/>
          </a:xfrm>
          <a:prstGeom prst="ellipse">
            <a:avLst/>
          </a:prstGeom>
          <a:solidFill>
            <a:schemeClr val="accent3"/>
          </a:solidFill>
          <a:ln/>
        </p:spPr>
      </p:sp>
      <p:pic>
        <p:nvPicPr>
          <p:cNvPr id="15" name="care icon 3" descr="care icon 3">    </p:cNvPr>
          <p:cNvPicPr>
            <a:picLocks noChangeAspect="1"/>
          </p:cNvPicPr>
          <p:nvPr/>
        </p:nvPicPr>
        <p:blipFill>
          <a:blip r:embed="rId3"/>
          <a:stretch>
            <a:fillRect/>
          </a:stretch>
        </p:blipFill>
        <p:spPr>
          <a:xfrm>
            <a:off x="8545068" y="1778508"/>
            <a:ext cx="329184" cy="329184"/>
          </a:xfrm>
          <a:prstGeom prst="rect">
            <a:avLst/>
          </a:prstGeom>
        </p:spPr>
      </p:pic>
      <p:sp>
        <p:nvSpPr>
          <p:cNvPr id="16" name="Text 11"/>
          <p:cNvSpPr txBox="1"/>
          <p:nvPr/>
        </p:nvSpPr>
        <p:spPr>
          <a:xfrm>
            <a:off x="8366760" y="2423160"/>
            <a:ext cx="3108960" cy="822960"/>
          </a:xfrm>
          <a:prstGeom prst="rect">
            <a:avLst/>
          </a:prstGeom>
          <a:noFill/>
          <a:ln/>
        </p:spPr>
        <p:txBody>
          <a:bodyPr wrap="square" lIns="0" tIns="0" rIns="0" bIns="0" rtlCol="0" anchor="t"/>
          <a:lstStyle/>
          <a:p>
            <a:pPr indent="0" marL="0">
              <a:spcAft>
                <a:spcPts val="100"/>
              </a:spcAft>
              <a:buNone/>
            </a:pPr>
            <a:r>
              <a:rPr lang="en-US" sz="1600" b="1" dirty="0">
                <a:solidFill>
                  <a:schemeClr val="tx1"/>
                </a:solidFill>
              </a:rPr>
              <a:t>不是每个人都要每月做</a:t>
            </a:r>
            <a:endParaRPr lang="en-US" sz="1600" dirty="0"/>
          </a:p>
          <a:p>
            <a:pPr indent="0" marL="0">
              <a:spcAft>
                <a:spcPts val="100"/>
              </a:spcAft>
              <a:buNone/>
            </a:pPr>
            <a:r>
              <a:rPr lang="en-US" sz="1250" dirty="0">
                <a:solidFill>
                  <a:schemeClr val="accent6"/>
                </a:solidFill>
              </a:rPr>
              <a:t>Not everyone needs a monthly peel</a:t>
            </a:r>
            <a:endParaRPr lang="en-US" sz="1600" dirty="0"/>
          </a:p>
        </p:txBody>
      </p:sp>
      <p:sp>
        <p:nvSpPr>
          <p:cNvPr id="17" name="Text 12"/>
          <p:cNvSpPr txBox="1"/>
          <p:nvPr/>
        </p:nvSpPr>
        <p:spPr>
          <a:xfrm>
            <a:off x="8366760" y="3246120"/>
            <a:ext cx="3108960" cy="17373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频率取决于皮肤耐受度、产品浓度及品牌操作指引。过度焕肤可能造成敏感、干燥和屏障受损。</a:t>
            </a:r>
            <a:endParaRPr lang="en-US" sz="1400" dirty="0"/>
          </a:p>
          <a:p>
            <a:pPr indent="0" marL="0">
              <a:spcAft>
                <a:spcPts val="400"/>
              </a:spcAft>
              <a:buNone/>
            </a:pPr>
            <a:r>
              <a:rPr lang="en-US" sz="1250" dirty="0">
                <a:solidFill>
                  <a:schemeClr val="accent6"/>
                </a:solidFill>
              </a:rPr>
              <a:t>Frequency depends on tolerance, product strength and brand protocol. Over‑peeling can cause sensitivity, dryness and barrier damage.</a:t>
            </a:r>
            <a:endParaRPr lang="en-US" sz="1400" dirty="0"/>
          </a:p>
        </p:txBody>
      </p:sp>
      <p:sp>
        <p:nvSpPr>
          <p:cNvPr id="18" name="no overselling banner"/>
          <p:cNvSpPr/>
          <p:nvPr/>
        </p:nvSpPr>
        <p:spPr>
          <a:xfrm>
            <a:off x="457200" y="5212080"/>
            <a:ext cx="11247120" cy="1005840"/>
          </a:xfrm>
          <a:prstGeom prst="roundRect">
            <a:avLst>
              <a:gd name="adj" fmla="val 10909"/>
            </a:avLst>
          </a:prstGeom>
          <a:solidFill>
            <a:schemeClr val="tx2"/>
          </a:solidFill>
          <a:ln/>
        </p:spPr>
      </p:sp>
      <p:sp>
        <p:nvSpPr>
          <p:cNvPr id="19" name="no oversell icon bg"/>
          <p:cNvSpPr/>
          <p:nvPr/>
        </p:nvSpPr>
        <p:spPr>
          <a:xfrm>
            <a:off x="731520" y="5486400"/>
            <a:ext cx="457200" cy="457200"/>
          </a:xfrm>
          <a:prstGeom prst="ellipse">
            <a:avLst/>
          </a:prstGeom>
          <a:solidFill>
            <a:schemeClr val="accent3"/>
          </a:solidFill>
          <a:ln/>
        </p:spPr>
      </p:sp>
      <p:pic>
        <p:nvPicPr>
          <p:cNvPr id="20" name="no oversell icon" descr="no oversell icon">    </p:cNvPr>
          <p:cNvPicPr>
            <a:picLocks noChangeAspect="1"/>
          </p:cNvPicPr>
          <p:nvPr/>
        </p:nvPicPr>
        <p:blipFill>
          <a:blip r:embed="rId4"/>
          <a:stretch>
            <a:fillRect/>
          </a:stretch>
        </p:blipFill>
        <p:spPr>
          <a:xfrm>
            <a:off x="850392" y="5605272"/>
            <a:ext cx="219456" cy="219456"/>
          </a:xfrm>
          <a:prstGeom prst="rect">
            <a:avLst/>
          </a:prstGeom>
        </p:spPr>
      </p:pic>
      <p:sp>
        <p:nvSpPr>
          <p:cNvPr id="21" name="Text 15"/>
          <p:cNvSpPr txBox="1"/>
          <p:nvPr/>
        </p:nvSpPr>
        <p:spPr>
          <a:xfrm>
            <a:off x="1417320" y="5212080"/>
            <a:ext cx="10058400" cy="1005840"/>
          </a:xfrm>
          <a:prstGeom prst="rect">
            <a:avLst/>
          </a:prstGeom>
          <a:noFill/>
          <a:ln/>
        </p:spPr>
        <p:txBody>
          <a:bodyPr wrap="square" lIns="0" tIns="0" rIns="0" bIns="0" rtlCol="0" anchor="ctr"/>
          <a:lstStyle/>
          <a:p>
            <a:pPr indent="0" marL="0">
              <a:spcAft>
                <a:spcPts val="300"/>
              </a:spcAft>
              <a:buNone/>
            </a:pPr>
            <a:r>
              <a:rPr lang="en-US" sz="1600" b="1" dirty="0">
                <a:solidFill>
                  <a:schemeClr val="bg1"/>
                </a:solidFill>
              </a:rPr>
              <a:t>员工不能为了销售配套而建议顾客过度进行酸类护理。</a:t>
            </a:r>
            <a:endParaRPr lang="en-US" sz="1600" dirty="0"/>
          </a:p>
          <a:p>
            <a:pPr indent="0" marL="0">
              <a:spcAft>
                <a:spcPts val="300"/>
              </a:spcAft>
              <a:buNone/>
            </a:pPr>
            <a:r>
              <a:rPr lang="en-US" sz="1250" dirty="0">
                <a:solidFill>
                  <a:srgbClr val="CFE0D2"/>
                </a:solidFill>
              </a:rPr>
              <a:t>Never recommend excessive acid treatments just to sell a package. Follow the official protocol for frequency.</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如何向顾客解释 XE LHA Peel 的价值</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How to explain the value · from the client's problem to the principle</a:t>
            </a:r>
            <a:endParaRPr lang="en-US" sz="3000" dirty="0"/>
          </a:p>
        </p:txBody>
      </p:sp>
      <p:sp>
        <p:nvSpPr>
          <p:cNvPr id="3" name="flow 1"/>
          <p:cNvSpPr txBox="1"/>
          <p:nvPr/>
        </p:nvSpPr>
        <p:spPr>
          <a:xfrm>
            <a:off x="457200" y="1417320"/>
            <a:ext cx="1691640" cy="685800"/>
          </a:xfrm>
          <a:prstGeom prst="roundRect">
            <a:avLst>
              <a:gd name="adj" fmla="val 16000"/>
            </a:avLst>
          </a:prstGeom>
          <a:solidFill>
            <a:schemeClr val="accent1"/>
          </a:solidFill>
          <a:ln/>
        </p:spPr>
        <p:txBody>
          <a:bodyPr wrap="square" lIns="0" tIns="0" rIns="0" bIns="0" rtlCol="0" anchor="ctr"/>
          <a:lstStyle/>
          <a:p>
            <a:pPr algn="ctr" indent="0" marL="0">
              <a:buNone/>
            </a:pPr>
            <a:r>
              <a:rPr lang="en-US" sz="1400" b="1" dirty="0">
                <a:solidFill>
                  <a:schemeClr val="bg1"/>
                </a:solidFill>
              </a:rPr>
              <a:t>皮肤问题</a:t>
            </a:r>
            <a:endParaRPr lang="en-US" sz="1400" dirty="0"/>
          </a:p>
          <a:p>
            <a:pPr algn="ctr" indent="0" marL="0">
              <a:buNone/>
            </a:pPr>
            <a:r>
              <a:rPr lang="en-US" sz="1100" dirty="0">
                <a:solidFill>
                  <a:schemeClr val="bg1"/>
                </a:solidFill>
              </a:rPr>
              <a:t>Concern</a:t>
            </a:r>
            <a:endParaRPr lang="en-US" sz="1400" dirty="0"/>
          </a:p>
        </p:txBody>
      </p:sp>
      <p:sp>
        <p:nvSpPr>
          <p:cNvPr id="4" name="flow chevron 1"/>
          <p:cNvSpPr/>
          <p:nvPr/>
        </p:nvSpPr>
        <p:spPr>
          <a:xfrm>
            <a:off x="2194560" y="1627632"/>
            <a:ext cx="137160" cy="274320"/>
          </a:xfrm>
          <a:prstGeom prst="chevron">
            <a:avLst/>
          </a:prstGeom>
          <a:solidFill>
            <a:schemeClr val="accent4"/>
          </a:solidFill>
          <a:ln/>
        </p:spPr>
      </p:sp>
      <p:sp>
        <p:nvSpPr>
          <p:cNvPr id="5" name="flow 2"/>
          <p:cNvSpPr txBox="1"/>
          <p:nvPr/>
        </p:nvSpPr>
        <p:spPr>
          <a:xfrm>
            <a:off x="2377440" y="1417320"/>
            <a:ext cx="1691640" cy="685800"/>
          </a:xfrm>
          <a:prstGeom prst="roundRect">
            <a:avLst>
              <a:gd name="adj" fmla="val 16000"/>
            </a:avLst>
          </a:prstGeom>
          <a:solidFill>
            <a:schemeClr val="accent1"/>
          </a:solidFill>
          <a:ln/>
        </p:spPr>
        <p:txBody>
          <a:bodyPr wrap="square" lIns="0" tIns="0" rIns="0" bIns="0" rtlCol="0" anchor="ctr"/>
          <a:lstStyle/>
          <a:p>
            <a:pPr algn="ctr" indent="0" marL="0">
              <a:buNone/>
            </a:pPr>
            <a:r>
              <a:rPr lang="en-US" sz="1400" b="1" dirty="0">
                <a:solidFill>
                  <a:schemeClr val="bg1"/>
                </a:solidFill>
              </a:rPr>
              <a:t>形成原因</a:t>
            </a:r>
            <a:endParaRPr lang="en-US" sz="1400" dirty="0"/>
          </a:p>
          <a:p>
            <a:pPr algn="ctr" indent="0" marL="0">
              <a:buNone/>
            </a:pPr>
            <a:r>
              <a:rPr lang="en-US" sz="1100" dirty="0">
                <a:solidFill>
                  <a:schemeClr val="bg1"/>
                </a:solidFill>
              </a:rPr>
              <a:t>Cause</a:t>
            </a:r>
            <a:endParaRPr lang="en-US" sz="1400" dirty="0"/>
          </a:p>
        </p:txBody>
      </p:sp>
      <p:sp>
        <p:nvSpPr>
          <p:cNvPr id="6" name="flow chevron 2"/>
          <p:cNvSpPr/>
          <p:nvPr/>
        </p:nvSpPr>
        <p:spPr>
          <a:xfrm>
            <a:off x="4114800" y="1627632"/>
            <a:ext cx="137160" cy="274320"/>
          </a:xfrm>
          <a:prstGeom prst="chevron">
            <a:avLst/>
          </a:prstGeom>
          <a:solidFill>
            <a:schemeClr val="accent4"/>
          </a:solidFill>
          <a:ln/>
        </p:spPr>
      </p:sp>
      <p:sp>
        <p:nvSpPr>
          <p:cNvPr id="7" name="flow 3"/>
          <p:cNvSpPr txBox="1"/>
          <p:nvPr/>
        </p:nvSpPr>
        <p:spPr>
          <a:xfrm>
            <a:off x="4297680" y="1417320"/>
            <a:ext cx="1691640" cy="685800"/>
          </a:xfrm>
          <a:prstGeom prst="roundRect">
            <a:avLst>
              <a:gd name="adj" fmla="val 16000"/>
            </a:avLst>
          </a:prstGeom>
          <a:solidFill>
            <a:schemeClr val="accent1"/>
          </a:solidFill>
          <a:ln/>
        </p:spPr>
        <p:txBody>
          <a:bodyPr wrap="square" lIns="0" tIns="0" rIns="0" bIns="0" rtlCol="0" anchor="ctr"/>
          <a:lstStyle/>
          <a:p>
            <a:pPr algn="ctr" indent="0" marL="0">
              <a:buNone/>
            </a:pPr>
            <a:r>
              <a:rPr lang="en-US" sz="1400" b="1" dirty="0">
                <a:solidFill>
                  <a:schemeClr val="bg1"/>
                </a:solidFill>
              </a:rPr>
              <a:t>护理原理</a:t>
            </a:r>
            <a:endParaRPr lang="en-US" sz="1400" dirty="0"/>
          </a:p>
          <a:p>
            <a:pPr algn="ctr" indent="0" marL="0">
              <a:buNone/>
            </a:pPr>
            <a:r>
              <a:rPr lang="en-US" sz="1100" dirty="0">
                <a:solidFill>
                  <a:schemeClr val="bg1"/>
                </a:solidFill>
              </a:rPr>
              <a:t>Principle</a:t>
            </a:r>
            <a:endParaRPr lang="en-US" sz="1400" dirty="0"/>
          </a:p>
        </p:txBody>
      </p:sp>
      <p:sp>
        <p:nvSpPr>
          <p:cNvPr id="8" name="flow chevron 3"/>
          <p:cNvSpPr/>
          <p:nvPr/>
        </p:nvSpPr>
        <p:spPr>
          <a:xfrm>
            <a:off x="6035040" y="1627632"/>
            <a:ext cx="137160" cy="274320"/>
          </a:xfrm>
          <a:prstGeom prst="chevron">
            <a:avLst/>
          </a:prstGeom>
          <a:solidFill>
            <a:schemeClr val="accent4"/>
          </a:solidFill>
          <a:ln/>
        </p:spPr>
      </p:sp>
      <p:sp>
        <p:nvSpPr>
          <p:cNvPr id="9" name="flow 4"/>
          <p:cNvSpPr txBox="1"/>
          <p:nvPr/>
        </p:nvSpPr>
        <p:spPr>
          <a:xfrm>
            <a:off x="6217920" y="1417320"/>
            <a:ext cx="1691640" cy="685800"/>
          </a:xfrm>
          <a:prstGeom prst="roundRect">
            <a:avLst>
              <a:gd name="adj" fmla="val 16000"/>
            </a:avLst>
          </a:prstGeom>
          <a:solidFill>
            <a:schemeClr val="accent1"/>
          </a:solidFill>
          <a:ln/>
        </p:spPr>
        <p:txBody>
          <a:bodyPr wrap="square" lIns="0" tIns="0" rIns="0" bIns="0" rtlCol="0" anchor="ctr"/>
          <a:lstStyle/>
          <a:p>
            <a:pPr algn="ctr" indent="0" marL="0">
              <a:buNone/>
            </a:pPr>
            <a:r>
              <a:rPr lang="en-US" sz="1400" b="1" dirty="0">
                <a:solidFill>
                  <a:schemeClr val="bg1"/>
                </a:solidFill>
              </a:rPr>
              <a:t>预期改善</a:t>
            </a:r>
            <a:endParaRPr lang="en-US" sz="1400" dirty="0"/>
          </a:p>
          <a:p>
            <a:pPr algn="ctr" indent="0" marL="0">
              <a:buNone/>
            </a:pPr>
            <a:r>
              <a:rPr lang="en-US" sz="1100" dirty="0">
                <a:solidFill>
                  <a:schemeClr val="bg1"/>
                </a:solidFill>
              </a:rPr>
              <a:t>Expected result</a:t>
            </a:r>
            <a:endParaRPr lang="en-US" sz="1400" dirty="0"/>
          </a:p>
        </p:txBody>
      </p:sp>
      <p:sp>
        <p:nvSpPr>
          <p:cNvPr id="10" name="avoid recite box"/>
          <p:cNvSpPr/>
          <p:nvPr/>
        </p:nvSpPr>
        <p:spPr>
          <a:xfrm>
            <a:off x="8183880" y="1417320"/>
            <a:ext cx="3520440" cy="685800"/>
          </a:xfrm>
          <a:prstGeom prst="roundRect">
            <a:avLst>
              <a:gd name="adj" fmla="val 16000"/>
            </a:avLst>
          </a:prstGeom>
          <a:solidFill>
            <a:srgbClr val="FCEDE8"/>
          </a:solidFill>
          <a:ln/>
        </p:spPr>
      </p:sp>
      <p:sp>
        <p:nvSpPr>
          <p:cNvPr id="11" name="Text 9"/>
          <p:cNvSpPr txBox="1"/>
          <p:nvPr/>
        </p:nvSpPr>
        <p:spPr>
          <a:xfrm>
            <a:off x="8321040" y="1417320"/>
            <a:ext cx="3291840" cy="685800"/>
          </a:xfrm>
          <a:prstGeom prst="rect">
            <a:avLst/>
          </a:prstGeom>
          <a:noFill/>
          <a:ln/>
        </p:spPr>
        <p:txBody>
          <a:bodyPr wrap="square" lIns="0" tIns="0" rIns="0" bIns="0" rtlCol="0" anchor="ctr"/>
          <a:lstStyle/>
          <a:p>
            <a:pPr indent="0" marL="0">
              <a:spcAft>
                <a:spcPts val="100"/>
              </a:spcAft>
              <a:buNone/>
            </a:pPr>
            <a:r>
              <a:rPr lang="en-US" sz="1200" b="1" dirty="0">
                <a:solidFill>
                  <a:srgbClr val="000000"/>
                </a:solidFill>
              </a:rPr>
              <a:t>勿只背：美白 · 收缩毛孔 · 去粉刺</a:t>
            </a:r>
            <a:endParaRPr lang="en-US" sz="1200" dirty="0"/>
          </a:p>
          <a:p>
            <a:pPr indent="0" marL="0">
              <a:spcAft>
                <a:spcPts val="100"/>
              </a:spcAft>
              <a:buNone/>
            </a:pPr>
            <a:r>
              <a:rPr lang="en-US" sz="1050" dirty="0">
                <a:solidFill>
                  <a:schemeClr val="accent6"/>
                </a:solidFill>
              </a:rPr>
              <a:t>Don't just recite whitening / pore‑shrinking / acne claims</a:t>
            </a:r>
            <a:endParaRPr lang="en-US" sz="1200" dirty="0"/>
          </a:p>
        </p:txBody>
      </p:sp>
      <p:graphicFrame>
        <p:nvGraphicFramePr>
          <p:cNvPr id="20" name="data table"/>
          <p:cNvGraphicFramePr>
            <a:graphicFrameLocks noGrp="1"/>
          </p:cNvGraphicFramePr>
          <p:nvPr>
            <p:extLst>
              <p:ext uri="{D42A27DB-BD31-4B8C-83A1-F6EECF244321}">
                <p14:modId xmlns:p14="http://schemas.microsoft.com/office/powerpoint/2010/main" val="1579011935"/>
              </p:ext>
            </p:extLst>
          </p:nvPr>
        </p:nvGraphicFramePr>
        <p:xfrm>
          <a:off x="457200" y="2286000"/>
          <a:ext cx="11247120" cy="914400"/>
        </p:xfrm>
        <a:graphic>
          <a:graphicData uri="http://schemas.openxmlformats.org/drawingml/2006/table">
            <a:tbl>
              <a:tblPr/>
              <a:tblGrid>
                <a:gridCol w="4023360"/>
                <a:gridCol w="7223760"/>
              </a:tblGrid>
              <a:tr h="411480">
                <a:tc>
                  <a:txBody>
                    <a:bodyPr/>
                    <a:lstStyle/>
                    <a:p>
                      <a:pPr algn="l" indent="0" marL="0">
                        <a:buNone/>
                      </a:pPr>
                      <a:r>
                        <a:rPr lang="en-US" sz="1400" b="1" dirty="0">
                          <a:solidFill>
                            <a:srgbClr val="FFFFFF"/>
                          </a:solidFill>
                        </a:rPr>
                        <a:t>顾客的问题 · Client's question</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2F4A3A"/>
                    </a:solidFill>
                  </a:tcPr>
                </a:tc>
                <a:tc>
                  <a:txBody>
                    <a:bodyPr/>
                    <a:lstStyle/>
                    <a:p>
                      <a:pPr algn="l" indent="0" marL="0">
                        <a:buNone/>
                      </a:pPr>
                      <a:r>
                        <a:rPr lang="en-US" sz="1400" b="1" dirty="0">
                          <a:solidFill>
                            <a:srgbClr val="FFFFFF"/>
                          </a:solidFill>
                        </a:rPr>
                        <a:t>员工应该如何解释 · How staff should explain</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2F4A3A"/>
                    </a:solidFill>
                  </a:tcPr>
                </a:tc>
              </a:tr>
              <a:tr h="713232">
                <a:tc>
                  <a:txBody>
                    <a:bodyPr/>
                    <a:lstStyle/>
                    <a:p>
                      <a:pPr indent="0" marL="0">
                        <a:buNone/>
                      </a:pPr>
                      <a:r>
                        <a:rPr lang="en-US" sz="1300" b="1" dirty="0">
                          <a:solidFill>
                            <a:srgbClr val="1F2D26"/>
                          </a:solidFill>
                        </a:rPr>
                        <a:t>为什么我的皮肤那么暗沉？</a:t>
                      </a:r>
                      <a:endParaRPr lang="en-US" sz="1200" dirty="0"/>
                    </a:p>
                    <a:p>
                      <a:pPr indent="0" marL="0">
                        <a:buNone/>
                      </a:pPr>
                      <a:r>
                        <a:rPr lang="en-US" sz="1150" dirty="0">
                          <a:solidFill>
                            <a:srgbClr val="55665C"/>
                          </a:solidFill>
                        </a:rPr>
                        <a:t>Why is my skin so dull?</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c>
                  <a:txBody>
                    <a:bodyPr/>
                    <a:lstStyle/>
                    <a:p>
                      <a:pPr indent="0" marL="0">
                        <a:buNone/>
                      </a:pPr>
                      <a:r>
                        <a:rPr lang="en-US" sz="1300" b="1" dirty="0">
                          <a:solidFill>
                            <a:srgbClr val="1F2D26"/>
                          </a:solidFill>
                        </a:rPr>
                        <a:t>可能与老废角质堆积有关，焕肤可帮助改善皮肤表面的平滑度和光泽</a:t>
                      </a:r>
                      <a:endParaRPr lang="en-US" sz="1200" dirty="0"/>
                    </a:p>
                    <a:p>
                      <a:pPr indent="0" marL="0">
                        <a:buNone/>
                      </a:pPr>
                      <a:r>
                        <a:rPr lang="en-US" sz="1150" dirty="0">
                          <a:solidFill>
                            <a:srgbClr val="55665C"/>
                          </a:solidFill>
                        </a:rPr>
                        <a:t>It may be linked to dead‑skin buildup; a peel can help improve surface smoothness and radiance</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r>
              <a:tr h="713232">
                <a:tc>
                  <a:txBody>
                    <a:bodyPr/>
                    <a:lstStyle/>
                    <a:p>
                      <a:pPr indent="0" marL="0">
                        <a:buNone/>
                      </a:pPr>
                      <a:r>
                        <a:rPr lang="en-US" sz="1300" b="1" dirty="0">
                          <a:solidFill>
                            <a:srgbClr val="1F2D26"/>
                          </a:solidFill>
                        </a:rPr>
                        <a:t>为什么我一直有闭口？</a:t>
                      </a:r>
                      <a:endParaRPr lang="en-US" sz="1200" dirty="0"/>
                    </a:p>
                    <a:p>
                      <a:pPr indent="0" marL="0">
                        <a:buNone/>
                      </a:pPr>
                      <a:r>
                        <a:rPr lang="en-US" sz="1150" dirty="0">
                          <a:solidFill>
                            <a:srgbClr val="55665C"/>
                          </a:solidFill>
                        </a:rPr>
                        <a:t>Why do I keep getting closed comedones?</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1F2D26"/>
                          </a:solidFill>
                        </a:rPr>
                        <a:t>油脂和老废角质可能堵塞毛孔，LHA 能帮助改善角质堆积</a:t>
                      </a:r>
                      <a:endParaRPr lang="en-US" sz="1200" dirty="0"/>
                    </a:p>
                    <a:p>
                      <a:pPr indent="0" marL="0">
                        <a:buNone/>
                      </a:pPr>
                      <a:r>
                        <a:rPr lang="en-US" sz="1150" dirty="0">
                          <a:solidFill>
                            <a:srgbClr val="55665C"/>
                          </a:solidFill>
                        </a:rPr>
                        <a:t>Oil and dead skin can clog pores; LHA helps ease keratin buildup</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713232">
                <a:tc>
                  <a:txBody>
                    <a:bodyPr/>
                    <a:lstStyle/>
                    <a:p>
                      <a:pPr indent="0" marL="0">
                        <a:buNone/>
                      </a:pPr>
                      <a:r>
                        <a:rPr lang="en-US" sz="1300" b="1" dirty="0">
                          <a:solidFill>
                            <a:srgbClr val="1F2D26"/>
                          </a:solidFill>
                        </a:rPr>
                        <a:t>为什么我的皮肤摸起来很粗糙？</a:t>
                      </a:r>
                      <a:endParaRPr lang="en-US" sz="1200" dirty="0"/>
                    </a:p>
                    <a:p>
                      <a:pPr indent="0" marL="0">
                        <a:buNone/>
                      </a:pPr>
                      <a:r>
                        <a:rPr lang="en-US" sz="1150" dirty="0">
                          <a:solidFill>
                            <a:srgbClr val="55665C"/>
                          </a:solidFill>
                        </a:rPr>
                        <a:t>Why does my skin feel so rough?</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c>
                  <a:txBody>
                    <a:bodyPr/>
                    <a:lstStyle/>
                    <a:p>
                      <a:pPr indent="0" marL="0">
                        <a:buNone/>
                      </a:pPr>
                      <a:r>
                        <a:rPr lang="en-US" sz="1300" b="1" dirty="0">
                          <a:solidFill>
                            <a:srgbClr val="1F2D26"/>
                          </a:solidFill>
                        </a:rPr>
                        <a:t>角质堆积可能让表面不平整，适当焕肤可以帮助改善</a:t>
                      </a:r>
                      <a:endParaRPr lang="en-US" sz="1200" dirty="0"/>
                    </a:p>
                    <a:p>
                      <a:pPr indent="0" marL="0">
                        <a:buNone/>
                      </a:pPr>
                      <a:r>
                        <a:rPr lang="en-US" sz="1150" dirty="0">
                          <a:solidFill>
                            <a:srgbClr val="55665C"/>
                          </a:solidFill>
                        </a:rPr>
                        <a:t>Buildup can make the surface uneven; suitable peeling can help</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r>
              <a:tr h="713232">
                <a:tc>
                  <a:txBody>
                    <a:bodyPr/>
                    <a:lstStyle/>
                    <a:p>
                      <a:pPr indent="0" marL="0">
                        <a:buNone/>
                      </a:pPr>
                      <a:r>
                        <a:rPr lang="en-US" sz="1300" b="1" dirty="0">
                          <a:solidFill>
                            <a:srgbClr val="1F2D26"/>
                          </a:solidFill>
                        </a:rPr>
                        <a:t>为什么毛孔那么明显？</a:t>
                      </a:r>
                      <a:endParaRPr lang="en-US" sz="1200" dirty="0"/>
                    </a:p>
                    <a:p>
                      <a:pPr indent="0" marL="0">
                        <a:buNone/>
                      </a:pPr>
                      <a:r>
                        <a:rPr lang="en-US" sz="1150" dirty="0">
                          <a:solidFill>
                            <a:srgbClr val="55665C"/>
                          </a:solidFill>
                        </a:rPr>
                        <a:t>Why are my pores so visible?</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1F2D26"/>
                          </a:solidFill>
                        </a:rPr>
                        <a:t>可能与油脂、角质堵塞和皮肤弹性有关，焕肤主要帮助改善堵塞问题</a:t>
                      </a:r>
                      <a:endParaRPr lang="en-US" sz="1200" dirty="0"/>
                    </a:p>
                    <a:p>
                      <a:pPr indent="0" marL="0">
                        <a:buNone/>
                      </a:pPr>
                      <a:r>
                        <a:rPr lang="en-US" sz="1150" dirty="0">
                          <a:solidFill>
                            <a:srgbClr val="55665C"/>
                          </a:solidFill>
                        </a:rPr>
                        <a:t>Oil, clogging and skin elasticity all play a part; a peel mainly helps with the clogging</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713232">
                <a:tc>
                  <a:txBody>
                    <a:bodyPr/>
                    <a:lstStyle/>
                    <a:p>
                      <a:pPr indent="0" marL="0">
                        <a:buNone/>
                      </a:pPr>
                      <a:r>
                        <a:rPr lang="en-US" sz="1300" b="1" dirty="0">
                          <a:solidFill>
                            <a:srgbClr val="1F2D26"/>
                          </a:solidFill>
                        </a:rPr>
                        <a:t>为什么我做 Facial 还是暗沉？</a:t>
                      </a:r>
                      <a:endParaRPr lang="en-US" sz="1200" dirty="0"/>
                    </a:p>
                    <a:p>
                      <a:pPr indent="0" marL="0">
                        <a:buNone/>
                      </a:pPr>
                      <a:r>
                        <a:rPr lang="en-US" sz="1150" dirty="0">
                          <a:solidFill>
                            <a:srgbClr val="55665C"/>
                          </a:solidFill>
                        </a:rPr>
                        <a:t>Why is my skin still dull after facials?</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c>
                  <a:txBody>
                    <a:bodyPr/>
                    <a:lstStyle/>
                    <a:p>
                      <a:pPr indent="0" marL="0">
                        <a:buNone/>
                      </a:pPr>
                      <a:r>
                        <a:rPr lang="en-US" sz="1300" b="1" dirty="0">
                          <a:solidFill>
                            <a:srgbClr val="1F2D26"/>
                          </a:solidFill>
                        </a:rPr>
                        <a:t>如果暗沉与角质堆积有关，针对性的焕肤护理可能有所帮助</a:t>
                      </a:r>
                      <a:endParaRPr lang="en-US" sz="1200" dirty="0"/>
                    </a:p>
                    <a:p>
                      <a:pPr indent="0" marL="0">
                        <a:buNone/>
                      </a:pPr>
                      <a:r>
                        <a:rPr lang="en-US" sz="1150" dirty="0">
                          <a:solidFill>
                            <a:srgbClr val="55665C"/>
                          </a:solidFill>
                        </a:rPr>
                        <a:t>If dullness is linked to dead‑skin buildup, a targeted peel may help</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r>
            </a:tbl>
          </a:graphicData>
        </a:graphic>
      </p:graphicFrame>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员工小测试 (1/2)</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Staff Quiz (1/2) · check understanding after training</a:t>
            </a:r>
            <a:endParaRPr lang="en-US" sz="3000" dirty="0"/>
          </a:p>
        </p:txBody>
      </p:sp>
      <p:sp>
        <p:nvSpPr>
          <p:cNvPr id="3" name="quiz question 1"/>
          <p:cNvSpPr/>
          <p:nvPr/>
        </p:nvSpPr>
        <p:spPr>
          <a:xfrm>
            <a:off x="457200" y="1417320"/>
            <a:ext cx="4023360" cy="1508760"/>
          </a:xfrm>
          <a:prstGeom prst="roundRect">
            <a:avLst>
              <a:gd name="adj" fmla="val 7273"/>
            </a:avLst>
          </a:prstGeom>
          <a:solidFill>
            <a:schemeClr val="tx2"/>
          </a:solidFill>
          <a:ln/>
        </p:spPr>
      </p:sp>
      <p:sp>
        <p:nvSpPr>
          <p:cNvPr id="4" name="Text 2"/>
          <p:cNvSpPr txBox="1"/>
          <p:nvPr/>
        </p:nvSpPr>
        <p:spPr>
          <a:xfrm>
            <a:off x="685800" y="1554480"/>
            <a:ext cx="914400" cy="411480"/>
          </a:xfrm>
          <a:prstGeom prst="rect">
            <a:avLst/>
          </a:prstGeom>
          <a:noFill/>
          <a:ln/>
        </p:spPr>
        <p:txBody>
          <a:bodyPr wrap="square" lIns="0" tIns="0" rIns="0" bIns="0" rtlCol="0" anchor="ctr"/>
          <a:lstStyle/>
          <a:p>
            <a:pPr indent="0" marL="0">
              <a:buNone/>
            </a:pPr>
            <a:r>
              <a:rPr lang="en-US" sz="2200" b="1" dirty="0">
                <a:solidFill>
                  <a:schemeClr val="accent4"/>
                </a:solidFill>
              </a:rPr>
              <a:t>Q1</a:t>
            </a:r>
            <a:endParaRPr lang="en-US" sz="2200" dirty="0"/>
          </a:p>
        </p:txBody>
      </p:sp>
      <p:sp>
        <p:nvSpPr>
          <p:cNvPr id="5" name="Text 3"/>
          <p:cNvSpPr txBox="1"/>
          <p:nvPr/>
        </p:nvSpPr>
        <p:spPr>
          <a:xfrm>
            <a:off x="685800" y="2011680"/>
            <a:ext cx="3566160" cy="822960"/>
          </a:xfrm>
          <a:prstGeom prst="rect">
            <a:avLst/>
          </a:prstGeom>
          <a:noFill/>
          <a:ln/>
        </p:spPr>
        <p:txBody>
          <a:bodyPr wrap="square" lIns="0" tIns="0" rIns="0" bIns="0" rtlCol="0" anchor="t"/>
          <a:lstStyle/>
          <a:p>
            <a:pPr indent="0" marL="0">
              <a:spcAft>
                <a:spcPts val="300"/>
              </a:spcAft>
              <a:buNone/>
            </a:pPr>
            <a:r>
              <a:rPr lang="en-US" sz="1600" b="1" dirty="0">
                <a:solidFill>
                  <a:schemeClr val="bg1"/>
                </a:solidFill>
              </a:rPr>
              <a:t>XE LHA Peel 最主要的作用是什么？</a:t>
            </a:r>
            <a:endParaRPr lang="en-US" sz="1600" dirty="0"/>
          </a:p>
          <a:p>
            <a:pPr indent="0" marL="0">
              <a:spcAft>
                <a:spcPts val="300"/>
              </a:spcAft>
              <a:buNone/>
            </a:pPr>
            <a:r>
              <a:rPr lang="en-US" sz="1300" dirty="0">
                <a:solidFill>
                  <a:srgbClr val="CFE0D2"/>
                </a:solidFill>
              </a:rPr>
              <a:t>What is the main purpose of XE LHA Peel?</a:t>
            </a:r>
            <a:endParaRPr lang="en-US" sz="1600" dirty="0"/>
          </a:p>
        </p:txBody>
      </p:sp>
      <p:sp>
        <p:nvSpPr>
          <p:cNvPr id="6" name="quiz answer 1"/>
          <p:cNvSpPr/>
          <p:nvPr/>
        </p:nvSpPr>
        <p:spPr>
          <a:xfrm>
            <a:off x="4617720" y="1417320"/>
            <a:ext cx="7086600" cy="1508760"/>
          </a:xfrm>
          <a:prstGeom prst="roundRect">
            <a:avLst>
              <a:gd name="adj" fmla="val 7273"/>
            </a:avLst>
          </a:prstGeom>
          <a:solidFill>
            <a:schemeClr val="bg2"/>
          </a:solidFill>
          <a:ln/>
        </p:spPr>
      </p:sp>
      <p:sp>
        <p:nvSpPr>
          <p:cNvPr id="7" name="Text 5"/>
          <p:cNvSpPr txBox="1"/>
          <p:nvPr/>
        </p:nvSpPr>
        <p:spPr>
          <a:xfrm>
            <a:off x="4846320" y="15544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答案 Answer</a:t>
            </a:r>
            <a:endParaRPr lang="en-US" sz="1300" dirty="0"/>
          </a:p>
        </p:txBody>
      </p:sp>
      <p:sp>
        <p:nvSpPr>
          <p:cNvPr id="8" name="Text 6"/>
          <p:cNvSpPr txBox="1"/>
          <p:nvPr/>
        </p:nvSpPr>
        <p:spPr>
          <a:xfrm>
            <a:off x="4846320" y="1965960"/>
            <a:ext cx="6629400" cy="86868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帮助皮肤代谢老废角质，改善粗糙、暗沉及角质堵塞。</a:t>
            </a:r>
            <a:endParaRPr lang="en-US" sz="1500" dirty="0"/>
          </a:p>
          <a:p>
            <a:pPr indent="0" marL="0">
              <a:spcAft>
                <a:spcPts val="400"/>
              </a:spcAft>
              <a:buNone/>
            </a:pPr>
            <a:r>
              <a:rPr lang="en-US" sz="1300" dirty="0">
                <a:solidFill>
                  <a:schemeClr val="accent6"/>
                </a:solidFill>
              </a:rPr>
              <a:t>Helps the skin shed dead skin cells, improving roughness, dullness and keratin clogging.</a:t>
            </a:r>
            <a:endParaRPr lang="en-US" sz="1500" dirty="0"/>
          </a:p>
        </p:txBody>
      </p:sp>
      <p:sp>
        <p:nvSpPr>
          <p:cNvPr id="9" name="quiz question 2"/>
          <p:cNvSpPr/>
          <p:nvPr/>
        </p:nvSpPr>
        <p:spPr>
          <a:xfrm>
            <a:off x="457200" y="3063240"/>
            <a:ext cx="4023360" cy="1508760"/>
          </a:xfrm>
          <a:prstGeom prst="roundRect">
            <a:avLst>
              <a:gd name="adj" fmla="val 7273"/>
            </a:avLst>
          </a:prstGeom>
          <a:solidFill>
            <a:schemeClr val="tx2"/>
          </a:solidFill>
          <a:ln/>
        </p:spPr>
      </p:sp>
      <p:sp>
        <p:nvSpPr>
          <p:cNvPr id="10" name="Text 8"/>
          <p:cNvSpPr txBox="1"/>
          <p:nvPr/>
        </p:nvSpPr>
        <p:spPr>
          <a:xfrm>
            <a:off x="685800" y="3200400"/>
            <a:ext cx="914400" cy="411480"/>
          </a:xfrm>
          <a:prstGeom prst="rect">
            <a:avLst/>
          </a:prstGeom>
          <a:noFill/>
          <a:ln/>
        </p:spPr>
        <p:txBody>
          <a:bodyPr wrap="square" lIns="0" tIns="0" rIns="0" bIns="0" rtlCol="0" anchor="ctr"/>
          <a:lstStyle/>
          <a:p>
            <a:pPr indent="0" marL="0">
              <a:buNone/>
            </a:pPr>
            <a:r>
              <a:rPr lang="en-US" sz="2200" b="1" dirty="0">
                <a:solidFill>
                  <a:schemeClr val="accent4"/>
                </a:solidFill>
              </a:rPr>
              <a:t>Q2</a:t>
            </a:r>
            <a:endParaRPr lang="en-US" sz="2200" dirty="0"/>
          </a:p>
        </p:txBody>
      </p:sp>
      <p:sp>
        <p:nvSpPr>
          <p:cNvPr id="11" name="Text 9"/>
          <p:cNvSpPr txBox="1"/>
          <p:nvPr/>
        </p:nvSpPr>
        <p:spPr>
          <a:xfrm>
            <a:off x="685800" y="3657600"/>
            <a:ext cx="3566160" cy="822960"/>
          </a:xfrm>
          <a:prstGeom prst="rect">
            <a:avLst/>
          </a:prstGeom>
          <a:noFill/>
          <a:ln/>
        </p:spPr>
        <p:txBody>
          <a:bodyPr wrap="square" lIns="0" tIns="0" rIns="0" bIns="0" rtlCol="0" anchor="t"/>
          <a:lstStyle/>
          <a:p>
            <a:pPr indent="0" marL="0">
              <a:spcAft>
                <a:spcPts val="300"/>
              </a:spcAft>
              <a:buNone/>
            </a:pPr>
            <a:r>
              <a:rPr lang="en-US" sz="1600" b="1" dirty="0">
                <a:solidFill>
                  <a:schemeClr val="bg1"/>
                </a:solidFill>
              </a:rPr>
              <a:t>为什么做完焕肤后，皮肤可能比较亮？</a:t>
            </a:r>
            <a:endParaRPr lang="en-US" sz="1600" dirty="0"/>
          </a:p>
          <a:p>
            <a:pPr indent="0" marL="0">
              <a:spcAft>
                <a:spcPts val="300"/>
              </a:spcAft>
              <a:buNone/>
            </a:pPr>
            <a:r>
              <a:rPr lang="en-US" sz="1300" dirty="0">
                <a:solidFill>
                  <a:srgbClr val="CFE0D2"/>
                </a:solidFill>
              </a:rPr>
              <a:t>Why can skin look brighter after a peel?</a:t>
            </a:r>
            <a:endParaRPr lang="en-US" sz="1600" dirty="0"/>
          </a:p>
        </p:txBody>
      </p:sp>
      <p:sp>
        <p:nvSpPr>
          <p:cNvPr id="12" name="quiz answer 2"/>
          <p:cNvSpPr/>
          <p:nvPr/>
        </p:nvSpPr>
        <p:spPr>
          <a:xfrm>
            <a:off x="4617720" y="3063240"/>
            <a:ext cx="7086600" cy="1508760"/>
          </a:xfrm>
          <a:prstGeom prst="roundRect">
            <a:avLst>
              <a:gd name="adj" fmla="val 7273"/>
            </a:avLst>
          </a:prstGeom>
          <a:solidFill>
            <a:schemeClr val="bg2"/>
          </a:solidFill>
          <a:ln/>
        </p:spPr>
      </p:sp>
      <p:sp>
        <p:nvSpPr>
          <p:cNvPr id="13" name="Text 11"/>
          <p:cNvSpPr txBox="1"/>
          <p:nvPr/>
        </p:nvSpPr>
        <p:spPr>
          <a:xfrm>
            <a:off x="4846320" y="320040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答案 Answer</a:t>
            </a:r>
            <a:endParaRPr lang="en-US" sz="1300" dirty="0"/>
          </a:p>
        </p:txBody>
      </p:sp>
      <p:sp>
        <p:nvSpPr>
          <p:cNvPr id="14" name="Text 12"/>
          <p:cNvSpPr txBox="1"/>
          <p:nvPr/>
        </p:nvSpPr>
        <p:spPr>
          <a:xfrm>
            <a:off x="4846320" y="3611880"/>
            <a:ext cx="6629400" cy="86868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老废角质减少后，皮肤表面比较平整，光线反射更加均匀。</a:t>
            </a:r>
            <a:endParaRPr lang="en-US" sz="1500" dirty="0"/>
          </a:p>
          <a:p>
            <a:pPr indent="0" marL="0">
              <a:spcAft>
                <a:spcPts val="400"/>
              </a:spcAft>
              <a:buNone/>
            </a:pPr>
            <a:r>
              <a:rPr lang="en-US" sz="1300" dirty="0">
                <a:solidFill>
                  <a:schemeClr val="accent6"/>
                </a:solidFill>
              </a:rPr>
              <a:t>With less dead skin the surface is smoother, so light reflects more evenly.</a:t>
            </a:r>
            <a:endParaRPr lang="en-US" sz="1500" dirty="0"/>
          </a:p>
        </p:txBody>
      </p:sp>
      <p:sp>
        <p:nvSpPr>
          <p:cNvPr id="15" name="quiz question 3"/>
          <p:cNvSpPr/>
          <p:nvPr/>
        </p:nvSpPr>
        <p:spPr>
          <a:xfrm>
            <a:off x="457200" y="4709160"/>
            <a:ext cx="4023360" cy="1508760"/>
          </a:xfrm>
          <a:prstGeom prst="roundRect">
            <a:avLst>
              <a:gd name="adj" fmla="val 7273"/>
            </a:avLst>
          </a:prstGeom>
          <a:solidFill>
            <a:schemeClr val="tx2"/>
          </a:solidFill>
          <a:ln/>
        </p:spPr>
      </p:sp>
      <p:sp>
        <p:nvSpPr>
          <p:cNvPr id="16" name="Text 14"/>
          <p:cNvSpPr txBox="1"/>
          <p:nvPr/>
        </p:nvSpPr>
        <p:spPr>
          <a:xfrm>
            <a:off x="685800" y="4846320"/>
            <a:ext cx="914400" cy="411480"/>
          </a:xfrm>
          <a:prstGeom prst="rect">
            <a:avLst/>
          </a:prstGeom>
          <a:noFill/>
          <a:ln/>
        </p:spPr>
        <p:txBody>
          <a:bodyPr wrap="square" lIns="0" tIns="0" rIns="0" bIns="0" rtlCol="0" anchor="ctr"/>
          <a:lstStyle/>
          <a:p>
            <a:pPr indent="0" marL="0">
              <a:buNone/>
            </a:pPr>
            <a:r>
              <a:rPr lang="en-US" sz="2200" b="1" dirty="0">
                <a:solidFill>
                  <a:schemeClr val="accent4"/>
                </a:solidFill>
              </a:rPr>
              <a:t>Q3</a:t>
            </a:r>
            <a:endParaRPr lang="en-US" sz="2200" dirty="0"/>
          </a:p>
        </p:txBody>
      </p:sp>
      <p:sp>
        <p:nvSpPr>
          <p:cNvPr id="17" name="Text 15"/>
          <p:cNvSpPr txBox="1"/>
          <p:nvPr/>
        </p:nvSpPr>
        <p:spPr>
          <a:xfrm>
            <a:off x="685800" y="5303520"/>
            <a:ext cx="3566160" cy="822960"/>
          </a:xfrm>
          <a:prstGeom prst="rect">
            <a:avLst/>
          </a:prstGeom>
          <a:noFill/>
          <a:ln/>
        </p:spPr>
        <p:txBody>
          <a:bodyPr wrap="square" lIns="0" tIns="0" rIns="0" bIns="0" rtlCol="0" anchor="t"/>
          <a:lstStyle/>
          <a:p>
            <a:pPr indent="0" marL="0">
              <a:spcAft>
                <a:spcPts val="300"/>
              </a:spcAft>
              <a:buNone/>
            </a:pPr>
            <a:r>
              <a:rPr lang="en-US" sz="1600" b="1" dirty="0">
                <a:solidFill>
                  <a:schemeClr val="bg1"/>
                </a:solidFill>
              </a:rPr>
              <a:t>LHA 和普通 Facial 有什么区别？</a:t>
            </a:r>
            <a:endParaRPr lang="en-US" sz="1600" dirty="0"/>
          </a:p>
          <a:p>
            <a:pPr indent="0" marL="0">
              <a:spcAft>
                <a:spcPts val="300"/>
              </a:spcAft>
              <a:buNone/>
            </a:pPr>
            <a:r>
              <a:rPr lang="en-US" sz="1300" dirty="0">
                <a:solidFill>
                  <a:srgbClr val="CFE0D2"/>
                </a:solidFill>
              </a:rPr>
              <a:t>What is the difference between LHA and a regular facial?</a:t>
            </a:r>
            <a:endParaRPr lang="en-US" sz="1600" dirty="0"/>
          </a:p>
        </p:txBody>
      </p:sp>
      <p:sp>
        <p:nvSpPr>
          <p:cNvPr id="18" name="quiz answer 3"/>
          <p:cNvSpPr/>
          <p:nvPr/>
        </p:nvSpPr>
        <p:spPr>
          <a:xfrm>
            <a:off x="4617720" y="4709160"/>
            <a:ext cx="7086600" cy="1508760"/>
          </a:xfrm>
          <a:prstGeom prst="roundRect">
            <a:avLst>
              <a:gd name="adj" fmla="val 7273"/>
            </a:avLst>
          </a:prstGeom>
          <a:solidFill>
            <a:schemeClr val="bg2"/>
          </a:solidFill>
          <a:ln/>
        </p:spPr>
      </p:sp>
      <p:sp>
        <p:nvSpPr>
          <p:cNvPr id="19" name="Text 17"/>
          <p:cNvSpPr txBox="1"/>
          <p:nvPr/>
        </p:nvSpPr>
        <p:spPr>
          <a:xfrm>
            <a:off x="4846320" y="484632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答案 Answer</a:t>
            </a:r>
            <a:endParaRPr lang="en-US" sz="1300" dirty="0"/>
          </a:p>
        </p:txBody>
      </p:sp>
      <p:sp>
        <p:nvSpPr>
          <p:cNvPr id="20" name="Text 18"/>
          <p:cNvSpPr txBox="1"/>
          <p:nvPr/>
        </p:nvSpPr>
        <p:spPr>
          <a:xfrm>
            <a:off x="4846320" y="5257800"/>
            <a:ext cx="6629400" cy="86868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LHA 是一种角质调理成分，而普通 Facial 是一种护理类别。含 LHA 的焕肤护理更着重改善角质堆积。</a:t>
            </a:r>
            <a:endParaRPr lang="en-US" sz="1500" dirty="0"/>
          </a:p>
          <a:p>
            <a:pPr indent="0" marL="0">
              <a:spcAft>
                <a:spcPts val="400"/>
              </a:spcAft>
              <a:buNone/>
            </a:pPr>
            <a:r>
              <a:rPr lang="en-US" sz="1300" dirty="0">
                <a:solidFill>
                  <a:schemeClr val="accent6"/>
                </a:solidFill>
              </a:rPr>
              <a:t>LHA is a keratin‑conditioning ingredient; a facial is a type of treatment. A peel containing LHA focuses on dead‑skin buildup.</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员工小测试 (2/2) 与记忆重点</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Staff Quiz (2/2) &amp; the one sentence to remember</a:t>
            </a:r>
            <a:endParaRPr lang="en-US" sz="3000" dirty="0"/>
          </a:p>
        </p:txBody>
      </p:sp>
      <p:sp>
        <p:nvSpPr>
          <p:cNvPr id="3" name="quiz question 4"/>
          <p:cNvSpPr/>
          <p:nvPr/>
        </p:nvSpPr>
        <p:spPr>
          <a:xfrm>
            <a:off x="457200" y="1417320"/>
            <a:ext cx="4023360" cy="1417320"/>
          </a:xfrm>
          <a:prstGeom prst="roundRect">
            <a:avLst>
              <a:gd name="adj" fmla="val 7742"/>
            </a:avLst>
          </a:prstGeom>
          <a:solidFill>
            <a:schemeClr val="tx2"/>
          </a:solidFill>
          <a:ln/>
        </p:spPr>
      </p:sp>
      <p:sp>
        <p:nvSpPr>
          <p:cNvPr id="4" name="Text 2"/>
          <p:cNvSpPr txBox="1"/>
          <p:nvPr/>
        </p:nvSpPr>
        <p:spPr>
          <a:xfrm>
            <a:off x="685800" y="1554480"/>
            <a:ext cx="914400" cy="411480"/>
          </a:xfrm>
          <a:prstGeom prst="rect">
            <a:avLst/>
          </a:prstGeom>
          <a:noFill/>
          <a:ln/>
        </p:spPr>
        <p:txBody>
          <a:bodyPr wrap="square" lIns="0" tIns="0" rIns="0" bIns="0" rtlCol="0" anchor="ctr"/>
          <a:lstStyle/>
          <a:p>
            <a:pPr indent="0" marL="0">
              <a:buNone/>
            </a:pPr>
            <a:r>
              <a:rPr lang="en-US" sz="2200" b="1" dirty="0">
                <a:solidFill>
                  <a:schemeClr val="accent4"/>
                </a:solidFill>
              </a:rPr>
              <a:t>Q4</a:t>
            </a:r>
            <a:endParaRPr lang="en-US" sz="2200" dirty="0"/>
          </a:p>
        </p:txBody>
      </p:sp>
      <p:sp>
        <p:nvSpPr>
          <p:cNvPr id="5" name="Text 3"/>
          <p:cNvSpPr txBox="1"/>
          <p:nvPr/>
        </p:nvSpPr>
        <p:spPr>
          <a:xfrm>
            <a:off x="685800" y="2011680"/>
            <a:ext cx="3566160" cy="731520"/>
          </a:xfrm>
          <a:prstGeom prst="rect">
            <a:avLst/>
          </a:prstGeom>
          <a:noFill/>
          <a:ln/>
        </p:spPr>
        <p:txBody>
          <a:bodyPr wrap="square" lIns="0" tIns="0" rIns="0" bIns="0" rtlCol="0" anchor="t"/>
          <a:lstStyle/>
          <a:p>
            <a:pPr indent="0" marL="0">
              <a:spcAft>
                <a:spcPts val="300"/>
              </a:spcAft>
              <a:buNone/>
            </a:pPr>
            <a:r>
              <a:rPr lang="en-US" sz="1600" b="1" dirty="0">
                <a:solidFill>
                  <a:schemeClr val="bg1"/>
                </a:solidFill>
              </a:rPr>
              <a:t>是不是所有顾客都适合做 XE LHA Peel？</a:t>
            </a:r>
            <a:endParaRPr lang="en-US" sz="1600" dirty="0"/>
          </a:p>
          <a:p>
            <a:pPr indent="0" marL="0">
              <a:spcAft>
                <a:spcPts val="300"/>
              </a:spcAft>
              <a:buNone/>
            </a:pPr>
            <a:r>
              <a:rPr lang="en-US" sz="1300" dirty="0">
                <a:solidFill>
                  <a:srgbClr val="CFE0D2"/>
                </a:solidFill>
              </a:rPr>
              <a:t>Is XE LHA Peel suitable for every client?</a:t>
            </a:r>
            <a:endParaRPr lang="en-US" sz="1600" dirty="0"/>
          </a:p>
        </p:txBody>
      </p:sp>
      <p:sp>
        <p:nvSpPr>
          <p:cNvPr id="6" name="quiz answer 4"/>
          <p:cNvSpPr/>
          <p:nvPr/>
        </p:nvSpPr>
        <p:spPr>
          <a:xfrm>
            <a:off x="4617720" y="1417320"/>
            <a:ext cx="7086600" cy="1417320"/>
          </a:xfrm>
          <a:prstGeom prst="roundRect">
            <a:avLst>
              <a:gd name="adj" fmla="val 7742"/>
            </a:avLst>
          </a:prstGeom>
          <a:solidFill>
            <a:schemeClr val="bg2"/>
          </a:solidFill>
          <a:ln/>
        </p:spPr>
      </p:sp>
      <p:sp>
        <p:nvSpPr>
          <p:cNvPr id="7" name="Text 5"/>
          <p:cNvSpPr txBox="1"/>
          <p:nvPr/>
        </p:nvSpPr>
        <p:spPr>
          <a:xfrm>
            <a:off x="4846320" y="15544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答案 Answer</a:t>
            </a:r>
            <a:endParaRPr lang="en-US" sz="1300" dirty="0"/>
          </a:p>
        </p:txBody>
      </p:sp>
      <p:sp>
        <p:nvSpPr>
          <p:cNvPr id="8" name="Text 6"/>
          <p:cNvSpPr txBox="1"/>
          <p:nvPr/>
        </p:nvSpPr>
        <p:spPr>
          <a:xfrm>
            <a:off x="4846320" y="1965960"/>
            <a:ext cx="6629400" cy="77724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不是。皮肤敏感、屏障受损、严重发炎或有其他禁忌情况的顾客需要先评估。</a:t>
            </a:r>
            <a:endParaRPr lang="en-US" sz="1500" dirty="0"/>
          </a:p>
          <a:p>
            <a:pPr indent="0" marL="0">
              <a:spcAft>
                <a:spcPts val="400"/>
              </a:spcAft>
              <a:buNone/>
            </a:pPr>
            <a:r>
              <a:rPr lang="en-US" sz="1300" dirty="0">
                <a:solidFill>
                  <a:schemeClr val="accent6"/>
                </a:solidFill>
              </a:rPr>
              <a:t>No. Clients with sensitive or damaged‑barrier skin, severe inflammation or other contraindications must be assessed first.</a:t>
            </a:r>
            <a:endParaRPr lang="en-US" sz="1500" dirty="0"/>
          </a:p>
        </p:txBody>
      </p:sp>
      <p:sp>
        <p:nvSpPr>
          <p:cNvPr id="9" name="quiz question 5"/>
          <p:cNvSpPr/>
          <p:nvPr/>
        </p:nvSpPr>
        <p:spPr>
          <a:xfrm>
            <a:off x="457200" y="2971800"/>
            <a:ext cx="4023360" cy="1417320"/>
          </a:xfrm>
          <a:prstGeom prst="roundRect">
            <a:avLst>
              <a:gd name="adj" fmla="val 7742"/>
            </a:avLst>
          </a:prstGeom>
          <a:solidFill>
            <a:schemeClr val="tx2"/>
          </a:solidFill>
          <a:ln/>
        </p:spPr>
      </p:sp>
      <p:sp>
        <p:nvSpPr>
          <p:cNvPr id="10" name="Text 8"/>
          <p:cNvSpPr txBox="1"/>
          <p:nvPr/>
        </p:nvSpPr>
        <p:spPr>
          <a:xfrm>
            <a:off x="685800" y="3108960"/>
            <a:ext cx="914400" cy="411480"/>
          </a:xfrm>
          <a:prstGeom prst="rect">
            <a:avLst/>
          </a:prstGeom>
          <a:noFill/>
          <a:ln/>
        </p:spPr>
        <p:txBody>
          <a:bodyPr wrap="square" lIns="0" tIns="0" rIns="0" bIns="0" rtlCol="0" anchor="ctr"/>
          <a:lstStyle/>
          <a:p>
            <a:pPr indent="0" marL="0">
              <a:buNone/>
            </a:pPr>
            <a:r>
              <a:rPr lang="en-US" sz="2200" b="1" dirty="0">
                <a:solidFill>
                  <a:schemeClr val="accent4"/>
                </a:solidFill>
              </a:rPr>
              <a:t>Q5</a:t>
            </a:r>
            <a:endParaRPr lang="en-US" sz="2200" dirty="0"/>
          </a:p>
        </p:txBody>
      </p:sp>
      <p:sp>
        <p:nvSpPr>
          <p:cNvPr id="11" name="Text 9"/>
          <p:cNvSpPr txBox="1"/>
          <p:nvPr/>
        </p:nvSpPr>
        <p:spPr>
          <a:xfrm>
            <a:off x="685800" y="3566160"/>
            <a:ext cx="3566160" cy="731520"/>
          </a:xfrm>
          <a:prstGeom prst="rect">
            <a:avLst/>
          </a:prstGeom>
          <a:noFill/>
          <a:ln/>
        </p:spPr>
        <p:txBody>
          <a:bodyPr wrap="square" lIns="0" tIns="0" rIns="0" bIns="0" rtlCol="0" anchor="t"/>
          <a:lstStyle/>
          <a:p>
            <a:pPr indent="0" marL="0">
              <a:spcAft>
                <a:spcPts val="300"/>
              </a:spcAft>
              <a:buNone/>
            </a:pPr>
            <a:r>
              <a:rPr lang="en-US" sz="1600" b="1" dirty="0">
                <a:solidFill>
                  <a:schemeClr val="bg1"/>
                </a:solidFill>
              </a:rPr>
              <a:t>XE LHA Peel 是不是做越多次越好？</a:t>
            </a:r>
            <a:endParaRPr lang="en-US" sz="1600" dirty="0"/>
          </a:p>
          <a:p>
            <a:pPr indent="0" marL="0">
              <a:spcAft>
                <a:spcPts val="300"/>
              </a:spcAft>
              <a:buNone/>
            </a:pPr>
            <a:r>
              <a:rPr lang="en-US" sz="1300" dirty="0">
                <a:solidFill>
                  <a:srgbClr val="CFE0D2"/>
                </a:solidFill>
              </a:rPr>
              <a:t>Is more sessions always better?</a:t>
            </a:r>
            <a:endParaRPr lang="en-US" sz="1600" dirty="0"/>
          </a:p>
        </p:txBody>
      </p:sp>
      <p:sp>
        <p:nvSpPr>
          <p:cNvPr id="12" name="quiz answer 5"/>
          <p:cNvSpPr/>
          <p:nvPr/>
        </p:nvSpPr>
        <p:spPr>
          <a:xfrm>
            <a:off x="4617720" y="2971800"/>
            <a:ext cx="7086600" cy="1417320"/>
          </a:xfrm>
          <a:prstGeom prst="roundRect">
            <a:avLst>
              <a:gd name="adj" fmla="val 7742"/>
            </a:avLst>
          </a:prstGeom>
          <a:solidFill>
            <a:schemeClr val="bg2"/>
          </a:solidFill>
          <a:ln/>
        </p:spPr>
      </p:sp>
      <p:sp>
        <p:nvSpPr>
          <p:cNvPr id="13" name="Text 11"/>
          <p:cNvSpPr txBox="1"/>
          <p:nvPr/>
        </p:nvSpPr>
        <p:spPr>
          <a:xfrm>
            <a:off x="4846320" y="310896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答案 Answer</a:t>
            </a:r>
            <a:endParaRPr lang="en-US" sz="1300" dirty="0"/>
          </a:p>
        </p:txBody>
      </p:sp>
      <p:sp>
        <p:nvSpPr>
          <p:cNvPr id="14" name="Text 12"/>
          <p:cNvSpPr txBox="1"/>
          <p:nvPr/>
        </p:nvSpPr>
        <p:spPr>
          <a:xfrm>
            <a:off x="4846320" y="3520440"/>
            <a:ext cx="6629400" cy="77724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不是。适当的护理频率很重要，过度焕肤可能刺激皮肤。</a:t>
            </a:r>
            <a:endParaRPr lang="en-US" sz="1500" dirty="0"/>
          </a:p>
          <a:p>
            <a:pPr indent="0" marL="0">
              <a:spcAft>
                <a:spcPts val="400"/>
              </a:spcAft>
              <a:buNone/>
            </a:pPr>
            <a:r>
              <a:rPr lang="en-US" sz="1300" dirty="0">
                <a:solidFill>
                  <a:schemeClr val="accent6"/>
                </a:solidFill>
              </a:rPr>
              <a:t>No. The right frequency matters; over‑peeling can irritate the skin.</a:t>
            </a:r>
            <a:endParaRPr lang="en-US" sz="1500" dirty="0"/>
          </a:p>
        </p:txBody>
      </p:sp>
      <p:sp>
        <p:nvSpPr>
          <p:cNvPr id="15" name="memory sentence"/>
          <p:cNvSpPr/>
          <p:nvPr/>
        </p:nvSpPr>
        <p:spPr>
          <a:xfrm>
            <a:off x="457200" y="4572000"/>
            <a:ext cx="11247120" cy="1691640"/>
          </a:xfrm>
          <a:prstGeom prst="roundRect">
            <a:avLst>
              <a:gd name="adj" fmla="val 6486"/>
            </a:avLst>
          </a:prstGeom>
          <a:solidFill>
            <a:schemeClr val="tx2"/>
          </a:solidFill>
          <a:ln/>
        </p:spPr>
      </p:sp>
      <p:sp>
        <p:nvSpPr>
          <p:cNvPr id="16" name="Text 14"/>
          <p:cNvSpPr txBox="1"/>
          <p:nvPr/>
        </p:nvSpPr>
        <p:spPr>
          <a:xfrm>
            <a:off x="777240" y="4572000"/>
            <a:ext cx="10607040" cy="1691640"/>
          </a:xfrm>
          <a:prstGeom prst="rect">
            <a:avLst/>
          </a:prstGeom>
          <a:noFill/>
          <a:ln/>
        </p:spPr>
        <p:txBody>
          <a:bodyPr wrap="square" lIns="0" tIns="0" rIns="0" bIns="0" rtlCol="0" anchor="ctr"/>
          <a:lstStyle/>
          <a:p>
            <a:pPr indent="0" marL="0">
              <a:spcAft>
                <a:spcPts val="400"/>
              </a:spcAft>
              <a:buNone/>
            </a:pPr>
            <a:r>
              <a:rPr lang="en-US" sz="1200" b="1" dirty="0">
                <a:solidFill>
                  <a:schemeClr val="accent4"/>
                </a:solidFill>
              </a:rPr>
              <a:t>给员工的记忆重点 · Remember this</a:t>
            </a:r>
            <a:endParaRPr lang="en-US" sz="1200" dirty="0"/>
          </a:p>
          <a:p>
            <a:pPr indent="0" marL="0">
              <a:spcAft>
                <a:spcPts val="400"/>
              </a:spcAft>
              <a:buNone/>
            </a:pPr>
            <a:r>
              <a:rPr lang="en-US" sz="1700" b="1" dirty="0">
                <a:solidFill>
                  <a:schemeClr val="bg1"/>
                </a:solidFill>
              </a:rPr>
              <a:t>「XE LHA Peel 不只是清洁皮肤，而是帮助皮肤改善角质代谢，让肤质逐渐变得更加平滑、细腻和透亮。」</a:t>
            </a:r>
            <a:endParaRPr lang="en-US" sz="1200" dirty="0"/>
          </a:p>
          <a:p>
            <a:pPr indent="0" marL="0">
              <a:spcAft>
                <a:spcPts val="400"/>
              </a:spcAft>
              <a:buNone/>
            </a:pPr>
            <a:r>
              <a:rPr lang="en-US" sz="1300" dirty="0">
                <a:solidFill>
                  <a:srgbClr val="CFE0D2"/>
                </a:solidFill>
              </a:rPr>
              <a:t>“XE LHA Peel is not just cleansing — it helps the skin improve how it sheds dead skin cells, so skin gradually becomes smoother, finer and more radiant.”</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标准操作流程 (1/2)｜60分钟疗程</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Standard Operating Procedure (1/2) · 60 minutes · monitor skin reaction at all times 全程观察皮肤反应</a:t>
            </a:r>
            <a:endParaRPr lang="en-US" sz="3000" dirty="0"/>
          </a:p>
        </p:txBody>
      </p:sp>
      <p:sp>
        <p:nvSpPr>
          <p:cNvPr id="3" name="step card 1"/>
          <p:cNvSpPr/>
          <p:nvPr/>
        </p:nvSpPr>
        <p:spPr>
          <a:xfrm>
            <a:off x="457200" y="1417320"/>
            <a:ext cx="2697480" cy="4069080"/>
          </a:xfrm>
          <a:prstGeom prst="roundRect">
            <a:avLst>
              <a:gd name="adj" fmla="val 4068"/>
            </a:avLst>
          </a:prstGeom>
          <a:solidFill>
            <a:schemeClr val="bg2"/>
          </a:solidFill>
          <a:ln/>
        </p:spPr>
      </p:sp>
      <p:sp>
        <p:nvSpPr>
          <p:cNvPr id="4" name="num 1"/>
          <p:cNvSpPr txBox="1"/>
          <p:nvPr/>
        </p:nvSpPr>
        <p:spPr>
          <a:xfrm>
            <a:off x="640080" y="1600200"/>
            <a:ext cx="566928" cy="566928"/>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ime pill 1"/>
          <p:cNvSpPr txBox="1"/>
          <p:nvPr/>
        </p:nvSpPr>
        <p:spPr>
          <a:xfrm>
            <a:off x="1828800" y="1719072"/>
            <a:ext cx="1143000" cy="329184"/>
          </a:xfrm>
          <a:prstGeom prst="roundRect">
            <a:avLst>
              <a:gd name="adj" fmla="val 50000"/>
            </a:avLst>
          </a:prstGeom>
          <a:solidFill>
            <a:schemeClr val="accent5"/>
          </a:solidFill>
          <a:ln/>
        </p:spPr>
        <p:txBody>
          <a:bodyPr wrap="square" lIns="0" tIns="0" rIns="0" bIns="0" rtlCol="0" anchor="ctr"/>
          <a:lstStyle/>
          <a:p>
            <a:pPr algn="ctr" indent="0" marL="0">
              <a:buNone/>
            </a:pPr>
            <a:r>
              <a:rPr lang="en-US" sz="1200" b="1" dirty="0">
                <a:solidFill>
                  <a:schemeClr val="tx1"/>
                </a:solidFill>
              </a:rPr>
              <a:t>10 min 分钟</a:t>
            </a:r>
            <a:endParaRPr lang="en-US" sz="1200" dirty="0"/>
          </a:p>
        </p:txBody>
      </p:sp>
      <p:sp>
        <p:nvSpPr>
          <p:cNvPr id="6" name="Text 4"/>
          <p:cNvSpPr txBox="1"/>
          <p:nvPr/>
        </p:nvSpPr>
        <p:spPr>
          <a:xfrm>
            <a:off x="640080" y="2377440"/>
            <a:ext cx="2377440" cy="868680"/>
          </a:xfrm>
          <a:prstGeom prst="rect">
            <a:avLst/>
          </a:prstGeom>
          <a:noFill/>
          <a:ln/>
        </p:spPr>
        <p:txBody>
          <a:bodyPr wrap="square" lIns="0" tIns="0" rIns="0" bIns="0" rtlCol="0" anchor="t"/>
          <a:lstStyle/>
          <a:p>
            <a:pPr indent="0" marL="0">
              <a:spcAft>
                <a:spcPts val="100"/>
              </a:spcAft>
              <a:buNone/>
            </a:pPr>
            <a:r>
              <a:rPr lang="en-US" sz="1600" b="1" dirty="0">
                <a:solidFill>
                  <a:schemeClr val="tx1"/>
                </a:solidFill>
              </a:rPr>
              <a:t>卸妆清洁</a:t>
            </a:r>
            <a:endParaRPr lang="en-US" sz="1600" dirty="0"/>
          </a:p>
          <a:p>
            <a:pPr indent="0" marL="0">
              <a:spcAft>
                <a:spcPts val="100"/>
              </a:spcAft>
              <a:buNone/>
            </a:pPr>
            <a:r>
              <a:rPr lang="en-US" sz="1300" dirty="0">
                <a:solidFill>
                  <a:schemeClr val="accent1"/>
                </a:solidFill>
              </a:rPr>
              <a:t>Double Cleanse</a:t>
            </a:r>
            <a:endParaRPr lang="en-US" sz="1600" dirty="0"/>
          </a:p>
        </p:txBody>
      </p:sp>
      <p:sp>
        <p:nvSpPr>
          <p:cNvPr id="7" name="Text 5"/>
          <p:cNvSpPr txBox="1"/>
          <p:nvPr/>
        </p:nvSpPr>
        <p:spPr>
          <a:xfrm>
            <a:off x="640080" y="3291840"/>
            <a:ext cx="2377440" cy="2103120"/>
          </a:xfrm>
          <a:prstGeom prst="rect">
            <a:avLst/>
          </a:prstGeom>
          <a:noFill/>
          <a:ln/>
        </p:spPr>
        <p:txBody>
          <a:bodyPr wrap="square" lIns="0" tIns="0" rIns="0" bIns="0" rtlCol="0" anchor="t"/>
          <a:lstStyle/>
          <a:p>
            <a:pPr indent="0" marL="0">
              <a:spcAft>
                <a:spcPts val="600"/>
              </a:spcAft>
              <a:buNone/>
            </a:pPr>
            <a:r>
              <a:rPr lang="en-US" sz="1400" dirty="0">
                <a:solidFill>
                  <a:schemeClr val="tx1"/>
                </a:solidFill>
              </a:rPr>
              <a:t>彻底卸妆；用 XE‑LHA Foam 配专用洁面刷起泡温和清洁，擦干皮肤</a:t>
            </a:r>
            <a:endParaRPr lang="en-US" sz="1400" dirty="0"/>
          </a:p>
          <a:p>
            <a:pPr indent="0" marL="0">
              <a:spcAft>
                <a:spcPts val="600"/>
              </a:spcAft>
              <a:buNone/>
            </a:pPr>
            <a:r>
              <a:rPr lang="en-US" sz="1200" dirty="0">
                <a:solidFill>
                  <a:schemeClr val="accent6"/>
                </a:solidFill>
              </a:rPr>
              <a:t>Remove makeup; cleanse with XE‑LHA Foam and the dedicated cleansing brush; pat skin dry</a:t>
            </a:r>
            <a:endParaRPr lang="en-US" sz="1400" dirty="0"/>
          </a:p>
        </p:txBody>
      </p:sp>
      <p:sp>
        <p:nvSpPr>
          <p:cNvPr id="8" name="step card 2"/>
          <p:cNvSpPr/>
          <p:nvPr/>
        </p:nvSpPr>
        <p:spPr>
          <a:xfrm>
            <a:off x="3310128" y="1417320"/>
            <a:ext cx="2697480" cy="4069080"/>
          </a:xfrm>
          <a:prstGeom prst="roundRect">
            <a:avLst>
              <a:gd name="adj" fmla="val 4068"/>
            </a:avLst>
          </a:prstGeom>
          <a:solidFill>
            <a:schemeClr val="bg2"/>
          </a:solidFill>
          <a:ln/>
        </p:spPr>
      </p:sp>
      <p:sp>
        <p:nvSpPr>
          <p:cNvPr id="9" name="num 2"/>
          <p:cNvSpPr txBox="1"/>
          <p:nvPr/>
        </p:nvSpPr>
        <p:spPr>
          <a:xfrm>
            <a:off x="3493008" y="1600200"/>
            <a:ext cx="566928" cy="566928"/>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ime pill 2"/>
          <p:cNvSpPr txBox="1"/>
          <p:nvPr/>
        </p:nvSpPr>
        <p:spPr>
          <a:xfrm>
            <a:off x="4681728" y="1719072"/>
            <a:ext cx="1143000" cy="329184"/>
          </a:xfrm>
          <a:prstGeom prst="roundRect">
            <a:avLst>
              <a:gd name="adj" fmla="val 50000"/>
            </a:avLst>
          </a:prstGeom>
          <a:solidFill>
            <a:schemeClr val="accent5"/>
          </a:solidFill>
          <a:ln/>
        </p:spPr>
        <p:txBody>
          <a:bodyPr wrap="square" lIns="0" tIns="0" rIns="0" bIns="0" rtlCol="0" anchor="ctr"/>
          <a:lstStyle/>
          <a:p>
            <a:pPr algn="ctr" indent="0" marL="0">
              <a:buNone/>
            </a:pPr>
            <a:r>
              <a:rPr lang="en-US" sz="1200" b="1" dirty="0">
                <a:solidFill>
                  <a:schemeClr val="tx1"/>
                </a:solidFill>
              </a:rPr>
              <a:t>5 min 分钟</a:t>
            </a:r>
            <a:endParaRPr lang="en-US" sz="1200" dirty="0"/>
          </a:p>
        </p:txBody>
      </p:sp>
      <p:sp>
        <p:nvSpPr>
          <p:cNvPr id="11" name="Text 9"/>
          <p:cNvSpPr txBox="1"/>
          <p:nvPr/>
        </p:nvSpPr>
        <p:spPr>
          <a:xfrm>
            <a:off x="3493008" y="2377440"/>
            <a:ext cx="2377440" cy="868680"/>
          </a:xfrm>
          <a:prstGeom prst="rect">
            <a:avLst/>
          </a:prstGeom>
          <a:noFill/>
          <a:ln/>
        </p:spPr>
        <p:txBody>
          <a:bodyPr wrap="square" lIns="0" tIns="0" rIns="0" bIns="0" rtlCol="0" anchor="t"/>
          <a:lstStyle/>
          <a:p>
            <a:pPr indent="0" marL="0">
              <a:spcAft>
                <a:spcPts val="100"/>
              </a:spcAft>
              <a:buNone/>
            </a:pPr>
            <a:r>
              <a:rPr lang="en-US" sz="1600" b="1" dirty="0">
                <a:solidFill>
                  <a:schemeClr val="tx1"/>
                </a:solidFill>
              </a:rPr>
              <a:t>皮肤评估</a:t>
            </a:r>
            <a:endParaRPr lang="en-US" sz="1600" dirty="0"/>
          </a:p>
          <a:p>
            <a:pPr indent="0" marL="0">
              <a:spcAft>
                <a:spcPts val="100"/>
              </a:spcAft>
              <a:buNone/>
            </a:pPr>
            <a:r>
              <a:rPr lang="en-US" sz="1300" dirty="0">
                <a:solidFill>
                  <a:schemeClr val="accent1"/>
                </a:solidFill>
              </a:rPr>
              <a:t>Skin Assessment</a:t>
            </a:r>
            <a:endParaRPr lang="en-US" sz="1600" dirty="0"/>
          </a:p>
        </p:txBody>
      </p:sp>
      <p:sp>
        <p:nvSpPr>
          <p:cNvPr id="12" name="Text 10"/>
          <p:cNvSpPr txBox="1"/>
          <p:nvPr/>
        </p:nvSpPr>
        <p:spPr>
          <a:xfrm>
            <a:off x="3493008" y="3291840"/>
            <a:ext cx="2377440" cy="2103120"/>
          </a:xfrm>
          <a:prstGeom prst="rect">
            <a:avLst/>
          </a:prstGeom>
          <a:noFill/>
          <a:ln/>
        </p:spPr>
        <p:txBody>
          <a:bodyPr wrap="square" lIns="0" tIns="0" rIns="0" bIns="0" rtlCol="0" anchor="t"/>
          <a:lstStyle/>
          <a:p>
            <a:pPr indent="0" marL="0">
              <a:spcAft>
                <a:spcPts val="600"/>
              </a:spcAft>
              <a:buNone/>
            </a:pPr>
            <a:r>
              <a:rPr lang="en-US" sz="1400" dirty="0">
                <a:solidFill>
                  <a:schemeClr val="tx1"/>
                </a:solidFill>
              </a:rPr>
              <a:t>检查泛红、破损、伤口，确认适合操作</a:t>
            </a:r>
            <a:endParaRPr lang="en-US" sz="1400" dirty="0"/>
          </a:p>
          <a:p>
            <a:pPr indent="0" marL="0">
              <a:spcAft>
                <a:spcPts val="600"/>
              </a:spcAft>
              <a:buNone/>
            </a:pPr>
            <a:r>
              <a:rPr lang="en-US" sz="1200" dirty="0">
                <a:solidFill>
                  <a:schemeClr val="accent6"/>
                </a:solidFill>
              </a:rPr>
              <a:t>Check redness, cuts, wounds &amp; active inflammation; confirm client is suitable</a:t>
            </a:r>
            <a:endParaRPr lang="en-US" sz="1400" dirty="0"/>
          </a:p>
        </p:txBody>
      </p:sp>
      <p:sp>
        <p:nvSpPr>
          <p:cNvPr id="13" name="step card 3"/>
          <p:cNvSpPr/>
          <p:nvPr/>
        </p:nvSpPr>
        <p:spPr>
          <a:xfrm>
            <a:off x="6163056" y="1417320"/>
            <a:ext cx="2697480" cy="4069080"/>
          </a:xfrm>
          <a:prstGeom prst="roundRect">
            <a:avLst>
              <a:gd name="adj" fmla="val 4068"/>
            </a:avLst>
          </a:prstGeom>
          <a:solidFill>
            <a:schemeClr val="bg2"/>
          </a:solidFill>
          <a:ln/>
        </p:spPr>
      </p:sp>
      <p:sp>
        <p:nvSpPr>
          <p:cNvPr id="14" name="num 3"/>
          <p:cNvSpPr txBox="1"/>
          <p:nvPr/>
        </p:nvSpPr>
        <p:spPr>
          <a:xfrm>
            <a:off x="6345936" y="1600200"/>
            <a:ext cx="566928" cy="566928"/>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ime pill 3"/>
          <p:cNvSpPr txBox="1"/>
          <p:nvPr/>
        </p:nvSpPr>
        <p:spPr>
          <a:xfrm>
            <a:off x="7534656" y="1719072"/>
            <a:ext cx="1143000" cy="329184"/>
          </a:xfrm>
          <a:prstGeom prst="roundRect">
            <a:avLst>
              <a:gd name="adj" fmla="val 50000"/>
            </a:avLst>
          </a:prstGeom>
          <a:solidFill>
            <a:schemeClr val="accent5"/>
          </a:solidFill>
          <a:ln/>
        </p:spPr>
        <p:txBody>
          <a:bodyPr wrap="square" lIns="0" tIns="0" rIns="0" bIns="0" rtlCol="0" anchor="ctr"/>
          <a:lstStyle/>
          <a:p>
            <a:pPr algn="ctr" indent="0" marL="0">
              <a:buNone/>
            </a:pPr>
            <a:r>
              <a:rPr lang="en-US" sz="1200" b="1" dirty="0">
                <a:solidFill>
                  <a:schemeClr val="tx1"/>
                </a:solidFill>
              </a:rPr>
              <a:t>3‑5 min 分钟</a:t>
            </a:r>
            <a:endParaRPr lang="en-US" sz="1200" dirty="0"/>
          </a:p>
        </p:txBody>
      </p:sp>
      <p:sp>
        <p:nvSpPr>
          <p:cNvPr id="16" name="Text 14"/>
          <p:cNvSpPr txBox="1"/>
          <p:nvPr/>
        </p:nvSpPr>
        <p:spPr>
          <a:xfrm>
            <a:off x="6345936" y="2377440"/>
            <a:ext cx="2377440" cy="868680"/>
          </a:xfrm>
          <a:prstGeom prst="rect">
            <a:avLst/>
          </a:prstGeom>
          <a:noFill/>
          <a:ln/>
        </p:spPr>
        <p:txBody>
          <a:bodyPr wrap="square" lIns="0" tIns="0" rIns="0" bIns="0" rtlCol="0" anchor="t"/>
          <a:lstStyle/>
          <a:p>
            <a:pPr indent="0" marL="0">
              <a:spcAft>
                <a:spcPts val="100"/>
              </a:spcAft>
              <a:buNone/>
            </a:pPr>
            <a:r>
              <a:rPr lang="en-US" sz="1600" b="1" dirty="0">
                <a:solidFill>
                  <a:schemeClr val="tx1"/>
                </a:solidFill>
              </a:rPr>
              <a:t>一号液 Basic</a:t>
            </a:r>
            <a:endParaRPr lang="en-US" sz="1600" dirty="0"/>
          </a:p>
          <a:p>
            <a:pPr indent="0" marL="0">
              <a:spcAft>
                <a:spcPts val="100"/>
              </a:spcAft>
              <a:buNone/>
            </a:pPr>
            <a:r>
              <a:rPr lang="en-US" sz="1300" dirty="0">
                <a:solidFill>
                  <a:schemeClr val="accent1"/>
                </a:solidFill>
              </a:rPr>
              <a:t>XE‑LHA Basic (LHA 500 ppm)</a:t>
            </a:r>
            <a:endParaRPr lang="en-US" sz="1600" dirty="0"/>
          </a:p>
        </p:txBody>
      </p:sp>
      <p:sp>
        <p:nvSpPr>
          <p:cNvPr id="17" name="Text 15"/>
          <p:cNvSpPr txBox="1"/>
          <p:nvPr/>
        </p:nvSpPr>
        <p:spPr>
          <a:xfrm>
            <a:off x="6345936" y="3291840"/>
            <a:ext cx="2377440" cy="2103120"/>
          </a:xfrm>
          <a:prstGeom prst="rect">
            <a:avLst/>
          </a:prstGeom>
          <a:noFill/>
          <a:ln/>
        </p:spPr>
        <p:txBody>
          <a:bodyPr wrap="square" lIns="0" tIns="0" rIns="0" bIns="0" rtlCol="0" anchor="t"/>
          <a:lstStyle/>
          <a:p>
            <a:pPr indent="0" marL="0">
              <a:spcAft>
                <a:spcPts val="600"/>
              </a:spcAft>
              <a:buNone/>
            </a:pPr>
            <a:r>
              <a:rPr lang="en-US" sz="1400" dirty="0">
                <a:solidFill>
                  <a:schemeClr val="tx1"/>
                </a:solidFill>
              </a:rPr>
              <a:t>专用焕肤刷Z字型薄刷全脸（勿用普通刷），避开眼周、嘴唇。刺痛明显立即提前擦拭</a:t>
            </a:r>
            <a:endParaRPr lang="en-US" sz="1400" dirty="0"/>
          </a:p>
          <a:p>
            <a:pPr indent="0" marL="0">
              <a:spcAft>
                <a:spcPts val="600"/>
              </a:spcAft>
              <a:buNone/>
            </a:pPr>
            <a:r>
              <a:rPr lang="en-US" sz="1200" dirty="0">
                <a:solidFill>
                  <a:schemeClr val="accent6"/>
                </a:solidFill>
              </a:rPr>
              <a:t>Thin zig‑zag strokes with the dedicated peeling brush; avoid eye &amp; lip area. Stop early if stinging is severe</a:t>
            </a:r>
            <a:endParaRPr lang="en-US" sz="1400" dirty="0"/>
          </a:p>
        </p:txBody>
      </p:sp>
      <p:sp>
        <p:nvSpPr>
          <p:cNvPr id="18" name="step card 4"/>
          <p:cNvSpPr/>
          <p:nvPr/>
        </p:nvSpPr>
        <p:spPr>
          <a:xfrm>
            <a:off x="9015984" y="1417320"/>
            <a:ext cx="2697480" cy="4069080"/>
          </a:xfrm>
          <a:prstGeom prst="roundRect">
            <a:avLst>
              <a:gd name="adj" fmla="val 4068"/>
            </a:avLst>
          </a:prstGeom>
          <a:solidFill>
            <a:schemeClr val="bg2"/>
          </a:solidFill>
          <a:ln/>
        </p:spPr>
      </p:sp>
      <p:sp>
        <p:nvSpPr>
          <p:cNvPr id="19" name="num 4"/>
          <p:cNvSpPr txBox="1"/>
          <p:nvPr/>
        </p:nvSpPr>
        <p:spPr>
          <a:xfrm>
            <a:off x="9198864" y="1600200"/>
            <a:ext cx="566928" cy="566928"/>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0" name="time pill 4"/>
          <p:cNvSpPr txBox="1"/>
          <p:nvPr/>
        </p:nvSpPr>
        <p:spPr>
          <a:xfrm>
            <a:off x="10387584" y="1719072"/>
            <a:ext cx="1143000" cy="329184"/>
          </a:xfrm>
          <a:prstGeom prst="roundRect">
            <a:avLst>
              <a:gd name="adj" fmla="val 50000"/>
            </a:avLst>
          </a:prstGeom>
          <a:solidFill>
            <a:schemeClr val="accent5"/>
          </a:solidFill>
          <a:ln/>
        </p:spPr>
        <p:txBody>
          <a:bodyPr wrap="square" lIns="0" tIns="0" rIns="0" bIns="0" rtlCol="0" anchor="ctr"/>
          <a:lstStyle/>
          <a:p>
            <a:pPr algn="ctr" indent="0" marL="0">
              <a:buNone/>
            </a:pPr>
            <a:r>
              <a:rPr lang="en-US" sz="1200" b="1" dirty="0">
                <a:solidFill>
                  <a:schemeClr val="tx1"/>
                </a:solidFill>
              </a:rPr>
              <a:t>5‑8 min 分钟</a:t>
            </a:r>
            <a:endParaRPr lang="en-US" sz="1200" dirty="0"/>
          </a:p>
        </p:txBody>
      </p:sp>
      <p:sp>
        <p:nvSpPr>
          <p:cNvPr id="21" name="Text 19"/>
          <p:cNvSpPr txBox="1"/>
          <p:nvPr/>
        </p:nvSpPr>
        <p:spPr>
          <a:xfrm>
            <a:off x="9198864" y="2377440"/>
            <a:ext cx="2377440" cy="868680"/>
          </a:xfrm>
          <a:prstGeom prst="rect">
            <a:avLst/>
          </a:prstGeom>
          <a:noFill/>
          <a:ln/>
        </p:spPr>
        <p:txBody>
          <a:bodyPr wrap="square" lIns="0" tIns="0" rIns="0" bIns="0" rtlCol="0" anchor="t"/>
          <a:lstStyle/>
          <a:p>
            <a:pPr indent="0" marL="0">
              <a:spcAft>
                <a:spcPts val="100"/>
              </a:spcAft>
              <a:buNone/>
            </a:pPr>
            <a:r>
              <a:rPr lang="en-US" sz="1600" b="1" dirty="0">
                <a:solidFill>
                  <a:schemeClr val="tx1"/>
                </a:solidFill>
              </a:rPr>
              <a:t>二号液 Ultra</a:t>
            </a:r>
            <a:endParaRPr lang="en-US" sz="1600" dirty="0"/>
          </a:p>
          <a:p>
            <a:pPr indent="0" marL="0">
              <a:spcAft>
                <a:spcPts val="100"/>
              </a:spcAft>
              <a:buNone/>
            </a:pPr>
            <a:r>
              <a:rPr lang="en-US" sz="1300" dirty="0">
                <a:solidFill>
                  <a:schemeClr val="accent1"/>
                </a:solidFill>
              </a:rPr>
              <a:t>XE‑LHA Ultra (LHA 1,000 ppm)</a:t>
            </a:r>
            <a:endParaRPr lang="en-US" sz="1600" dirty="0"/>
          </a:p>
        </p:txBody>
      </p:sp>
      <p:sp>
        <p:nvSpPr>
          <p:cNvPr id="22" name="Text 20"/>
          <p:cNvSpPr txBox="1"/>
          <p:nvPr/>
        </p:nvSpPr>
        <p:spPr>
          <a:xfrm>
            <a:off x="9198864" y="3291840"/>
            <a:ext cx="2377440" cy="2103120"/>
          </a:xfrm>
          <a:prstGeom prst="rect">
            <a:avLst/>
          </a:prstGeom>
          <a:noFill/>
          <a:ln/>
        </p:spPr>
        <p:txBody>
          <a:bodyPr wrap="square" lIns="0" tIns="0" rIns="0" bIns="0" rtlCol="0" anchor="t"/>
          <a:lstStyle/>
          <a:p>
            <a:pPr indent="0" marL="0">
              <a:spcAft>
                <a:spcPts val="600"/>
              </a:spcAft>
              <a:buNone/>
            </a:pPr>
            <a:r>
              <a:rPr lang="en-US" sz="1400" dirty="0">
                <a:solidFill>
                  <a:schemeClr val="tx1"/>
                </a:solidFill>
              </a:rPr>
              <a:t>不需洗掉一号液，直接叠加二号液，均匀涂刷</a:t>
            </a:r>
            <a:endParaRPr lang="en-US" sz="1400" dirty="0"/>
          </a:p>
          <a:p>
            <a:pPr indent="0" marL="0">
              <a:spcAft>
                <a:spcPts val="600"/>
              </a:spcAft>
              <a:buNone/>
            </a:pPr>
            <a:r>
              <a:rPr lang="en-US" sz="1200" dirty="0">
                <a:solidFill>
                  <a:schemeClr val="accent6"/>
                </a:solidFill>
              </a:rPr>
              <a:t>Do not rinse Basic. Layer Ultra evenly on top</a:t>
            </a:r>
            <a:endParaRPr lang="en-US" sz="1400" dirty="0"/>
          </a:p>
        </p:txBody>
      </p:sp>
      <p:sp>
        <p:nvSpPr>
          <p:cNvPr id="23" name="tip bar"/>
          <p:cNvSpPr/>
          <p:nvPr/>
        </p:nvSpPr>
        <p:spPr>
          <a:xfrm>
            <a:off x="457200" y="5623560"/>
            <a:ext cx="11247120" cy="640080"/>
          </a:xfrm>
          <a:prstGeom prst="roundRect">
            <a:avLst>
              <a:gd name="adj" fmla="val 17143"/>
            </a:avLst>
          </a:prstGeom>
          <a:solidFill>
            <a:srgbClr val="FBF1D6"/>
          </a:solidFill>
          <a:ln/>
        </p:spPr>
      </p:sp>
      <p:sp>
        <p:nvSpPr>
          <p:cNvPr id="24" name="tip icon bg"/>
          <p:cNvSpPr/>
          <p:nvPr/>
        </p:nvSpPr>
        <p:spPr>
          <a:xfrm>
            <a:off x="640080" y="5715000"/>
            <a:ext cx="457200" cy="457200"/>
          </a:xfrm>
          <a:prstGeom prst="ellipse">
            <a:avLst/>
          </a:prstGeom>
          <a:solidFill>
            <a:schemeClr val="accent2"/>
          </a:solidFill>
          <a:ln/>
        </p:spPr>
      </p:sp>
      <p:pic>
        <p:nvPicPr>
          <p:cNvPr id="25" name="tip icon" descr="tip icon">    </p:cNvPr>
          <p:cNvPicPr>
            <a:picLocks noChangeAspect="1"/>
          </p:cNvPicPr>
          <p:nvPr/>
        </p:nvPicPr>
        <p:blipFill>
          <a:blip r:embed="rId1"/>
          <a:stretch>
            <a:fillRect/>
          </a:stretch>
        </p:blipFill>
        <p:spPr>
          <a:xfrm>
            <a:off x="758952" y="5833872"/>
            <a:ext cx="219456" cy="219456"/>
          </a:xfrm>
          <a:prstGeom prst="rect">
            <a:avLst/>
          </a:prstGeom>
        </p:spPr>
      </p:pic>
      <p:sp>
        <p:nvSpPr>
          <p:cNvPr id="26" name="Text 23"/>
          <p:cNvSpPr txBox="1"/>
          <p:nvPr/>
        </p:nvSpPr>
        <p:spPr>
          <a:xfrm>
            <a:off x="1280160" y="5623560"/>
            <a:ext cx="10241280" cy="640080"/>
          </a:xfrm>
          <a:prstGeom prst="rect">
            <a:avLst/>
          </a:prstGeom>
          <a:noFill/>
          <a:ln/>
        </p:spPr>
        <p:txBody>
          <a:bodyPr wrap="square" lIns="0" tIns="0" rIns="0" bIns="0" rtlCol="0" anchor="ctr"/>
          <a:lstStyle/>
          <a:p>
            <a:pPr indent="0" marL="0">
              <a:buNone/>
            </a:pPr>
            <a:r>
              <a:rPr lang="en-US" sz="1400" b="1" dirty="0">
                <a:solidFill>
                  <a:srgbClr val="000000"/>
                </a:solidFill>
              </a:rPr>
              <a:t>新手美疗师请缩短停留时间；敏感肌总停留时间不超过6分钟</a:t>
            </a:r>
            <a:endParaRPr lang="en-US" sz="1400" dirty="0"/>
          </a:p>
          <a:p>
            <a:pPr indent="0" marL="0">
              <a:buNone/>
            </a:pPr>
            <a:r>
              <a:rPr lang="en-US" sz="1200" dirty="0">
                <a:solidFill>
                  <a:schemeClr val="accent6"/>
                </a:solidFill>
              </a:rPr>
              <a:t>Trainee therapists: shorten dwell time. Sensitive skin: maximum 6 minutes in total.</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标准操作流程 (2/2)｜收尾与护理</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Standard Operating Procedure (2/2) · removal, soothing &amp; finishing</a:t>
            </a:r>
            <a:endParaRPr lang="en-US" sz="3000" dirty="0"/>
          </a:p>
        </p:txBody>
      </p:sp>
      <p:sp>
        <p:nvSpPr>
          <p:cNvPr id="3" name="step card 5"/>
          <p:cNvSpPr/>
          <p:nvPr/>
        </p:nvSpPr>
        <p:spPr>
          <a:xfrm>
            <a:off x="457200" y="1417320"/>
            <a:ext cx="2697480" cy="4069080"/>
          </a:xfrm>
          <a:prstGeom prst="roundRect">
            <a:avLst>
              <a:gd name="adj" fmla="val 4068"/>
            </a:avLst>
          </a:prstGeom>
          <a:solidFill>
            <a:schemeClr val="bg2"/>
          </a:solidFill>
          <a:ln/>
        </p:spPr>
      </p:sp>
      <p:sp>
        <p:nvSpPr>
          <p:cNvPr id="4" name="num 5"/>
          <p:cNvSpPr txBox="1"/>
          <p:nvPr/>
        </p:nvSpPr>
        <p:spPr>
          <a:xfrm>
            <a:off x="640080" y="1600200"/>
            <a:ext cx="566928" cy="566928"/>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5" name="Text 3"/>
          <p:cNvSpPr txBox="1"/>
          <p:nvPr/>
        </p:nvSpPr>
        <p:spPr>
          <a:xfrm>
            <a:off x="640080" y="2377440"/>
            <a:ext cx="2377440" cy="868680"/>
          </a:xfrm>
          <a:prstGeom prst="rect">
            <a:avLst/>
          </a:prstGeom>
          <a:noFill/>
          <a:ln/>
        </p:spPr>
        <p:txBody>
          <a:bodyPr wrap="square" lIns="0" tIns="0" rIns="0" bIns="0" rtlCol="0" anchor="t"/>
          <a:lstStyle/>
          <a:p>
            <a:pPr indent="0" marL="0">
              <a:spcAft>
                <a:spcPts val="100"/>
              </a:spcAft>
              <a:buNone/>
            </a:pPr>
            <a:r>
              <a:rPr lang="en-US" sz="1600" b="1" dirty="0">
                <a:solidFill>
                  <a:schemeClr val="tx1"/>
                </a:solidFill>
              </a:rPr>
              <a:t>擦拭清洁</a:t>
            </a:r>
            <a:endParaRPr lang="en-US" sz="1600" dirty="0"/>
          </a:p>
          <a:p>
            <a:pPr indent="0" marL="0">
              <a:spcAft>
                <a:spcPts val="100"/>
              </a:spcAft>
              <a:buNone/>
            </a:pPr>
            <a:r>
              <a:rPr lang="en-US" sz="1300" dirty="0">
                <a:solidFill>
                  <a:schemeClr val="accent1"/>
                </a:solidFill>
              </a:rPr>
              <a:t>Remove Solution</a:t>
            </a:r>
            <a:endParaRPr lang="en-US" sz="1600" dirty="0"/>
          </a:p>
        </p:txBody>
      </p:sp>
      <p:sp>
        <p:nvSpPr>
          <p:cNvPr id="6" name="Text 4"/>
          <p:cNvSpPr txBox="1"/>
          <p:nvPr/>
        </p:nvSpPr>
        <p:spPr>
          <a:xfrm>
            <a:off x="640080" y="3291840"/>
            <a:ext cx="2377440" cy="2103120"/>
          </a:xfrm>
          <a:prstGeom prst="rect">
            <a:avLst/>
          </a:prstGeom>
          <a:noFill/>
          <a:ln/>
        </p:spPr>
        <p:txBody>
          <a:bodyPr wrap="square" lIns="0" tIns="0" rIns="0" bIns="0" rtlCol="0" anchor="t"/>
          <a:lstStyle/>
          <a:p>
            <a:pPr indent="0" marL="0">
              <a:spcAft>
                <a:spcPts val="600"/>
              </a:spcAft>
              <a:buNone/>
            </a:pPr>
            <a:r>
              <a:rPr lang="en-US" sz="1400" dirty="0">
                <a:solidFill>
                  <a:schemeClr val="tx1"/>
                </a:solidFill>
              </a:rPr>
              <a:t>用常温纱布/化妆棉蘸凉清水，轻柔擦净焕肤液。禁止热水冲洗</a:t>
            </a:r>
            <a:endParaRPr lang="en-US" sz="1400" dirty="0"/>
          </a:p>
          <a:p>
            <a:pPr indent="0" marL="0">
              <a:spcAft>
                <a:spcPts val="600"/>
              </a:spcAft>
              <a:buNone/>
            </a:pPr>
            <a:r>
              <a:rPr lang="en-US" sz="1200" dirty="0">
                <a:solidFill>
                  <a:schemeClr val="accent6"/>
                </a:solidFill>
              </a:rPr>
              <a:t>Wipe off all peel solution gently with cool damp gauze. NO HOT WATER</a:t>
            </a:r>
            <a:endParaRPr lang="en-US" sz="1400" dirty="0"/>
          </a:p>
        </p:txBody>
      </p:sp>
      <p:sp>
        <p:nvSpPr>
          <p:cNvPr id="7" name="step card 6"/>
          <p:cNvSpPr/>
          <p:nvPr/>
        </p:nvSpPr>
        <p:spPr>
          <a:xfrm>
            <a:off x="3310128" y="1417320"/>
            <a:ext cx="2697480" cy="4069080"/>
          </a:xfrm>
          <a:prstGeom prst="roundRect">
            <a:avLst>
              <a:gd name="adj" fmla="val 4068"/>
            </a:avLst>
          </a:prstGeom>
          <a:solidFill>
            <a:schemeClr val="bg2"/>
          </a:solidFill>
          <a:ln/>
        </p:spPr>
      </p:sp>
      <p:sp>
        <p:nvSpPr>
          <p:cNvPr id="8" name="num 6"/>
          <p:cNvSpPr txBox="1"/>
          <p:nvPr/>
        </p:nvSpPr>
        <p:spPr>
          <a:xfrm>
            <a:off x="3493008" y="1600200"/>
            <a:ext cx="566928" cy="566928"/>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9" name="time pill 6"/>
          <p:cNvSpPr txBox="1"/>
          <p:nvPr/>
        </p:nvSpPr>
        <p:spPr>
          <a:xfrm>
            <a:off x="4681728" y="1719072"/>
            <a:ext cx="1143000" cy="329184"/>
          </a:xfrm>
          <a:prstGeom prst="roundRect">
            <a:avLst>
              <a:gd name="adj" fmla="val 50000"/>
            </a:avLst>
          </a:prstGeom>
          <a:solidFill>
            <a:schemeClr val="accent5"/>
          </a:solidFill>
          <a:ln/>
        </p:spPr>
        <p:txBody>
          <a:bodyPr wrap="square" lIns="0" tIns="0" rIns="0" bIns="0" rtlCol="0" anchor="ctr"/>
          <a:lstStyle/>
          <a:p>
            <a:pPr algn="ctr" indent="0" marL="0">
              <a:buNone/>
            </a:pPr>
            <a:r>
              <a:rPr lang="en-US" sz="1200" b="1" dirty="0">
                <a:solidFill>
                  <a:schemeClr val="tx1"/>
                </a:solidFill>
              </a:rPr>
              <a:t>10 min 分钟</a:t>
            </a:r>
            <a:endParaRPr lang="en-US" sz="1200" dirty="0"/>
          </a:p>
        </p:txBody>
      </p:sp>
      <p:sp>
        <p:nvSpPr>
          <p:cNvPr id="10" name="Text 8"/>
          <p:cNvSpPr txBox="1"/>
          <p:nvPr/>
        </p:nvSpPr>
        <p:spPr>
          <a:xfrm>
            <a:off x="3493008" y="2377440"/>
            <a:ext cx="2377440" cy="868680"/>
          </a:xfrm>
          <a:prstGeom prst="rect">
            <a:avLst/>
          </a:prstGeom>
          <a:noFill/>
          <a:ln/>
        </p:spPr>
        <p:txBody>
          <a:bodyPr wrap="square" lIns="0" tIns="0" rIns="0" bIns="0" rtlCol="0" anchor="t"/>
          <a:lstStyle/>
          <a:p>
            <a:pPr indent="0" marL="0">
              <a:spcAft>
                <a:spcPts val="100"/>
              </a:spcAft>
              <a:buNone/>
            </a:pPr>
            <a:r>
              <a:rPr lang="en-US" sz="1600" b="1" dirty="0">
                <a:solidFill>
                  <a:schemeClr val="tx1"/>
                </a:solidFill>
              </a:rPr>
              <a:t>舒缓镇静</a:t>
            </a:r>
            <a:endParaRPr lang="en-US" sz="1600" dirty="0"/>
          </a:p>
          <a:p>
            <a:pPr indent="0" marL="0">
              <a:spcAft>
                <a:spcPts val="100"/>
              </a:spcAft>
              <a:buNone/>
            </a:pPr>
            <a:r>
              <a:rPr lang="en-US" sz="1300" dirty="0">
                <a:solidFill>
                  <a:schemeClr val="accent1"/>
                </a:solidFill>
              </a:rPr>
              <a:t>Soothe</a:t>
            </a:r>
            <a:endParaRPr lang="en-US" sz="1600" dirty="0"/>
          </a:p>
        </p:txBody>
      </p:sp>
      <p:sp>
        <p:nvSpPr>
          <p:cNvPr id="11" name="Text 9"/>
          <p:cNvSpPr txBox="1"/>
          <p:nvPr/>
        </p:nvSpPr>
        <p:spPr>
          <a:xfrm>
            <a:off x="3493008" y="3291840"/>
            <a:ext cx="2377440" cy="2103120"/>
          </a:xfrm>
          <a:prstGeom prst="rect">
            <a:avLst/>
          </a:prstGeom>
          <a:noFill/>
          <a:ln/>
        </p:spPr>
        <p:txBody>
          <a:bodyPr wrap="square" lIns="0" tIns="0" rIns="0" bIns="0" rtlCol="0" anchor="t"/>
          <a:lstStyle/>
          <a:p>
            <a:pPr indent="0" marL="0">
              <a:spcAft>
                <a:spcPts val="600"/>
              </a:spcAft>
              <a:buNone/>
            </a:pPr>
            <a:r>
              <a:rPr lang="en-US" sz="1400" dirty="0">
                <a:solidFill>
                  <a:schemeClr val="tx1"/>
                </a:solidFill>
              </a:rPr>
              <a:t>导入舒缓补水修护精华 / 冷喷镇静</a:t>
            </a:r>
            <a:endParaRPr lang="en-US" sz="1400" dirty="0"/>
          </a:p>
          <a:p>
            <a:pPr indent="0" marL="0">
              <a:spcAft>
                <a:spcPts val="600"/>
              </a:spcAft>
              <a:buNone/>
            </a:pPr>
            <a:r>
              <a:rPr lang="en-US" sz="1200" dirty="0">
                <a:solidFill>
                  <a:schemeClr val="accent6"/>
                </a:solidFill>
              </a:rPr>
              <a:t>Soothing, hydrating repair serum + cool mist</a:t>
            </a:r>
            <a:endParaRPr lang="en-US" sz="1400" dirty="0"/>
          </a:p>
        </p:txBody>
      </p:sp>
      <p:sp>
        <p:nvSpPr>
          <p:cNvPr id="12" name="step card 7"/>
          <p:cNvSpPr/>
          <p:nvPr/>
        </p:nvSpPr>
        <p:spPr>
          <a:xfrm>
            <a:off x="6163056" y="1417320"/>
            <a:ext cx="2697480" cy="4069080"/>
          </a:xfrm>
          <a:prstGeom prst="roundRect">
            <a:avLst>
              <a:gd name="adj" fmla="val 4068"/>
            </a:avLst>
          </a:prstGeom>
          <a:solidFill>
            <a:schemeClr val="bg2"/>
          </a:solidFill>
          <a:ln/>
        </p:spPr>
      </p:sp>
      <p:sp>
        <p:nvSpPr>
          <p:cNvPr id="13" name="num 7"/>
          <p:cNvSpPr txBox="1"/>
          <p:nvPr/>
        </p:nvSpPr>
        <p:spPr>
          <a:xfrm>
            <a:off x="6345936" y="1600200"/>
            <a:ext cx="566928" cy="566928"/>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bg1"/>
                </a:solidFill>
              </a:rPr>
              <a:t>7</a:t>
            </a:r>
            <a:endParaRPr lang="en-US" sz="2000" dirty="0"/>
          </a:p>
        </p:txBody>
      </p:sp>
      <p:sp>
        <p:nvSpPr>
          <p:cNvPr id="14" name="time pill 7"/>
          <p:cNvSpPr txBox="1"/>
          <p:nvPr/>
        </p:nvSpPr>
        <p:spPr>
          <a:xfrm>
            <a:off x="7534656" y="1719072"/>
            <a:ext cx="1143000" cy="329184"/>
          </a:xfrm>
          <a:prstGeom prst="roundRect">
            <a:avLst>
              <a:gd name="adj" fmla="val 50000"/>
            </a:avLst>
          </a:prstGeom>
          <a:solidFill>
            <a:schemeClr val="accent5"/>
          </a:solidFill>
          <a:ln/>
        </p:spPr>
        <p:txBody>
          <a:bodyPr wrap="square" lIns="0" tIns="0" rIns="0" bIns="0" rtlCol="0" anchor="ctr"/>
          <a:lstStyle/>
          <a:p>
            <a:pPr algn="ctr" indent="0" marL="0">
              <a:buNone/>
            </a:pPr>
            <a:r>
              <a:rPr lang="en-US" sz="1200" b="1" dirty="0">
                <a:solidFill>
                  <a:schemeClr val="tx1"/>
                </a:solidFill>
              </a:rPr>
              <a:t>15 min 分钟</a:t>
            </a:r>
            <a:endParaRPr lang="en-US" sz="1200" dirty="0"/>
          </a:p>
        </p:txBody>
      </p:sp>
      <p:sp>
        <p:nvSpPr>
          <p:cNvPr id="15" name="Text 13"/>
          <p:cNvSpPr txBox="1"/>
          <p:nvPr/>
        </p:nvSpPr>
        <p:spPr>
          <a:xfrm>
            <a:off x="6345936" y="2377440"/>
            <a:ext cx="2377440" cy="868680"/>
          </a:xfrm>
          <a:prstGeom prst="rect">
            <a:avLst/>
          </a:prstGeom>
          <a:noFill/>
          <a:ln/>
        </p:spPr>
        <p:txBody>
          <a:bodyPr wrap="square" lIns="0" tIns="0" rIns="0" bIns="0" rtlCol="0" anchor="t"/>
          <a:lstStyle/>
          <a:p>
            <a:pPr indent="0" marL="0">
              <a:spcAft>
                <a:spcPts val="100"/>
              </a:spcAft>
              <a:buNone/>
            </a:pPr>
            <a:r>
              <a:rPr lang="en-US" sz="1600" b="1" dirty="0">
                <a:solidFill>
                  <a:schemeClr val="tx1"/>
                </a:solidFill>
              </a:rPr>
              <a:t>修护面膜</a:t>
            </a:r>
            <a:endParaRPr lang="en-US" sz="1600" dirty="0"/>
          </a:p>
          <a:p>
            <a:pPr indent="0" marL="0">
              <a:spcAft>
                <a:spcPts val="100"/>
              </a:spcAft>
              <a:buNone/>
            </a:pPr>
            <a:r>
              <a:rPr lang="en-US" sz="1300" dirty="0">
                <a:solidFill>
                  <a:schemeClr val="accent1"/>
                </a:solidFill>
              </a:rPr>
              <a:t>Repair Mask</a:t>
            </a:r>
            <a:endParaRPr lang="en-US" sz="1600" dirty="0"/>
          </a:p>
        </p:txBody>
      </p:sp>
      <p:sp>
        <p:nvSpPr>
          <p:cNvPr id="16" name="Text 14"/>
          <p:cNvSpPr txBox="1"/>
          <p:nvPr/>
        </p:nvSpPr>
        <p:spPr>
          <a:xfrm>
            <a:off x="6345936" y="3291840"/>
            <a:ext cx="2377440" cy="2103120"/>
          </a:xfrm>
          <a:prstGeom prst="rect">
            <a:avLst/>
          </a:prstGeom>
          <a:noFill/>
          <a:ln/>
        </p:spPr>
        <p:txBody>
          <a:bodyPr wrap="square" lIns="0" tIns="0" rIns="0" bIns="0" rtlCol="0" anchor="t"/>
          <a:lstStyle/>
          <a:p>
            <a:pPr indent="0" marL="0">
              <a:spcAft>
                <a:spcPts val="600"/>
              </a:spcAft>
              <a:buNone/>
            </a:pPr>
            <a:r>
              <a:rPr lang="en-US" sz="1400" dirty="0">
                <a:solidFill>
                  <a:schemeClr val="tx1"/>
                </a:solidFill>
              </a:rPr>
              <a:t>厚敷修护补水面膜（如 XE‑LHA Mask 微生态修护面膜）</a:t>
            </a:r>
            <a:endParaRPr lang="en-US" sz="1400" dirty="0"/>
          </a:p>
          <a:p>
            <a:pPr indent="0" marL="0">
              <a:spcAft>
                <a:spcPts val="600"/>
              </a:spcAft>
              <a:buNone/>
            </a:pPr>
            <a:r>
              <a:rPr lang="en-US" sz="1200" dirty="0">
                <a:solidFill>
                  <a:schemeClr val="accent6"/>
                </a:solidFill>
              </a:rPr>
              <a:t>Apply a thick layer of nourishing repair mask (e.g. XE‑LHA Mask)</a:t>
            </a:r>
            <a:endParaRPr lang="en-US" sz="1400" dirty="0"/>
          </a:p>
        </p:txBody>
      </p:sp>
      <p:sp>
        <p:nvSpPr>
          <p:cNvPr id="17" name="step card 8"/>
          <p:cNvSpPr/>
          <p:nvPr/>
        </p:nvSpPr>
        <p:spPr>
          <a:xfrm>
            <a:off x="9015984" y="1417320"/>
            <a:ext cx="2697480" cy="4069080"/>
          </a:xfrm>
          <a:prstGeom prst="roundRect">
            <a:avLst>
              <a:gd name="adj" fmla="val 4068"/>
            </a:avLst>
          </a:prstGeom>
          <a:solidFill>
            <a:schemeClr val="bg2"/>
          </a:solidFill>
          <a:ln/>
        </p:spPr>
      </p:sp>
      <p:sp>
        <p:nvSpPr>
          <p:cNvPr id="18" name="num 8"/>
          <p:cNvSpPr txBox="1"/>
          <p:nvPr/>
        </p:nvSpPr>
        <p:spPr>
          <a:xfrm>
            <a:off x="9198864" y="1600200"/>
            <a:ext cx="566928" cy="566928"/>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bg1"/>
                </a:solidFill>
              </a:rPr>
              <a:t>8</a:t>
            </a:r>
            <a:endParaRPr lang="en-US" sz="2000" dirty="0"/>
          </a:p>
        </p:txBody>
      </p:sp>
      <p:sp>
        <p:nvSpPr>
          <p:cNvPr id="19" name="Text 17"/>
          <p:cNvSpPr txBox="1"/>
          <p:nvPr/>
        </p:nvSpPr>
        <p:spPr>
          <a:xfrm>
            <a:off x="9198864" y="2377440"/>
            <a:ext cx="2377440" cy="868680"/>
          </a:xfrm>
          <a:prstGeom prst="rect">
            <a:avLst/>
          </a:prstGeom>
          <a:noFill/>
          <a:ln/>
        </p:spPr>
        <p:txBody>
          <a:bodyPr wrap="square" lIns="0" tIns="0" rIns="0" bIns="0" rtlCol="0" anchor="t"/>
          <a:lstStyle/>
          <a:p>
            <a:pPr indent="0" marL="0">
              <a:spcAft>
                <a:spcPts val="100"/>
              </a:spcAft>
              <a:buNone/>
            </a:pPr>
            <a:r>
              <a:rPr lang="en-US" sz="1600" b="1" dirty="0">
                <a:solidFill>
                  <a:schemeClr val="tx1"/>
                </a:solidFill>
              </a:rPr>
              <a:t>收尾</a:t>
            </a:r>
            <a:endParaRPr lang="en-US" sz="1600" dirty="0"/>
          </a:p>
          <a:p>
            <a:pPr indent="0" marL="0">
              <a:spcAft>
                <a:spcPts val="100"/>
              </a:spcAft>
              <a:buNone/>
            </a:pPr>
            <a:r>
              <a:rPr lang="en-US" sz="1300" dirty="0">
                <a:solidFill>
                  <a:schemeClr val="accent1"/>
                </a:solidFill>
              </a:rPr>
              <a:t>Finish</a:t>
            </a:r>
            <a:endParaRPr lang="en-US" sz="1600" dirty="0"/>
          </a:p>
        </p:txBody>
      </p:sp>
      <p:sp>
        <p:nvSpPr>
          <p:cNvPr id="20" name="Text 18"/>
          <p:cNvSpPr txBox="1"/>
          <p:nvPr/>
        </p:nvSpPr>
        <p:spPr>
          <a:xfrm>
            <a:off x="9198864" y="3291840"/>
            <a:ext cx="2377440" cy="2103120"/>
          </a:xfrm>
          <a:prstGeom prst="rect">
            <a:avLst/>
          </a:prstGeom>
          <a:noFill/>
          <a:ln/>
        </p:spPr>
        <p:txBody>
          <a:bodyPr wrap="square" lIns="0" tIns="0" rIns="0" bIns="0" rtlCol="0" anchor="t"/>
          <a:lstStyle/>
          <a:p>
            <a:pPr indent="0" marL="0">
              <a:spcAft>
                <a:spcPts val="600"/>
              </a:spcAft>
              <a:buNone/>
            </a:pPr>
            <a:r>
              <a:rPr lang="en-US" sz="1400" dirty="0">
                <a:solidFill>
                  <a:schemeClr val="tx1"/>
                </a:solidFill>
              </a:rPr>
              <a:t>涂保湿乳、物理防晒，并向客人讲解居家护理</a:t>
            </a:r>
            <a:endParaRPr lang="en-US" sz="1400" dirty="0"/>
          </a:p>
          <a:p>
            <a:pPr indent="0" marL="0">
              <a:spcAft>
                <a:spcPts val="600"/>
              </a:spcAft>
              <a:buNone/>
            </a:pPr>
            <a:r>
              <a:rPr lang="en-US" sz="1200" dirty="0">
                <a:solidFill>
                  <a:schemeClr val="accent6"/>
                </a:solidFill>
              </a:rPr>
              <a:t>Moisturiser, broad‑spectrum (physical) sunscreen, then brief the client on home care</a:t>
            </a:r>
            <a:endParaRPr lang="en-US" sz="1400" dirty="0"/>
          </a:p>
        </p:txBody>
      </p:sp>
      <p:sp>
        <p:nvSpPr>
          <p:cNvPr id="21" name="tip bar"/>
          <p:cNvSpPr/>
          <p:nvPr/>
        </p:nvSpPr>
        <p:spPr>
          <a:xfrm>
            <a:off x="457200" y="5623560"/>
            <a:ext cx="11247120" cy="640080"/>
          </a:xfrm>
          <a:prstGeom prst="roundRect">
            <a:avLst>
              <a:gd name="adj" fmla="val 17143"/>
            </a:avLst>
          </a:prstGeom>
          <a:solidFill>
            <a:srgbClr val="FBF1D6"/>
          </a:solidFill>
          <a:ln/>
        </p:spPr>
      </p:sp>
      <p:sp>
        <p:nvSpPr>
          <p:cNvPr id="22" name="tip icon bg"/>
          <p:cNvSpPr/>
          <p:nvPr/>
        </p:nvSpPr>
        <p:spPr>
          <a:xfrm>
            <a:off x="640080" y="5715000"/>
            <a:ext cx="457200" cy="457200"/>
          </a:xfrm>
          <a:prstGeom prst="ellipse">
            <a:avLst/>
          </a:prstGeom>
          <a:solidFill>
            <a:schemeClr val="accent2"/>
          </a:solidFill>
          <a:ln/>
        </p:spPr>
      </p:sp>
      <p:pic>
        <p:nvPicPr>
          <p:cNvPr id="23" name="tip icon" descr="tip icon">    </p:cNvPr>
          <p:cNvPicPr>
            <a:picLocks noChangeAspect="1"/>
          </p:cNvPicPr>
          <p:nvPr/>
        </p:nvPicPr>
        <p:blipFill>
          <a:blip r:embed="rId1"/>
          <a:stretch>
            <a:fillRect/>
          </a:stretch>
        </p:blipFill>
        <p:spPr>
          <a:xfrm>
            <a:off x="758952" y="5833872"/>
            <a:ext cx="219456" cy="219456"/>
          </a:xfrm>
          <a:prstGeom prst="rect">
            <a:avLst/>
          </a:prstGeom>
        </p:spPr>
      </p:pic>
      <p:sp>
        <p:nvSpPr>
          <p:cNvPr id="24" name="Text 21"/>
          <p:cNvSpPr txBox="1"/>
          <p:nvPr/>
        </p:nvSpPr>
        <p:spPr>
          <a:xfrm>
            <a:off x="1280160" y="5623560"/>
            <a:ext cx="10241280" cy="640080"/>
          </a:xfrm>
          <a:prstGeom prst="rect">
            <a:avLst/>
          </a:prstGeom>
          <a:noFill/>
          <a:ln/>
        </p:spPr>
        <p:txBody>
          <a:bodyPr wrap="square" lIns="0" tIns="0" rIns="0" bIns="0" rtlCol="0" anchor="ctr"/>
          <a:lstStyle/>
          <a:p>
            <a:pPr indent="0" marL="0">
              <a:buNone/>
            </a:pPr>
            <a:r>
              <a:rPr lang="en-US" sz="1400" b="1" dirty="0">
                <a:solidFill>
                  <a:srgbClr val="000000"/>
                </a:solidFill>
              </a:rPr>
              <a:t>操作提示：全程不要来回大力反复涂刷，容易过度刺激皮肤</a:t>
            </a:r>
            <a:endParaRPr lang="en-US" sz="1400" dirty="0"/>
          </a:p>
          <a:p>
            <a:pPr indent="0" marL="0">
              <a:buNone/>
            </a:pPr>
            <a:r>
              <a:rPr lang="en-US" sz="1200" dirty="0">
                <a:solidFill>
                  <a:schemeClr val="accent6"/>
                </a:solidFill>
              </a:rPr>
              <a:t>Tip: never scrub or brush back and forth with force — it over‑irritates the skin.</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疗程周期与维护</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Treatment Cycle &amp; Maintenance</a:t>
            </a:r>
            <a:endParaRPr lang="en-US" sz="3000" dirty="0"/>
          </a:p>
        </p:txBody>
      </p:sp>
      <p:sp>
        <p:nvSpPr>
          <p:cNvPr id="3" name="stat card 1"/>
          <p:cNvSpPr/>
          <p:nvPr/>
        </p:nvSpPr>
        <p:spPr>
          <a:xfrm>
            <a:off x="457200" y="1417320"/>
            <a:ext cx="3566160" cy="1280160"/>
          </a:xfrm>
          <a:prstGeom prst="roundRect">
            <a:avLst>
              <a:gd name="adj" fmla="val 8571"/>
            </a:avLst>
          </a:prstGeom>
          <a:solidFill>
            <a:schemeClr val="bg2"/>
          </a:solidFill>
          <a:ln/>
        </p:spPr>
      </p:sp>
      <p:sp>
        <p:nvSpPr>
          <p:cNvPr id="4" name="Text 2"/>
          <p:cNvSpPr txBox="1"/>
          <p:nvPr/>
        </p:nvSpPr>
        <p:spPr>
          <a:xfrm>
            <a:off x="594360" y="1417320"/>
            <a:ext cx="1371600" cy="1280160"/>
          </a:xfrm>
          <a:prstGeom prst="rect">
            <a:avLst/>
          </a:prstGeom>
          <a:noFill/>
          <a:ln/>
        </p:spPr>
        <p:txBody>
          <a:bodyPr wrap="square" lIns="0" tIns="0" rIns="0" bIns="0" rtlCol="0" anchor="ctr"/>
          <a:lstStyle/>
          <a:p>
            <a:pPr algn="ctr" indent="0" marL="0">
              <a:buNone/>
            </a:pPr>
            <a:r>
              <a:rPr lang="en-US" sz="3600" b="1" dirty="0">
                <a:solidFill>
                  <a:schemeClr val="accent1"/>
                </a:solidFill>
              </a:rPr>
              <a:t>4‑6</a:t>
            </a:r>
            <a:endParaRPr lang="en-US" sz="3600" dirty="0"/>
          </a:p>
        </p:txBody>
      </p:sp>
      <p:sp>
        <p:nvSpPr>
          <p:cNvPr id="5" name="Text 3"/>
          <p:cNvSpPr txBox="1"/>
          <p:nvPr/>
        </p:nvSpPr>
        <p:spPr>
          <a:xfrm>
            <a:off x="2011680" y="1463040"/>
            <a:ext cx="1920240" cy="1188720"/>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次为1个完整疗程</a:t>
            </a:r>
            <a:endParaRPr lang="en-US" sz="1400" dirty="0"/>
          </a:p>
          <a:p>
            <a:pPr indent="0" marL="0">
              <a:spcAft>
                <a:spcPts val="300"/>
              </a:spcAft>
              <a:buNone/>
            </a:pPr>
            <a:r>
              <a:rPr lang="en-US" sz="1200" dirty="0">
                <a:solidFill>
                  <a:schemeClr val="accent6"/>
                </a:solidFill>
              </a:rPr>
              <a:t>sessions per full course</a:t>
            </a:r>
            <a:endParaRPr lang="en-US" sz="1400" dirty="0"/>
          </a:p>
        </p:txBody>
      </p:sp>
      <p:sp>
        <p:nvSpPr>
          <p:cNvPr id="6" name="stat card 2"/>
          <p:cNvSpPr/>
          <p:nvPr/>
        </p:nvSpPr>
        <p:spPr>
          <a:xfrm>
            <a:off x="4297680" y="1417320"/>
            <a:ext cx="3566160" cy="1280160"/>
          </a:xfrm>
          <a:prstGeom prst="roundRect">
            <a:avLst>
              <a:gd name="adj" fmla="val 8571"/>
            </a:avLst>
          </a:prstGeom>
          <a:solidFill>
            <a:schemeClr val="bg2"/>
          </a:solidFill>
          <a:ln/>
        </p:spPr>
      </p:sp>
      <p:sp>
        <p:nvSpPr>
          <p:cNvPr id="7" name="Text 5"/>
          <p:cNvSpPr txBox="1"/>
          <p:nvPr/>
        </p:nvSpPr>
        <p:spPr>
          <a:xfrm>
            <a:off x="4434840" y="1417320"/>
            <a:ext cx="1371600" cy="1280160"/>
          </a:xfrm>
          <a:prstGeom prst="rect">
            <a:avLst/>
          </a:prstGeom>
          <a:noFill/>
          <a:ln/>
        </p:spPr>
        <p:txBody>
          <a:bodyPr wrap="square" lIns="0" tIns="0" rIns="0" bIns="0" rtlCol="0" anchor="ctr"/>
          <a:lstStyle/>
          <a:p>
            <a:pPr algn="ctr" indent="0" marL="0">
              <a:buNone/>
            </a:pPr>
            <a:r>
              <a:rPr lang="en-US" sz="3600" b="1" dirty="0">
                <a:solidFill>
                  <a:schemeClr val="accent1"/>
                </a:solidFill>
              </a:rPr>
              <a:t>2‑3</a:t>
            </a:r>
            <a:endParaRPr lang="en-US" sz="3600" dirty="0"/>
          </a:p>
        </p:txBody>
      </p:sp>
      <p:sp>
        <p:nvSpPr>
          <p:cNvPr id="8" name="Text 6"/>
          <p:cNvSpPr txBox="1"/>
          <p:nvPr/>
        </p:nvSpPr>
        <p:spPr>
          <a:xfrm>
            <a:off x="5852160" y="1463040"/>
            <a:ext cx="1920240" cy="1188720"/>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周操作1次（新加坡湿热肌建议2周）</a:t>
            </a:r>
            <a:endParaRPr lang="en-US" sz="1400" dirty="0"/>
          </a:p>
          <a:p>
            <a:pPr indent="0" marL="0">
              <a:spcAft>
                <a:spcPts val="300"/>
              </a:spcAft>
              <a:buNone/>
            </a:pPr>
            <a:r>
              <a:rPr lang="en-US" sz="1200" dirty="0">
                <a:solidFill>
                  <a:schemeClr val="accent6"/>
                </a:solidFill>
              </a:rPr>
              <a:t>weeks between sessions (2 weeks preferred for Singapore humid skin)</a:t>
            </a:r>
            <a:endParaRPr lang="en-US" sz="1400" dirty="0"/>
          </a:p>
        </p:txBody>
      </p:sp>
      <p:sp>
        <p:nvSpPr>
          <p:cNvPr id="9" name="stat card 3"/>
          <p:cNvSpPr/>
          <p:nvPr/>
        </p:nvSpPr>
        <p:spPr>
          <a:xfrm>
            <a:off x="8138160" y="1417320"/>
            <a:ext cx="3566160" cy="1280160"/>
          </a:xfrm>
          <a:prstGeom prst="roundRect">
            <a:avLst>
              <a:gd name="adj" fmla="val 8571"/>
            </a:avLst>
          </a:prstGeom>
          <a:solidFill>
            <a:schemeClr val="bg2"/>
          </a:solidFill>
          <a:ln/>
        </p:spPr>
      </p:sp>
      <p:sp>
        <p:nvSpPr>
          <p:cNvPr id="10" name="Text 8"/>
          <p:cNvSpPr txBox="1"/>
          <p:nvPr/>
        </p:nvSpPr>
        <p:spPr>
          <a:xfrm>
            <a:off x="8275320" y="1417320"/>
            <a:ext cx="1371600" cy="1280160"/>
          </a:xfrm>
          <a:prstGeom prst="rect">
            <a:avLst/>
          </a:prstGeom>
          <a:noFill/>
          <a:ln/>
        </p:spPr>
        <p:txBody>
          <a:bodyPr wrap="square" lIns="0" tIns="0" rIns="0" bIns="0" rtlCol="0" anchor="ctr"/>
          <a:lstStyle/>
          <a:p>
            <a:pPr algn="ctr" indent="0" marL="0">
              <a:buNone/>
            </a:pPr>
            <a:r>
              <a:rPr lang="en-US" sz="3600" b="1" dirty="0">
                <a:solidFill>
                  <a:schemeClr val="accent1"/>
                </a:solidFill>
              </a:rPr>
              <a:t>1‑2</a:t>
            </a:r>
            <a:endParaRPr lang="en-US" sz="3600" dirty="0"/>
          </a:p>
        </p:txBody>
      </p:sp>
      <p:sp>
        <p:nvSpPr>
          <p:cNvPr id="11" name="Text 9"/>
          <p:cNvSpPr txBox="1"/>
          <p:nvPr/>
        </p:nvSpPr>
        <p:spPr>
          <a:xfrm>
            <a:off x="9692640" y="1463040"/>
            <a:ext cx="1920240" cy="1188720"/>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周：单次即时提亮维持时间</a:t>
            </a:r>
            <a:endParaRPr lang="en-US" sz="1400" dirty="0"/>
          </a:p>
          <a:p>
            <a:pPr indent="0" marL="0">
              <a:spcAft>
                <a:spcPts val="300"/>
              </a:spcAft>
              <a:buNone/>
            </a:pPr>
            <a:r>
              <a:rPr lang="en-US" sz="1200" dirty="0">
                <a:solidFill>
                  <a:schemeClr val="accent6"/>
                </a:solidFill>
              </a:rPr>
              <a:t>weeks: how long the instant glow lasts</a:t>
            </a:r>
            <a:endParaRPr lang="en-US" sz="1400" dirty="0"/>
          </a:p>
        </p:txBody>
      </p:sp>
      <p:sp>
        <p:nvSpPr>
          <p:cNvPr id="12" name="Text 10"/>
          <p:cNvSpPr txBox="1"/>
          <p:nvPr/>
        </p:nvSpPr>
        <p:spPr>
          <a:xfrm>
            <a:off x="457200" y="2834640"/>
            <a:ext cx="7315200" cy="36576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效果变化  Progress Timeline</a:t>
            </a:r>
            <a:endParaRPr lang="en-US" sz="1700" dirty="0"/>
          </a:p>
        </p:txBody>
      </p:sp>
      <p:sp>
        <p:nvSpPr>
          <p:cNvPr id="13" name="timeline card 1"/>
          <p:cNvSpPr/>
          <p:nvPr/>
        </p:nvSpPr>
        <p:spPr>
          <a:xfrm>
            <a:off x="457200" y="3246120"/>
            <a:ext cx="3566160" cy="1508760"/>
          </a:xfrm>
          <a:prstGeom prst="roundRect">
            <a:avLst>
              <a:gd name="adj" fmla="val 7273"/>
            </a:avLst>
          </a:prstGeom>
          <a:solidFill>
            <a:srgbClr val="FFFFFF"/>
          </a:solidFill>
          <a:ln w="19050">
            <a:solidFill>
              <a:schemeClr val="accent4"/>
            </a:solidFill>
            <a:prstDash val="solid"/>
          </a:ln>
        </p:spPr>
      </p:sp>
      <p:sp>
        <p:nvSpPr>
          <p:cNvPr id="14" name="phase pill 1"/>
          <p:cNvSpPr txBox="1"/>
          <p:nvPr/>
        </p:nvSpPr>
        <p:spPr>
          <a:xfrm>
            <a:off x="640080" y="3364992"/>
            <a:ext cx="2377440" cy="347472"/>
          </a:xfrm>
          <a:prstGeom prst="roundRect">
            <a:avLst>
              <a:gd name="adj" fmla="val 50000"/>
            </a:avLst>
          </a:prstGeom>
          <a:solidFill>
            <a:schemeClr val="accent1"/>
          </a:solidFill>
          <a:ln/>
        </p:spPr>
        <p:txBody>
          <a:bodyPr wrap="square" lIns="0" tIns="0" rIns="0" bIns="0" rtlCol="0" anchor="ctr"/>
          <a:lstStyle/>
          <a:p>
            <a:pPr algn="ctr" indent="0" marL="0">
              <a:buNone/>
            </a:pPr>
            <a:r>
              <a:rPr lang="en-US" sz="1300" b="1" dirty="0">
                <a:solidFill>
                  <a:schemeClr val="bg1"/>
                </a:solidFill>
              </a:rPr>
              <a:t>第1‑2次 Sessions 1‑2</a:t>
            </a:r>
            <a:endParaRPr lang="en-US" sz="1300" dirty="0"/>
          </a:p>
        </p:txBody>
      </p:sp>
      <p:sp>
        <p:nvSpPr>
          <p:cNvPr id="15" name="Text 13"/>
          <p:cNvSpPr txBox="1"/>
          <p:nvPr/>
        </p:nvSpPr>
        <p:spPr>
          <a:xfrm>
            <a:off x="640080" y="3794760"/>
            <a:ext cx="3200400" cy="914400"/>
          </a:xfrm>
          <a:prstGeom prst="rect">
            <a:avLst/>
          </a:prstGeom>
          <a:noFill/>
          <a:ln/>
        </p:spPr>
        <p:txBody>
          <a:bodyPr wrap="square" lIns="0" tIns="0" rIns="0" bIns="0" rtlCol="0" anchor="t"/>
          <a:lstStyle/>
          <a:p>
            <a:pPr indent="0" marL="0">
              <a:spcAft>
                <a:spcPts val="300"/>
              </a:spcAft>
              <a:buNone/>
            </a:pPr>
            <a:r>
              <a:rPr lang="en-US" sz="1400" b="1" dirty="0">
                <a:solidFill>
                  <a:schemeClr val="tx1"/>
                </a:solidFill>
              </a:rPr>
              <a:t>出油减少，皮肤透亮，黑头改善</a:t>
            </a:r>
            <a:endParaRPr lang="en-US" sz="1400" dirty="0"/>
          </a:p>
          <a:p>
            <a:pPr indent="0" marL="0">
              <a:spcAft>
                <a:spcPts val="300"/>
              </a:spcAft>
              <a:buNone/>
            </a:pPr>
            <a:r>
              <a:rPr lang="en-US" sz="1200" dirty="0">
                <a:solidFill>
                  <a:schemeClr val="accent6"/>
                </a:solidFill>
              </a:rPr>
              <a:t>Less oily, brighter complexion, improved blackheads</a:t>
            </a:r>
            <a:endParaRPr lang="en-US" sz="1400" dirty="0"/>
          </a:p>
        </p:txBody>
      </p:sp>
      <p:sp>
        <p:nvSpPr>
          <p:cNvPr id="16" name="chevron 1"/>
          <p:cNvSpPr/>
          <p:nvPr/>
        </p:nvSpPr>
        <p:spPr>
          <a:xfrm>
            <a:off x="4069080" y="3840480"/>
            <a:ext cx="182880" cy="365760"/>
          </a:xfrm>
          <a:prstGeom prst="chevron">
            <a:avLst/>
          </a:prstGeom>
          <a:solidFill>
            <a:schemeClr val="accent4"/>
          </a:solidFill>
          <a:ln/>
        </p:spPr>
      </p:sp>
      <p:sp>
        <p:nvSpPr>
          <p:cNvPr id="17" name="timeline card 2"/>
          <p:cNvSpPr/>
          <p:nvPr/>
        </p:nvSpPr>
        <p:spPr>
          <a:xfrm>
            <a:off x="4297680" y="3246120"/>
            <a:ext cx="3566160" cy="1508760"/>
          </a:xfrm>
          <a:prstGeom prst="roundRect">
            <a:avLst>
              <a:gd name="adj" fmla="val 7273"/>
            </a:avLst>
          </a:prstGeom>
          <a:solidFill>
            <a:srgbClr val="FFFFFF"/>
          </a:solidFill>
          <a:ln w="19050">
            <a:solidFill>
              <a:schemeClr val="accent4"/>
            </a:solidFill>
            <a:prstDash val="solid"/>
          </a:ln>
        </p:spPr>
      </p:sp>
      <p:sp>
        <p:nvSpPr>
          <p:cNvPr id="18" name="phase pill 2"/>
          <p:cNvSpPr txBox="1"/>
          <p:nvPr/>
        </p:nvSpPr>
        <p:spPr>
          <a:xfrm>
            <a:off x="4480560" y="3364992"/>
            <a:ext cx="2377440" cy="347472"/>
          </a:xfrm>
          <a:prstGeom prst="roundRect">
            <a:avLst>
              <a:gd name="adj" fmla="val 50000"/>
            </a:avLst>
          </a:prstGeom>
          <a:solidFill>
            <a:schemeClr val="accent1"/>
          </a:solidFill>
          <a:ln/>
        </p:spPr>
        <p:txBody>
          <a:bodyPr wrap="square" lIns="0" tIns="0" rIns="0" bIns="0" rtlCol="0" anchor="ctr"/>
          <a:lstStyle/>
          <a:p>
            <a:pPr algn="ctr" indent="0" marL="0">
              <a:buNone/>
            </a:pPr>
            <a:r>
              <a:rPr lang="en-US" sz="1300" b="1" dirty="0">
                <a:solidFill>
                  <a:schemeClr val="bg1"/>
                </a:solidFill>
              </a:rPr>
              <a:t>第3‑4次 Sessions 3‑4</a:t>
            </a:r>
            <a:endParaRPr lang="en-US" sz="1300" dirty="0"/>
          </a:p>
        </p:txBody>
      </p:sp>
      <p:sp>
        <p:nvSpPr>
          <p:cNvPr id="19" name="Text 17"/>
          <p:cNvSpPr txBox="1"/>
          <p:nvPr/>
        </p:nvSpPr>
        <p:spPr>
          <a:xfrm>
            <a:off x="4480560" y="3794760"/>
            <a:ext cx="3200400" cy="914400"/>
          </a:xfrm>
          <a:prstGeom prst="rect">
            <a:avLst/>
          </a:prstGeom>
          <a:noFill/>
          <a:ln/>
        </p:spPr>
        <p:txBody>
          <a:bodyPr wrap="square" lIns="0" tIns="0" rIns="0" bIns="0" rtlCol="0" anchor="t"/>
          <a:lstStyle/>
          <a:p>
            <a:pPr indent="0" marL="0">
              <a:spcAft>
                <a:spcPts val="300"/>
              </a:spcAft>
              <a:buNone/>
            </a:pPr>
            <a:r>
              <a:rPr lang="en-US" sz="1400" b="1" dirty="0">
                <a:solidFill>
                  <a:schemeClr val="tx1"/>
                </a:solidFill>
              </a:rPr>
              <a:t>毛孔细腻，痘印淡化，屏障逐步稳定</a:t>
            </a:r>
            <a:endParaRPr lang="en-US" sz="1400" dirty="0"/>
          </a:p>
          <a:p>
            <a:pPr indent="0" marL="0">
              <a:spcAft>
                <a:spcPts val="300"/>
              </a:spcAft>
              <a:buNone/>
            </a:pPr>
            <a:r>
              <a:rPr lang="en-US" sz="1200" dirty="0">
                <a:solidFill>
                  <a:schemeClr val="accent6"/>
                </a:solidFill>
              </a:rPr>
              <a:t>Finer pores, faded acne marks, barrier gradually stabilises</a:t>
            </a:r>
            <a:endParaRPr lang="en-US" sz="1400" dirty="0"/>
          </a:p>
        </p:txBody>
      </p:sp>
      <p:sp>
        <p:nvSpPr>
          <p:cNvPr id="20" name="chevron 2"/>
          <p:cNvSpPr/>
          <p:nvPr/>
        </p:nvSpPr>
        <p:spPr>
          <a:xfrm>
            <a:off x="7909560" y="3840480"/>
            <a:ext cx="182880" cy="365760"/>
          </a:xfrm>
          <a:prstGeom prst="chevron">
            <a:avLst/>
          </a:prstGeom>
          <a:solidFill>
            <a:schemeClr val="accent4"/>
          </a:solidFill>
          <a:ln/>
        </p:spPr>
      </p:sp>
      <p:sp>
        <p:nvSpPr>
          <p:cNvPr id="21" name="timeline card 3"/>
          <p:cNvSpPr/>
          <p:nvPr/>
        </p:nvSpPr>
        <p:spPr>
          <a:xfrm>
            <a:off x="8138160" y="3246120"/>
            <a:ext cx="3566160" cy="1508760"/>
          </a:xfrm>
          <a:prstGeom prst="roundRect">
            <a:avLst>
              <a:gd name="adj" fmla="val 7273"/>
            </a:avLst>
          </a:prstGeom>
          <a:solidFill>
            <a:srgbClr val="FFFFFF"/>
          </a:solidFill>
          <a:ln w="19050">
            <a:solidFill>
              <a:schemeClr val="accent4"/>
            </a:solidFill>
            <a:prstDash val="solid"/>
          </a:ln>
        </p:spPr>
      </p:sp>
      <p:sp>
        <p:nvSpPr>
          <p:cNvPr id="22" name="phase pill 3"/>
          <p:cNvSpPr txBox="1"/>
          <p:nvPr/>
        </p:nvSpPr>
        <p:spPr>
          <a:xfrm>
            <a:off x="8321040" y="3364992"/>
            <a:ext cx="2377440" cy="347472"/>
          </a:xfrm>
          <a:prstGeom prst="roundRect">
            <a:avLst>
              <a:gd name="adj" fmla="val 50000"/>
            </a:avLst>
          </a:prstGeom>
          <a:solidFill>
            <a:schemeClr val="accent1"/>
          </a:solidFill>
          <a:ln/>
        </p:spPr>
        <p:txBody>
          <a:bodyPr wrap="square" lIns="0" tIns="0" rIns="0" bIns="0" rtlCol="0" anchor="ctr"/>
          <a:lstStyle/>
          <a:p>
            <a:pPr algn="ctr" indent="0" marL="0">
              <a:buNone/>
            </a:pPr>
            <a:r>
              <a:rPr lang="en-US" sz="1300" b="1" dirty="0">
                <a:solidFill>
                  <a:schemeClr val="bg1"/>
                </a:solidFill>
              </a:rPr>
              <a:t>第5‑6次 Sessions 5‑6</a:t>
            </a:r>
            <a:endParaRPr lang="en-US" sz="1300" dirty="0"/>
          </a:p>
        </p:txBody>
      </p:sp>
      <p:sp>
        <p:nvSpPr>
          <p:cNvPr id="23" name="Text 21"/>
          <p:cNvSpPr txBox="1"/>
          <p:nvPr/>
        </p:nvSpPr>
        <p:spPr>
          <a:xfrm>
            <a:off x="8321040" y="3794760"/>
            <a:ext cx="3200400" cy="914400"/>
          </a:xfrm>
          <a:prstGeom prst="rect">
            <a:avLst/>
          </a:prstGeom>
          <a:noFill/>
          <a:ln/>
        </p:spPr>
        <p:txBody>
          <a:bodyPr wrap="square" lIns="0" tIns="0" rIns="0" bIns="0" rtlCol="0" anchor="t"/>
          <a:lstStyle/>
          <a:p>
            <a:pPr indent="0" marL="0">
              <a:spcAft>
                <a:spcPts val="300"/>
              </a:spcAft>
              <a:buNone/>
            </a:pPr>
            <a:r>
              <a:rPr lang="en-US" sz="1400" b="1" dirty="0">
                <a:solidFill>
                  <a:schemeClr val="tx1"/>
                </a:solidFill>
              </a:rPr>
              <a:t>肤质整体改善，肤色均匀</a:t>
            </a:r>
            <a:endParaRPr lang="en-US" sz="1400" dirty="0"/>
          </a:p>
          <a:p>
            <a:pPr indent="0" marL="0">
              <a:spcAft>
                <a:spcPts val="300"/>
              </a:spcAft>
              <a:buNone/>
            </a:pPr>
            <a:r>
              <a:rPr lang="en-US" sz="1200" dirty="0">
                <a:solidFill>
                  <a:schemeClr val="accent6"/>
                </a:solidFill>
              </a:rPr>
              <a:t>Overall refined texture, even skin tone</a:t>
            </a:r>
            <a:endParaRPr lang="en-US" sz="1400" dirty="0"/>
          </a:p>
        </p:txBody>
      </p:sp>
      <p:sp>
        <p:nvSpPr>
          <p:cNvPr id="24" name="interval note"/>
          <p:cNvSpPr/>
          <p:nvPr/>
        </p:nvSpPr>
        <p:spPr>
          <a:xfrm>
            <a:off x="457200" y="4892040"/>
            <a:ext cx="11247120" cy="548640"/>
          </a:xfrm>
          <a:prstGeom prst="roundRect">
            <a:avLst>
              <a:gd name="adj" fmla="val 20000"/>
            </a:avLst>
          </a:prstGeom>
          <a:solidFill>
            <a:srgbClr val="FBF1D6"/>
          </a:solidFill>
          <a:ln/>
        </p:spPr>
      </p:sp>
      <p:sp>
        <p:nvSpPr>
          <p:cNvPr id="25" name="Text 23"/>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200" b="1" dirty="0">
                <a:solidFill>
                  <a:schemeClr val="tx1"/>
                </a:solidFill>
              </a:rPr>
              <a:t>说明：品牌临床研究采用每周1次、共3‑5次；本店标准方案为每2‑3周1次，请按培训师指引操作。  </a:t>
            </a:r>
            <a:pPr indent="0" marL="0">
              <a:buNone/>
            </a:pPr>
            <a:r>
              <a:rPr lang="en-US" sz="1200" dirty="0">
                <a:solidFill>
                  <a:srgbClr val="55665C"/>
                </a:solidFill>
              </a:rPr>
              <a:t>Brand studies used weekly sessions (3–5); our salon protocol is every 2–3 weeks.</a:t>
            </a:r>
            <a:endParaRPr lang="en-US" sz="1200" dirty="0"/>
          </a:p>
        </p:txBody>
      </p:sp>
      <p:sp>
        <p:nvSpPr>
          <p:cNvPr id="26" name="maintenance banner"/>
          <p:cNvSpPr/>
          <p:nvPr/>
        </p:nvSpPr>
        <p:spPr>
          <a:xfrm>
            <a:off x="457200" y="5577840"/>
            <a:ext cx="11247120" cy="731520"/>
          </a:xfrm>
          <a:prstGeom prst="roundRect">
            <a:avLst>
              <a:gd name="adj" fmla="val 15000"/>
            </a:avLst>
          </a:prstGeom>
          <a:solidFill>
            <a:schemeClr val="tx2"/>
          </a:solidFill>
          <a:ln/>
        </p:spPr>
      </p:sp>
      <p:sp>
        <p:nvSpPr>
          <p:cNvPr id="27" name="maintenance icon bg"/>
          <p:cNvSpPr/>
          <p:nvPr/>
        </p:nvSpPr>
        <p:spPr>
          <a:xfrm>
            <a:off x="731520" y="5705856"/>
            <a:ext cx="475488" cy="475488"/>
          </a:xfrm>
          <a:prstGeom prst="ellipse">
            <a:avLst/>
          </a:prstGeom>
          <a:solidFill>
            <a:schemeClr val="accent2"/>
          </a:solidFill>
          <a:ln/>
        </p:spPr>
      </p:sp>
      <p:pic>
        <p:nvPicPr>
          <p:cNvPr id="28" name="maintenance icon" descr="maintenance icon">    </p:cNvPr>
          <p:cNvPicPr>
            <a:picLocks noChangeAspect="1"/>
          </p:cNvPicPr>
          <p:nvPr/>
        </p:nvPicPr>
        <p:blipFill>
          <a:blip r:embed="rId1"/>
          <a:stretch>
            <a:fillRect/>
          </a:stretch>
        </p:blipFill>
        <p:spPr>
          <a:xfrm>
            <a:off x="855147" y="5829483"/>
            <a:ext cx="228234" cy="228234"/>
          </a:xfrm>
          <a:prstGeom prst="rect">
            <a:avLst/>
          </a:prstGeom>
        </p:spPr>
      </p:pic>
      <p:sp>
        <p:nvSpPr>
          <p:cNvPr id="29" name="Text 26"/>
          <p:cNvSpPr txBox="1"/>
          <p:nvPr/>
        </p:nvSpPr>
        <p:spPr>
          <a:xfrm>
            <a:off x="1463040" y="5577840"/>
            <a:ext cx="10058400" cy="731520"/>
          </a:xfrm>
          <a:prstGeom prst="rect">
            <a:avLst/>
          </a:prstGeom>
          <a:noFill/>
          <a:ln/>
        </p:spPr>
        <p:txBody>
          <a:bodyPr wrap="square" lIns="0" tIns="0" rIns="0" bIns="0" rtlCol="0" anchor="ctr"/>
          <a:lstStyle/>
          <a:p>
            <a:pPr indent="0" marL="0">
              <a:spcAft>
                <a:spcPts val="100"/>
              </a:spcAft>
              <a:buNone/>
            </a:pPr>
            <a:r>
              <a:rPr lang="en-US" sz="1400" b="1" dirty="0">
                <a:solidFill>
                  <a:schemeClr val="bg1"/>
                </a:solidFill>
              </a:rPr>
              <a:t>保养维持：疗程结束后每4‑6周1次，长期维稳，防止油脂、毛孔问题复发</a:t>
            </a:r>
            <a:endParaRPr lang="en-US" sz="1400" dirty="0"/>
          </a:p>
          <a:p>
            <a:pPr indent="0" marL="0">
              <a:spcAft>
                <a:spcPts val="100"/>
              </a:spcAft>
              <a:buNone/>
            </a:pPr>
            <a:r>
              <a:rPr lang="en-US" sz="1200" dirty="0">
                <a:solidFill>
                  <a:srgbClr val="CFE0D2"/>
                </a:solidFill>
              </a:rPr>
              <a:t>Maintenance: once every 4–6 weeks after the full course to keep skin stable and prevent oil &amp; pore problems returning</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术前禁忌症｜绝对不能操作的客人</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Pre‑treatment Contraindications · clients we must NOT treat</a:t>
            </a:r>
            <a:endParaRPr lang="en-US" sz="3000" dirty="0"/>
          </a:p>
        </p:txBody>
      </p:sp>
      <p:sp>
        <p:nvSpPr>
          <p:cNvPr id="3" name="contraindication card 1"/>
          <p:cNvSpPr/>
          <p:nvPr/>
        </p:nvSpPr>
        <p:spPr>
          <a:xfrm>
            <a:off x="457200" y="1417320"/>
            <a:ext cx="5486400" cy="1143000"/>
          </a:xfrm>
          <a:prstGeom prst="roundRect">
            <a:avLst>
              <a:gd name="adj" fmla="val 9600"/>
            </a:avLst>
          </a:prstGeom>
          <a:solidFill>
            <a:srgbClr val="FCEDE8"/>
          </a:solidFill>
          <a:ln/>
        </p:spPr>
      </p:sp>
      <p:sp>
        <p:nvSpPr>
          <p:cNvPr id="4" name="no icon 1 bg"/>
          <p:cNvSpPr/>
          <p:nvPr/>
        </p:nvSpPr>
        <p:spPr>
          <a:xfrm>
            <a:off x="640080" y="1719072"/>
            <a:ext cx="530352" cy="530352"/>
          </a:xfrm>
          <a:prstGeom prst="ellipse">
            <a:avLst/>
          </a:prstGeom>
          <a:solidFill>
            <a:schemeClr val="accent3"/>
          </a:solidFill>
          <a:ln/>
        </p:spPr>
      </p:sp>
      <p:pic>
        <p:nvPicPr>
          <p:cNvPr id="5" name="no icon 1" descr="no icon 1">    </p:cNvPr>
          <p:cNvPicPr>
            <a:picLocks noChangeAspect="1"/>
          </p:cNvPicPr>
          <p:nvPr/>
        </p:nvPicPr>
        <p:blipFill>
          <a:blip r:embed="rId1"/>
          <a:stretch>
            <a:fillRect/>
          </a:stretch>
        </p:blipFill>
        <p:spPr>
          <a:xfrm>
            <a:off x="777972" y="1856964"/>
            <a:ext cx="254569" cy="254569"/>
          </a:xfrm>
          <a:prstGeom prst="rect">
            <a:avLst/>
          </a:prstGeom>
        </p:spPr>
      </p:pic>
      <p:sp>
        <p:nvSpPr>
          <p:cNvPr id="6" name="Text 3"/>
          <p:cNvSpPr txBox="1"/>
          <p:nvPr/>
        </p:nvSpPr>
        <p:spPr>
          <a:xfrm>
            <a:off x="1371600" y="1508760"/>
            <a:ext cx="4434840" cy="960120"/>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面部有伤口、破皮、疱疹、严重急性皮炎、大面积湿疹</a:t>
            </a:r>
            <a:endParaRPr lang="en-US" sz="1400" dirty="0"/>
          </a:p>
          <a:p>
            <a:pPr indent="0" marL="0">
              <a:spcAft>
                <a:spcPts val="300"/>
              </a:spcAft>
              <a:buNone/>
            </a:pPr>
            <a:r>
              <a:rPr lang="en-US" sz="1200" dirty="0">
                <a:solidFill>
                  <a:schemeClr val="accent6"/>
                </a:solidFill>
              </a:rPr>
              <a:t>Open wounds, cold sores, severe active dermatitis or eczema on the face</a:t>
            </a:r>
            <a:endParaRPr lang="en-US" sz="1400" dirty="0"/>
          </a:p>
        </p:txBody>
      </p:sp>
      <p:sp>
        <p:nvSpPr>
          <p:cNvPr id="7" name="contraindication card 2"/>
          <p:cNvSpPr/>
          <p:nvPr/>
        </p:nvSpPr>
        <p:spPr>
          <a:xfrm>
            <a:off x="6217920" y="1417320"/>
            <a:ext cx="5486400" cy="1143000"/>
          </a:xfrm>
          <a:prstGeom prst="roundRect">
            <a:avLst>
              <a:gd name="adj" fmla="val 9600"/>
            </a:avLst>
          </a:prstGeom>
          <a:solidFill>
            <a:srgbClr val="FCEDE8"/>
          </a:solidFill>
          <a:ln/>
        </p:spPr>
      </p:sp>
      <p:sp>
        <p:nvSpPr>
          <p:cNvPr id="8" name="no icon 2 bg"/>
          <p:cNvSpPr/>
          <p:nvPr/>
        </p:nvSpPr>
        <p:spPr>
          <a:xfrm>
            <a:off x="6400800" y="1719072"/>
            <a:ext cx="530352" cy="530352"/>
          </a:xfrm>
          <a:prstGeom prst="ellipse">
            <a:avLst/>
          </a:prstGeom>
          <a:solidFill>
            <a:schemeClr val="accent3"/>
          </a:solidFill>
          <a:ln/>
        </p:spPr>
      </p:sp>
      <p:pic>
        <p:nvPicPr>
          <p:cNvPr id="9" name="no icon 2" descr="no icon 2">    </p:cNvPr>
          <p:cNvPicPr>
            <a:picLocks noChangeAspect="1"/>
          </p:cNvPicPr>
          <p:nvPr/>
        </p:nvPicPr>
        <p:blipFill>
          <a:blip r:embed="rId2"/>
          <a:stretch>
            <a:fillRect/>
          </a:stretch>
        </p:blipFill>
        <p:spPr>
          <a:xfrm>
            <a:off x="6538692" y="1856964"/>
            <a:ext cx="254569" cy="254569"/>
          </a:xfrm>
          <a:prstGeom prst="rect">
            <a:avLst/>
          </a:prstGeom>
        </p:spPr>
      </p:pic>
      <p:sp>
        <p:nvSpPr>
          <p:cNvPr id="10" name="Text 6"/>
          <p:cNvSpPr txBox="1"/>
          <p:nvPr/>
        </p:nvSpPr>
        <p:spPr>
          <a:xfrm>
            <a:off x="7132320" y="1508760"/>
            <a:ext cx="4434840" cy="960120"/>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近2周做过热玛吉、皮秒、点阵激光、微针，皮肤屏障破损期</a:t>
            </a:r>
            <a:endParaRPr lang="en-US" sz="1400" dirty="0"/>
          </a:p>
          <a:p>
            <a:pPr indent="0" marL="0">
              <a:spcAft>
                <a:spcPts val="300"/>
              </a:spcAft>
              <a:buNone/>
            </a:pPr>
            <a:r>
              <a:rPr lang="en-US" sz="1200" dirty="0">
                <a:solidFill>
                  <a:schemeClr val="accent6"/>
                </a:solidFill>
              </a:rPr>
              <a:t>Within 2 weeks of heat (RF) treatment, pico laser, fractional laser or microneedling</a:t>
            </a:r>
            <a:endParaRPr lang="en-US" sz="1400" dirty="0"/>
          </a:p>
        </p:txBody>
      </p:sp>
      <p:sp>
        <p:nvSpPr>
          <p:cNvPr id="11" name="contraindication card 3"/>
          <p:cNvSpPr/>
          <p:nvPr/>
        </p:nvSpPr>
        <p:spPr>
          <a:xfrm>
            <a:off x="457200" y="2697480"/>
            <a:ext cx="5486400" cy="1143000"/>
          </a:xfrm>
          <a:prstGeom prst="roundRect">
            <a:avLst>
              <a:gd name="adj" fmla="val 9600"/>
            </a:avLst>
          </a:prstGeom>
          <a:solidFill>
            <a:srgbClr val="FCEDE8"/>
          </a:solidFill>
          <a:ln/>
        </p:spPr>
      </p:sp>
      <p:sp>
        <p:nvSpPr>
          <p:cNvPr id="12" name="no icon 3 bg"/>
          <p:cNvSpPr/>
          <p:nvPr/>
        </p:nvSpPr>
        <p:spPr>
          <a:xfrm>
            <a:off x="640080" y="2999232"/>
            <a:ext cx="530352" cy="530352"/>
          </a:xfrm>
          <a:prstGeom prst="ellipse">
            <a:avLst/>
          </a:prstGeom>
          <a:solidFill>
            <a:schemeClr val="accent3"/>
          </a:solidFill>
          <a:ln/>
        </p:spPr>
      </p:sp>
      <p:pic>
        <p:nvPicPr>
          <p:cNvPr id="13" name="no icon 3" descr="no icon 3">    </p:cNvPr>
          <p:cNvPicPr>
            <a:picLocks noChangeAspect="1"/>
          </p:cNvPicPr>
          <p:nvPr/>
        </p:nvPicPr>
        <p:blipFill>
          <a:blip r:embed="rId3"/>
          <a:stretch>
            <a:fillRect/>
          </a:stretch>
        </p:blipFill>
        <p:spPr>
          <a:xfrm>
            <a:off x="777972" y="3137124"/>
            <a:ext cx="254569" cy="254569"/>
          </a:xfrm>
          <a:prstGeom prst="rect">
            <a:avLst/>
          </a:prstGeom>
        </p:spPr>
      </p:pic>
      <p:sp>
        <p:nvSpPr>
          <p:cNvPr id="14" name="Text 9"/>
          <p:cNvSpPr txBox="1"/>
          <p:nvPr/>
        </p:nvSpPr>
        <p:spPr>
          <a:xfrm>
            <a:off x="1371600" y="2788920"/>
            <a:ext cx="4434840" cy="960120"/>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孕期、哺乳期女性</a:t>
            </a:r>
            <a:endParaRPr lang="en-US" sz="1400" dirty="0"/>
          </a:p>
          <a:p>
            <a:pPr indent="0" marL="0">
              <a:spcAft>
                <a:spcPts val="300"/>
              </a:spcAft>
              <a:buNone/>
            </a:pPr>
            <a:r>
              <a:rPr lang="en-US" sz="1200" dirty="0">
                <a:solidFill>
                  <a:schemeClr val="accent6"/>
                </a:solidFill>
              </a:rPr>
              <a:t>Pregnant &amp; breastfeeding clients</a:t>
            </a:r>
            <a:endParaRPr lang="en-US" sz="1400" dirty="0"/>
          </a:p>
        </p:txBody>
      </p:sp>
      <p:sp>
        <p:nvSpPr>
          <p:cNvPr id="15" name="contraindication card 4"/>
          <p:cNvSpPr/>
          <p:nvPr/>
        </p:nvSpPr>
        <p:spPr>
          <a:xfrm>
            <a:off x="6217920" y="2697480"/>
            <a:ext cx="5486400" cy="1143000"/>
          </a:xfrm>
          <a:prstGeom prst="roundRect">
            <a:avLst>
              <a:gd name="adj" fmla="val 9600"/>
            </a:avLst>
          </a:prstGeom>
          <a:solidFill>
            <a:srgbClr val="FCEDE8"/>
          </a:solidFill>
          <a:ln/>
        </p:spPr>
      </p:sp>
      <p:sp>
        <p:nvSpPr>
          <p:cNvPr id="16" name="no icon 4 bg"/>
          <p:cNvSpPr/>
          <p:nvPr/>
        </p:nvSpPr>
        <p:spPr>
          <a:xfrm>
            <a:off x="6400800" y="2999232"/>
            <a:ext cx="530352" cy="530352"/>
          </a:xfrm>
          <a:prstGeom prst="ellipse">
            <a:avLst/>
          </a:prstGeom>
          <a:solidFill>
            <a:schemeClr val="accent3"/>
          </a:solidFill>
          <a:ln/>
        </p:spPr>
      </p:sp>
      <p:pic>
        <p:nvPicPr>
          <p:cNvPr id="17" name="no icon 4" descr="no icon 4">    </p:cNvPr>
          <p:cNvPicPr>
            <a:picLocks noChangeAspect="1"/>
          </p:cNvPicPr>
          <p:nvPr/>
        </p:nvPicPr>
        <p:blipFill>
          <a:blip r:embed="rId4"/>
          <a:stretch>
            <a:fillRect/>
          </a:stretch>
        </p:blipFill>
        <p:spPr>
          <a:xfrm>
            <a:off x="6538692" y="3137124"/>
            <a:ext cx="254569" cy="254569"/>
          </a:xfrm>
          <a:prstGeom prst="rect">
            <a:avLst/>
          </a:prstGeom>
        </p:spPr>
      </p:pic>
      <p:sp>
        <p:nvSpPr>
          <p:cNvPr id="18" name="Text 12"/>
          <p:cNvSpPr txBox="1"/>
          <p:nvPr/>
        </p:nvSpPr>
        <p:spPr>
          <a:xfrm>
            <a:off x="7132320" y="2788920"/>
            <a:ext cx="4434840" cy="960120"/>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严重玫瑰痤疮急性爆发期、皮肤持续红肿刺痛</a:t>
            </a:r>
            <a:endParaRPr lang="en-US" sz="1400" dirty="0"/>
          </a:p>
          <a:p>
            <a:pPr indent="0" marL="0">
              <a:spcAft>
                <a:spcPts val="300"/>
              </a:spcAft>
              <a:buNone/>
            </a:pPr>
            <a:r>
              <a:rPr lang="en-US" sz="1200" dirty="0">
                <a:solidFill>
                  <a:schemeClr val="accent6"/>
                </a:solidFill>
              </a:rPr>
              <a:t>Severe active rosacea with constant redness &amp; stinging</a:t>
            </a:r>
            <a:endParaRPr lang="en-US" sz="1400" dirty="0"/>
          </a:p>
        </p:txBody>
      </p:sp>
      <p:sp>
        <p:nvSpPr>
          <p:cNvPr id="19" name="contraindication card 5"/>
          <p:cNvSpPr/>
          <p:nvPr/>
        </p:nvSpPr>
        <p:spPr>
          <a:xfrm>
            <a:off x="457200" y="3977640"/>
            <a:ext cx="5486400" cy="1143000"/>
          </a:xfrm>
          <a:prstGeom prst="roundRect">
            <a:avLst>
              <a:gd name="adj" fmla="val 9600"/>
            </a:avLst>
          </a:prstGeom>
          <a:solidFill>
            <a:srgbClr val="FCEDE8"/>
          </a:solidFill>
          <a:ln/>
        </p:spPr>
      </p:sp>
      <p:sp>
        <p:nvSpPr>
          <p:cNvPr id="20" name="no icon 5 bg"/>
          <p:cNvSpPr/>
          <p:nvPr/>
        </p:nvSpPr>
        <p:spPr>
          <a:xfrm>
            <a:off x="640080" y="4279392"/>
            <a:ext cx="530352" cy="530352"/>
          </a:xfrm>
          <a:prstGeom prst="ellipse">
            <a:avLst/>
          </a:prstGeom>
          <a:solidFill>
            <a:schemeClr val="accent3"/>
          </a:solidFill>
          <a:ln/>
        </p:spPr>
      </p:sp>
      <p:pic>
        <p:nvPicPr>
          <p:cNvPr id="21" name="no icon 5" descr="no icon 5">    </p:cNvPr>
          <p:cNvPicPr>
            <a:picLocks noChangeAspect="1"/>
          </p:cNvPicPr>
          <p:nvPr/>
        </p:nvPicPr>
        <p:blipFill>
          <a:blip r:embed="rId5"/>
          <a:stretch>
            <a:fillRect/>
          </a:stretch>
        </p:blipFill>
        <p:spPr>
          <a:xfrm>
            <a:off x="777972" y="4417284"/>
            <a:ext cx="254569" cy="254569"/>
          </a:xfrm>
          <a:prstGeom prst="rect">
            <a:avLst/>
          </a:prstGeom>
        </p:spPr>
      </p:pic>
      <p:sp>
        <p:nvSpPr>
          <p:cNvPr id="22" name="Text 15"/>
          <p:cNvSpPr txBox="1"/>
          <p:nvPr/>
        </p:nvSpPr>
        <p:spPr>
          <a:xfrm>
            <a:off x="1371600" y="4069080"/>
            <a:ext cx="4434840" cy="960120"/>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近期大量暴晒、晒伤脱皮</a:t>
            </a:r>
            <a:endParaRPr lang="en-US" sz="1400" dirty="0"/>
          </a:p>
          <a:p>
            <a:pPr indent="0" marL="0">
              <a:spcAft>
                <a:spcPts val="300"/>
              </a:spcAft>
              <a:buNone/>
            </a:pPr>
            <a:r>
              <a:rPr lang="en-US" sz="1200" dirty="0">
                <a:solidFill>
                  <a:schemeClr val="accent6"/>
                </a:solidFill>
              </a:rPr>
              <a:t>Recent heavy sun exposure, sunburn &amp; peeling skin</a:t>
            </a:r>
            <a:endParaRPr lang="en-US" sz="1400" dirty="0"/>
          </a:p>
        </p:txBody>
      </p:sp>
      <p:sp>
        <p:nvSpPr>
          <p:cNvPr id="23" name="contraindication card 6"/>
          <p:cNvSpPr/>
          <p:nvPr/>
        </p:nvSpPr>
        <p:spPr>
          <a:xfrm>
            <a:off x="6217920" y="3977640"/>
            <a:ext cx="5486400" cy="1143000"/>
          </a:xfrm>
          <a:prstGeom prst="roundRect">
            <a:avLst>
              <a:gd name="adj" fmla="val 9600"/>
            </a:avLst>
          </a:prstGeom>
          <a:solidFill>
            <a:srgbClr val="FCEDE8"/>
          </a:solidFill>
          <a:ln/>
        </p:spPr>
      </p:sp>
      <p:sp>
        <p:nvSpPr>
          <p:cNvPr id="24" name="no icon 6 bg"/>
          <p:cNvSpPr/>
          <p:nvPr/>
        </p:nvSpPr>
        <p:spPr>
          <a:xfrm>
            <a:off x="6400800" y="4279392"/>
            <a:ext cx="530352" cy="530352"/>
          </a:xfrm>
          <a:prstGeom prst="ellipse">
            <a:avLst/>
          </a:prstGeom>
          <a:solidFill>
            <a:schemeClr val="accent3"/>
          </a:solidFill>
          <a:ln/>
        </p:spPr>
      </p:sp>
      <p:pic>
        <p:nvPicPr>
          <p:cNvPr id="25" name="no icon 6" descr="no icon 6">    </p:cNvPr>
          <p:cNvPicPr>
            <a:picLocks noChangeAspect="1"/>
          </p:cNvPicPr>
          <p:nvPr/>
        </p:nvPicPr>
        <p:blipFill>
          <a:blip r:embed="rId6"/>
          <a:stretch>
            <a:fillRect/>
          </a:stretch>
        </p:blipFill>
        <p:spPr>
          <a:xfrm>
            <a:off x="6538692" y="4417284"/>
            <a:ext cx="254569" cy="254569"/>
          </a:xfrm>
          <a:prstGeom prst="rect">
            <a:avLst/>
          </a:prstGeom>
        </p:spPr>
      </p:pic>
      <p:sp>
        <p:nvSpPr>
          <p:cNvPr id="26" name="Text 18"/>
          <p:cNvSpPr txBox="1"/>
          <p:nvPr/>
        </p:nvSpPr>
        <p:spPr>
          <a:xfrm>
            <a:off x="7132320" y="4069080"/>
            <a:ext cx="4434840" cy="960120"/>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对水杨酸、酸类护肤品严重过敏体质</a:t>
            </a:r>
            <a:endParaRPr lang="en-US" sz="1400" dirty="0"/>
          </a:p>
          <a:p>
            <a:pPr indent="0" marL="0">
              <a:spcAft>
                <a:spcPts val="300"/>
              </a:spcAft>
              <a:buNone/>
            </a:pPr>
            <a:r>
              <a:rPr lang="en-US" sz="1200" dirty="0">
                <a:solidFill>
                  <a:schemeClr val="accent6"/>
                </a:solidFill>
              </a:rPr>
              <a:t>Severe known allergy to salicylic acid / acid skincare</a:t>
            </a:r>
            <a:endParaRPr lang="en-US" sz="1400" dirty="0"/>
          </a:p>
        </p:txBody>
      </p:sp>
      <p:sp>
        <p:nvSpPr>
          <p:cNvPr id="27" name="patch test banner"/>
          <p:cNvSpPr/>
          <p:nvPr/>
        </p:nvSpPr>
        <p:spPr>
          <a:xfrm>
            <a:off x="457200" y="5349240"/>
            <a:ext cx="11247120" cy="868680"/>
          </a:xfrm>
          <a:prstGeom prst="roundRect">
            <a:avLst>
              <a:gd name="adj" fmla="val 12632"/>
            </a:avLst>
          </a:prstGeom>
          <a:solidFill>
            <a:srgbClr val="FBF1D6"/>
          </a:solidFill>
          <a:ln/>
        </p:spPr>
      </p:sp>
      <p:sp>
        <p:nvSpPr>
          <p:cNvPr id="28" name="caution icon bg"/>
          <p:cNvSpPr/>
          <p:nvPr/>
        </p:nvSpPr>
        <p:spPr>
          <a:xfrm>
            <a:off x="685800" y="5550408"/>
            <a:ext cx="457200" cy="457200"/>
          </a:xfrm>
          <a:prstGeom prst="ellipse">
            <a:avLst/>
          </a:prstGeom>
          <a:solidFill>
            <a:schemeClr val="accent2"/>
          </a:solidFill>
          <a:ln/>
        </p:spPr>
      </p:sp>
      <p:pic>
        <p:nvPicPr>
          <p:cNvPr id="29" name="caution icon" descr="caution icon">    </p:cNvPr>
          <p:cNvPicPr>
            <a:picLocks noChangeAspect="1"/>
          </p:cNvPicPr>
          <p:nvPr/>
        </p:nvPicPr>
        <p:blipFill>
          <a:blip r:embed="rId7"/>
          <a:stretch>
            <a:fillRect/>
          </a:stretch>
        </p:blipFill>
        <p:spPr>
          <a:xfrm>
            <a:off x="804672" y="5669280"/>
            <a:ext cx="219456" cy="219456"/>
          </a:xfrm>
          <a:prstGeom prst="rect">
            <a:avLst/>
          </a:prstGeom>
        </p:spPr>
      </p:pic>
      <p:sp>
        <p:nvSpPr>
          <p:cNvPr id="30" name="Text 21"/>
          <p:cNvSpPr txBox="1"/>
          <p:nvPr/>
        </p:nvSpPr>
        <p:spPr>
          <a:xfrm>
            <a:off x="1371600" y="5349240"/>
            <a:ext cx="10058400" cy="868680"/>
          </a:xfrm>
          <a:prstGeom prst="rect">
            <a:avLst/>
          </a:prstGeom>
          <a:noFill/>
          <a:ln/>
        </p:spPr>
        <p:txBody>
          <a:bodyPr wrap="square" lIns="0" tIns="0" rIns="0" bIns="0" rtlCol="0" anchor="ctr"/>
          <a:lstStyle/>
          <a:p>
            <a:pPr indent="0" marL="0">
              <a:spcAft>
                <a:spcPts val="200"/>
              </a:spcAft>
              <a:buNone/>
            </a:pPr>
            <a:r>
              <a:rPr lang="en-US" sz="1400" b="1" dirty="0">
                <a:solidFill>
                  <a:srgbClr val="000000"/>
                </a:solidFill>
              </a:rPr>
              <a:t>谨慎操作：重度敏感肌请先做耳后皮试，再做全脸</a:t>
            </a:r>
            <a:endParaRPr lang="en-US" sz="1400" dirty="0"/>
          </a:p>
          <a:p>
            <a:pPr indent="0" marL="0">
              <a:spcAft>
                <a:spcPts val="200"/>
              </a:spcAft>
              <a:buNone/>
            </a:pPr>
            <a:r>
              <a:rPr lang="en-US" sz="1200" dirty="0">
                <a:solidFill>
                  <a:schemeClr val="accent6"/>
                </a:solidFill>
              </a:rPr>
              <a:t>Caution: for extremely sensitive skin, do a patch test (behind the ear) before full‑face treatment.</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护理前后检查清单</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Treatment Checklist · before and after every peel</a:t>
            </a:r>
            <a:endParaRPr lang="en-US" sz="3000" dirty="0"/>
          </a:p>
        </p:txBody>
      </p:sp>
      <p:sp>
        <p:nvSpPr>
          <p:cNvPr id="3" name="checklist panel 护理前 Before"/>
          <p:cNvSpPr/>
          <p:nvPr/>
        </p:nvSpPr>
        <p:spPr>
          <a:xfrm>
            <a:off x="457200" y="1417320"/>
            <a:ext cx="5532120" cy="4846320"/>
          </a:xfrm>
          <a:prstGeom prst="roundRect">
            <a:avLst>
              <a:gd name="adj" fmla="val 2264"/>
            </a:avLst>
          </a:prstGeom>
          <a:solidFill>
            <a:schemeClr val="bg2"/>
          </a:solidFill>
          <a:ln/>
        </p:spPr>
      </p:sp>
      <p:sp>
        <p:nvSpPr>
          <p:cNvPr id="4" name="checklist pill"/>
          <p:cNvSpPr txBox="1"/>
          <p:nvPr/>
        </p:nvSpPr>
        <p:spPr>
          <a:xfrm>
            <a:off x="685800" y="1554480"/>
            <a:ext cx="2377440" cy="411480"/>
          </a:xfrm>
          <a:prstGeom prst="roundRect">
            <a:avLst>
              <a:gd name="adj" fmla="val 48889"/>
            </a:avLst>
          </a:prstGeom>
          <a:solidFill>
            <a:schemeClr val="accent1"/>
          </a:solidFill>
          <a:ln/>
        </p:spPr>
        <p:txBody>
          <a:bodyPr wrap="square" lIns="0" tIns="0" rIns="0" bIns="0" rtlCol="0" anchor="ctr"/>
          <a:lstStyle/>
          <a:p>
            <a:pPr algn="ctr" indent="0" marL="0">
              <a:buNone/>
            </a:pPr>
            <a:r>
              <a:rPr lang="en-US" sz="1500" b="1" dirty="0">
                <a:solidFill>
                  <a:schemeClr val="bg1"/>
                </a:solidFill>
              </a:rPr>
              <a:t>护理前 Before</a:t>
            </a:r>
            <a:endParaRPr lang="en-US" sz="1500" dirty="0"/>
          </a:p>
        </p:txBody>
      </p:sp>
      <p:sp>
        <p:nvSpPr>
          <p:cNvPr id="5" name="check 护理前 Before0 bg"/>
          <p:cNvSpPr/>
          <p:nvPr/>
        </p:nvSpPr>
        <p:spPr>
          <a:xfrm>
            <a:off x="685800" y="2194560"/>
            <a:ext cx="365760" cy="365760"/>
          </a:xfrm>
          <a:prstGeom prst="ellipse">
            <a:avLst/>
          </a:prstGeom>
          <a:solidFill>
            <a:schemeClr val="accent1"/>
          </a:solidFill>
          <a:ln/>
        </p:spPr>
      </p:sp>
      <p:pic>
        <p:nvPicPr>
          <p:cNvPr id="6" name="check 护理前 Before0" descr="check 护理前 Before0">    </p:cNvPr>
          <p:cNvPicPr>
            <a:picLocks noChangeAspect="1"/>
          </p:cNvPicPr>
          <p:nvPr/>
        </p:nvPicPr>
        <p:blipFill>
          <a:blip r:embed="rId1"/>
          <a:stretch>
            <a:fillRect/>
          </a:stretch>
        </p:blipFill>
        <p:spPr>
          <a:xfrm>
            <a:off x="780898" y="2289658"/>
            <a:ext cx="175565" cy="175565"/>
          </a:xfrm>
          <a:prstGeom prst="rect">
            <a:avLst/>
          </a:prstGeom>
        </p:spPr>
      </p:pic>
      <p:sp>
        <p:nvSpPr>
          <p:cNvPr id="7" name="Text 4"/>
          <p:cNvSpPr txBox="1"/>
          <p:nvPr/>
        </p:nvSpPr>
        <p:spPr>
          <a:xfrm>
            <a:off x="1234440" y="2103120"/>
            <a:ext cx="4617720" cy="758952"/>
          </a:xfrm>
          <a:prstGeom prst="rect">
            <a:avLst/>
          </a:prstGeom>
          <a:noFill/>
          <a:ln/>
        </p:spPr>
        <p:txBody>
          <a:bodyPr wrap="square" lIns="0" tIns="0" rIns="0" bIns="0" rtlCol="0" anchor="ctr"/>
          <a:lstStyle/>
          <a:p>
            <a:pPr indent="0" marL="0">
              <a:buNone/>
            </a:pPr>
            <a:r>
              <a:rPr lang="en-US" sz="1300" dirty="0">
                <a:solidFill>
                  <a:schemeClr val="tx1"/>
                </a:solidFill>
              </a:rPr>
              <a:t>询问是否怀孕、哺乳或有皮肤过敏史</a:t>
            </a:r>
            <a:endParaRPr lang="en-US" sz="1300" dirty="0"/>
          </a:p>
          <a:p>
            <a:pPr indent="0" marL="0">
              <a:buNone/>
            </a:pPr>
            <a:r>
              <a:rPr lang="en-US" sz="1150" dirty="0">
                <a:solidFill>
                  <a:schemeClr val="accent6"/>
                </a:solidFill>
              </a:rPr>
              <a:t>Ask about pregnancy, breastfeeding or skin‑allergy history</a:t>
            </a:r>
            <a:endParaRPr lang="en-US" sz="1300" dirty="0"/>
          </a:p>
        </p:txBody>
      </p:sp>
      <p:sp>
        <p:nvSpPr>
          <p:cNvPr id="8" name="check 护理前 Before1 bg"/>
          <p:cNvSpPr/>
          <p:nvPr/>
        </p:nvSpPr>
        <p:spPr>
          <a:xfrm>
            <a:off x="685800" y="2999232"/>
            <a:ext cx="365760" cy="365760"/>
          </a:xfrm>
          <a:prstGeom prst="ellipse">
            <a:avLst/>
          </a:prstGeom>
          <a:solidFill>
            <a:schemeClr val="accent1"/>
          </a:solidFill>
          <a:ln/>
        </p:spPr>
      </p:sp>
      <p:pic>
        <p:nvPicPr>
          <p:cNvPr id="9" name="check 护理前 Before1" descr="check 护理前 Before1">    </p:cNvPr>
          <p:cNvPicPr>
            <a:picLocks noChangeAspect="1"/>
          </p:cNvPicPr>
          <p:nvPr/>
        </p:nvPicPr>
        <p:blipFill>
          <a:blip r:embed="rId2"/>
          <a:stretch>
            <a:fillRect/>
          </a:stretch>
        </p:blipFill>
        <p:spPr>
          <a:xfrm>
            <a:off x="780898" y="3094330"/>
            <a:ext cx="175565" cy="175565"/>
          </a:xfrm>
          <a:prstGeom prst="rect">
            <a:avLst/>
          </a:prstGeom>
        </p:spPr>
      </p:pic>
      <p:sp>
        <p:nvSpPr>
          <p:cNvPr id="10" name="Text 6"/>
          <p:cNvSpPr txBox="1"/>
          <p:nvPr/>
        </p:nvSpPr>
        <p:spPr>
          <a:xfrm>
            <a:off x="1234440" y="2907792"/>
            <a:ext cx="4617720" cy="758952"/>
          </a:xfrm>
          <a:prstGeom prst="rect">
            <a:avLst/>
          </a:prstGeom>
          <a:noFill/>
          <a:ln/>
        </p:spPr>
        <p:txBody>
          <a:bodyPr wrap="square" lIns="0" tIns="0" rIns="0" bIns="0" rtlCol="0" anchor="ctr"/>
          <a:lstStyle/>
          <a:p>
            <a:pPr indent="0" marL="0">
              <a:buNone/>
            </a:pPr>
            <a:r>
              <a:rPr lang="en-US" sz="1300" dirty="0">
                <a:solidFill>
                  <a:schemeClr val="tx1"/>
                </a:solidFill>
              </a:rPr>
              <a:t>确认近期是否使用 Retinol、AHA、BHA 或处方祛痘药物</a:t>
            </a:r>
            <a:endParaRPr lang="en-US" sz="1300" dirty="0"/>
          </a:p>
          <a:p>
            <a:pPr indent="0" marL="0">
              <a:buNone/>
            </a:pPr>
            <a:r>
              <a:rPr lang="en-US" sz="1150" dirty="0">
                <a:solidFill>
                  <a:schemeClr val="accent6"/>
                </a:solidFill>
              </a:rPr>
              <a:t>Check recent use of retinol, AHA, BHA or prescription acne medication</a:t>
            </a:r>
            <a:endParaRPr lang="en-US" sz="1300" dirty="0"/>
          </a:p>
        </p:txBody>
      </p:sp>
      <p:sp>
        <p:nvSpPr>
          <p:cNvPr id="11" name="check 护理前 Before2 bg"/>
          <p:cNvSpPr/>
          <p:nvPr/>
        </p:nvSpPr>
        <p:spPr>
          <a:xfrm>
            <a:off x="685800" y="3803904"/>
            <a:ext cx="365760" cy="365760"/>
          </a:xfrm>
          <a:prstGeom prst="ellipse">
            <a:avLst/>
          </a:prstGeom>
          <a:solidFill>
            <a:schemeClr val="accent1"/>
          </a:solidFill>
          <a:ln/>
        </p:spPr>
      </p:sp>
      <p:pic>
        <p:nvPicPr>
          <p:cNvPr id="12" name="check 护理前 Before2" descr="check 护理前 Before2">    </p:cNvPr>
          <p:cNvPicPr>
            <a:picLocks noChangeAspect="1"/>
          </p:cNvPicPr>
          <p:nvPr/>
        </p:nvPicPr>
        <p:blipFill>
          <a:blip r:embed="rId3"/>
          <a:stretch>
            <a:fillRect/>
          </a:stretch>
        </p:blipFill>
        <p:spPr>
          <a:xfrm>
            <a:off x="780898" y="3899002"/>
            <a:ext cx="175565" cy="175565"/>
          </a:xfrm>
          <a:prstGeom prst="rect">
            <a:avLst/>
          </a:prstGeom>
        </p:spPr>
      </p:pic>
      <p:sp>
        <p:nvSpPr>
          <p:cNvPr id="13" name="Text 8"/>
          <p:cNvSpPr txBox="1"/>
          <p:nvPr/>
        </p:nvSpPr>
        <p:spPr>
          <a:xfrm>
            <a:off x="1234440" y="3712464"/>
            <a:ext cx="4617720" cy="758952"/>
          </a:xfrm>
          <a:prstGeom prst="rect">
            <a:avLst/>
          </a:prstGeom>
          <a:noFill/>
          <a:ln/>
        </p:spPr>
        <p:txBody>
          <a:bodyPr wrap="square" lIns="0" tIns="0" rIns="0" bIns="0" rtlCol="0" anchor="ctr"/>
          <a:lstStyle/>
          <a:p>
            <a:pPr indent="0" marL="0">
              <a:buNone/>
            </a:pPr>
            <a:r>
              <a:rPr lang="en-US" sz="1300" dirty="0">
                <a:solidFill>
                  <a:schemeClr val="tx1"/>
                </a:solidFill>
              </a:rPr>
              <a:t>询问近期是否做过激光、微针、其他焕肤或医美项目</a:t>
            </a:r>
            <a:endParaRPr lang="en-US" sz="1300" dirty="0"/>
          </a:p>
          <a:p>
            <a:pPr indent="0" marL="0">
              <a:buNone/>
            </a:pPr>
            <a:r>
              <a:rPr lang="en-US" sz="1150" dirty="0">
                <a:solidFill>
                  <a:schemeClr val="accent6"/>
                </a:solidFill>
              </a:rPr>
              <a:t>Ask about recent laser, microneedling, other peels or aesthetic treatments</a:t>
            </a:r>
            <a:endParaRPr lang="en-US" sz="1300" dirty="0"/>
          </a:p>
        </p:txBody>
      </p:sp>
      <p:sp>
        <p:nvSpPr>
          <p:cNvPr id="14" name="check 护理前 Before3 bg"/>
          <p:cNvSpPr/>
          <p:nvPr/>
        </p:nvSpPr>
        <p:spPr>
          <a:xfrm>
            <a:off x="685800" y="4608576"/>
            <a:ext cx="365760" cy="365760"/>
          </a:xfrm>
          <a:prstGeom prst="ellipse">
            <a:avLst/>
          </a:prstGeom>
          <a:solidFill>
            <a:schemeClr val="accent1"/>
          </a:solidFill>
          <a:ln/>
        </p:spPr>
      </p:sp>
      <p:pic>
        <p:nvPicPr>
          <p:cNvPr id="15" name="check 护理前 Before3" descr="check 护理前 Before3">    </p:cNvPr>
          <p:cNvPicPr>
            <a:picLocks noChangeAspect="1"/>
          </p:cNvPicPr>
          <p:nvPr/>
        </p:nvPicPr>
        <p:blipFill>
          <a:blip r:embed="rId4"/>
          <a:stretch>
            <a:fillRect/>
          </a:stretch>
        </p:blipFill>
        <p:spPr>
          <a:xfrm>
            <a:off x="780898" y="4703674"/>
            <a:ext cx="175565" cy="175565"/>
          </a:xfrm>
          <a:prstGeom prst="rect">
            <a:avLst/>
          </a:prstGeom>
        </p:spPr>
      </p:pic>
      <p:sp>
        <p:nvSpPr>
          <p:cNvPr id="16" name="Text 10"/>
          <p:cNvSpPr txBox="1"/>
          <p:nvPr/>
        </p:nvSpPr>
        <p:spPr>
          <a:xfrm>
            <a:off x="1234440" y="4517136"/>
            <a:ext cx="4617720" cy="758952"/>
          </a:xfrm>
          <a:prstGeom prst="rect">
            <a:avLst/>
          </a:prstGeom>
          <a:noFill/>
          <a:ln/>
        </p:spPr>
        <p:txBody>
          <a:bodyPr wrap="square" lIns="0" tIns="0" rIns="0" bIns="0" rtlCol="0" anchor="ctr"/>
          <a:lstStyle/>
          <a:p>
            <a:pPr indent="0" marL="0">
              <a:buNone/>
            </a:pPr>
            <a:r>
              <a:rPr lang="en-US" sz="1300" dirty="0">
                <a:solidFill>
                  <a:schemeClr val="tx1"/>
                </a:solidFill>
              </a:rPr>
              <a:t>检查是否有晒伤、伤口、明显发炎或皮肤屏障受损</a:t>
            </a:r>
            <a:endParaRPr lang="en-US" sz="1300" dirty="0"/>
          </a:p>
          <a:p>
            <a:pPr indent="0" marL="0">
              <a:buNone/>
            </a:pPr>
            <a:r>
              <a:rPr lang="en-US" sz="1150" dirty="0">
                <a:solidFill>
                  <a:schemeClr val="accent6"/>
                </a:solidFill>
              </a:rPr>
              <a:t>Check for sunburn, wounds, marked inflammation or a damaged barrier</a:t>
            </a:r>
            <a:endParaRPr lang="en-US" sz="1300" dirty="0"/>
          </a:p>
        </p:txBody>
      </p:sp>
      <p:sp>
        <p:nvSpPr>
          <p:cNvPr id="17" name="check 护理前 Before4 bg"/>
          <p:cNvSpPr/>
          <p:nvPr/>
        </p:nvSpPr>
        <p:spPr>
          <a:xfrm>
            <a:off x="685800" y="5413248"/>
            <a:ext cx="365760" cy="365760"/>
          </a:xfrm>
          <a:prstGeom prst="ellipse">
            <a:avLst/>
          </a:prstGeom>
          <a:solidFill>
            <a:schemeClr val="accent1"/>
          </a:solidFill>
          <a:ln/>
        </p:spPr>
      </p:sp>
      <p:pic>
        <p:nvPicPr>
          <p:cNvPr id="18" name="check 护理前 Before4" descr="check 护理前 Before4">    </p:cNvPr>
          <p:cNvPicPr>
            <a:picLocks noChangeAspect="1"/>
          </p:cNvPicPr>
          <p:nvPr/>
        </p:nvPicPr>
        <p:blipFill>
          <a:blip r:embed="rId5"/>
          <a:stretch>
            <a:fillRect/>
          </a:stretch>
        </p:blipFill>
        <p:spPr>
          <a:xfrm>
            <a:off x="780898" y="5508346"/>
            <a:ext cx="175565" cy="175565"/>
          </a:xfrm>
          <a:prstGeom prst="rect">
            <a:avLst/>
          </a:prstGeom>
        </p:spPr>
      </p:pic>
      <p:sp>
        <p:nvSpPr>
          <p:cNvPr id="19" name="Text 12"/>
          <p:cNvSpPr txBox="1"/>
          <p:nvPr/>
        </p:nvSpPr>
        <p:spPr>
          <a:xfrm>
            <a:off x="1234440" y="5321808"/>
            <a:ext cx="4617720" cy="758952"/>
          </a:xfrm>
          <a:prstGeom prst="rect">
            <a:avLst/>
          </a:prstGeom>
          <a:noFill/>
          <a:ln/>
        </p:spPr>
        <p:txBody>
          <a:bodyPr wrap="square" lIns="0" tIns="0" rIns="0" bIns="0" rtlCol="0" anchor="ctr"/>
          <a:lstStyle/>
          <a:p>
            <a:pPr indent="0" marL="0">
              <a:buNone/>
            </a:pPr>
            <a:r>
              <a:rPr lang="en-US" sz="1300" dirty="0">
                <a:solidFill>
                  <a:schemeClr val="tx1"/>
                </a:solidFill>
              </a:rPr>
              <a:t>如使用异维A酸等药物，须先按品牌禁忌和医生建议评估</a:t>
            </a:r>
            <a:endParaRPr lang="en-US" sz="1300" dirty="0"/>
          </a:p>
          <a:p>
            <a:pPr indent="0" marL="0">
              <a:buNone/>
            </a:pPr>
            <a:r>
              <a:rPr lang="en-US" sz="1150" dirty="0">
                <a:solidFill>
                  <a:schemeClr val="accent6"/>
                </a:solidFill>
              </a:rPr>
              <a:t>If on isotretinoin or similar, assess first per brand contraindications and the doctor's advice</a:t>
            </a:r>
            <a:endParaRPr lang="en-US" sz="1300" dirty="0"/>
          </a:p>
        </p:txBody>
      </p:sp>
      <p:sp>
        <p:nvSpPr>
          <p:cNvPr id="20" name="checklist panel 护理后 After"/>
          <p:cNvSpPr/>
          <p:nvPr/>
        </p:nvSpPr>
        <p:spPr>
          <a:xfrm>
            <a:off x="6172200" y="1417320"/>
            <a:ext cx="5532120" cy="4846320"/>
          </a:xfrm>
          <a:prstGeom prst="roundRect">
            <a:avLst>
              <a:gd name="adj" fmla="val 2264"/>
            </a:avLst>
          </a:prstGeom>
          <a:solidFill>
            <a:schemeClr val="bg2"/>
          </a:solidFill>
          <a:ln/>
        </p:spPr>
      </p:sp>
      <p:sp>
        <p:nvSpPr>
          <p:cNvPr id="21" name="checklist pill"/>
          <p:cNvSpPr txBox="1"/>
          <p:nvPr/>
        </p:nvSpPr>
        <p:spPr>
          <a:xfrm>
            <a:off x="6400800" y="1554480"/>
            <a:ext cx="2377440" cy="411480"/>
          </a:xfrm>
          <a:prstGeom prst="roundRect">
            <a:avLst>
              <a:gd name="adj" fmla="val 48889"/>
            </a:avLst>
          </a:prstGeom>
          <a:solidFill>
            <a:schemeClr val="accent2"/>
          </a:solidFill>
          <a:ln/>
        </p:spPr>
        <p:txBody>
          <a:bodyPr wrap="square" lIns="0" tIns="0" rIns="0" bIns="0" rtlCol="0" anchor="ctr"/>
          <a:lstStyle/>
          <a:p>
            <a:pPr algn="ctr" indent="0" marL="0">
              <a:buNone/>
            </a:pPr>
            <a:r>
              <a:rPr lang="en-US" sz="1500" b="1" dirty="0">
                <a:solidFill>
                  <a:schemeClr val="bg1"/>
                </a:solidFill>
              </a:rPr>
              <a:t>护理后 After</a:t>
            </a:r>
            <a:endParaRPr lang="en-US" sz="1500" dirty="0"/>
          </a:p>
        </p:txBody>
      </p:sp>
      <p:sp>
        <p:nvSpPr>
          <p:cNvPr id="22" name="check 护理后 After0 bg"/>
          <p:cNvSpPr/>
          <p:nvPr/>
        </p:nvSpPr>
        <p:spPr>
          <a:xfrm>
            <a:off x="6400800" y="2194560"/>
            <a:ext cx="365760" cy="365760"/>
          </a:xfrm>
          <a:prstGeom prst="ellipse">
            <a:avLst/>
          </a:prstGeom>
          <a:solidFill>
            <a:schemeClr val="accent2"/>
          </a:solidFill>
          <a:ln/>
        </p:spPr>
      </p:sp>
      <p:pic>
        <p:nvPicPr>
          <p:cNvPr id="23" name="check 护理后 After0" descr="check 护理后 After0">    </p:cNvPr>
          <p:cNvPicPr>
            <a:picLocks noChangeAspect="1"/>
          </p:cNvPicPr>
          <p:nvPr/>
        </p:nvPicPr>
        <p:blipFill>
          <a:blip r:embed="rId6"/>
          <a:stretch>
            <a:fillRect/>
          </a:stretch>
        </p:blipFill>
        <p:spPr>
          <a:xfrm>
            <a:off x="6495898" y="2289658"/>
            <a:ext cx="175565" cy="175565"/>
          </a:xfrm>
          <a:prstGeom prst="rect">
            <a:avLst/>
          </a:prstGeom>
        </p:spPr>
      </p:pic>
      <p:sp>
        <p:nvSpPr>
          <p:cNvPr id="24" name="Text 16"/>
          <p:cNvSpPr txBox="1"/>
          <p:nvPr/>
        </p:nvSpPr>
        <p:spPr>
          <a:xfrm>
            <a:off x="6949440" y="2103120"/>
            <a:ext cx="4617720" cy="630936"/>
          </a:xfrm>
          <a:prstGeom prst="rect">
            <a:avLst/>
          </a:prstGeom>
          <a:noFill/>
          <a:ln/>
        </p:spPr>
        <p:txBody>
          <a:bodyPr wrap="square" lIns="0" tIns="0" rIns="0" bIns="0" rtlCol="0" anchor="ctr"/>
          <a:lstStyle/>
          <a:p>
            <a:pPr indent="0" marL="0">
              <a:buNone/>
            </a:pPr>
            <a:r>
              <a:rPr lang="en-US" sz="1300" dirty="0">
                <a:solidFill>
                  <a:schemeClr val="tx1"/>
                </a:solidFill>
              </a:rPr>
              <a:t>使用温和洁面和保湿产品</a:t>
            </a:r>
            <a:endParaRPr lang="en-US" sz="1300" dirty="0"/>
          </a:p>
          <a:p>
            <a:pPr indent="0" marL="0">
              <a:buNone/>
            </a:pPr>
            <a:r>
              <a:rPr lang="en-US" sz="1150" dirty="0">
                <a:solidFill>
                  <a:schemeClr val="accent6"/>
                </a:solidFill>
              </a:rPr>
              <a:t>Use a gentle cleanser and moisturiser</a:t>
            </a:r>
            <a:endParaRPr lang="en-US" sz="1300" dirty="0"/>
          </a:p>
        </p:txBody>
      </p:sp>
      <p:sp>
        <p:nvSpPr>
          <p:cNvPr id="25" name="check 护理后 After1 bg"/>
          <p:cNvSpPr/>
          <p:nvPr/>
        </p:nvSpPr>
        <p:spPr>
          <a:xfrm>
            <a:off x="6400800" y="2871216"/>
            <a:ext cx="365760" cy="365760"/>
          </a:xfrm>
          <a:prstGeom prst="ellipse">
            <a:avLst/>
          </a:prstGeom>
          <a:solidFill>
            <a:schemeClr val="accent2"/>
          </a:solidFill>
          <a:ln/>
        </p:spPr>
      </p:sp>
      <p:pic>
        <p:nvPicPr>
          <p:cNvPr id="26" name="check 护理后 After1" descr="check 护理后 After1">    </p:cNvPr>
          <p:cNvPicPr>
            <a:picLocks noChangeAspect="1"/>
          </p:cNvPicPr>
          <p:nvPr/>
        </p:nvPicPr>
        <p:blipFill>
          <a:blip r:embed="rId7"/>
          <a:stretch>
            <a:fillRect/>
          </a:stretch>
        </p:blipFill>
        <p:spPr>
          <a:xfrm>
            <a:off x="6495898" y="2966314"/>
            <a:ext cx="175565" cy="175565"/>
          </a:xfrm>
          <a:prstGeom prst="rect">
            <a:avLst/>
          </a:prstGeom>
        </p:spPr>
      </p:pic>
      <p:sp>
        <p:nvSpPr>
          <p:cNvPr id="27" name="Text 18"/>
          <p:cNvSpPr txBox="1"/>
          <p:nvPr/>
        </p:nvSpPr>
        <p:spPr>
          <a:xfrm>
            <a:off x="6949440" y="2779776"/>
            <a:ext cx="4617720" cy="630936"/>
          </a:xfrm>
          <a:prstGeom prst="rect">
            <a:avLst/>
          </a:prstGeom>
          <a:noFill/>
          <a:ln/>
        </p:spPr>
        <p:txBody>
          <a:bodyPr wrap="square" lIns="0" tIns="0" rIns="0" bIns="0" rtlCol="0" anchor="ctr"/>
          <a:lstStyle/>
          <a:p>
            <a:pPr indent="0" marL="0">
              <a:buNone/>
            </a:pPr>
            <a:r>
              <a:rPr lang="en-US" sz="1300" dirty="0">
                <a:solidFill>
                  <a:schemeClr val="tx1"/>
                </a:solidFill>
              </a:rPr>
              <a:t>每天做好防晒，避免长时间曝晒</a:t>
            </a:r>
            <a:endParaRPr lang="en-US" sz="1300" dirty="0"/>
          </a:p>
          <a:p>
            <a:pPr indent="0" marL="0">
              <a:buNone/>
            </a:pPr>
            <a:r>
              <a:rPr lang="en-US" sz="1150" dirty="0">
                <a:solidFill>
                  <a:schemeClr val="accent6"/>
                </a:solidFill>
              </a:rPr>
              <a:t>Daily sun protection; avoid long sun exposure</a:t>
            </a:r>
            <a:endParaRPr lang="en-US" sz="1300" dirty="0"/>
          </a:p>
        </p:txBody>
      </p:sp>
      <p:sp>
        <p:nvSpPr>
          <p:cNvPr id="28" name="check 护理后 After2 bg"/>
          <p:cNvSpPr/>
          <p:nvPr/>
        </p:nvSpPr>
        <p:spPr>
          <a:xfrm>
            <a:off x="6400800" y="3547872"/>
            <a:ext cx="365760" cy="365760"/>
          </a:xfrm>
          <a:prstGeom prst="ellipse">
            <a:avLst/>
          </a:prstGeom>
          <a:solidFill>
            <a:schemeClr val="accent2"/>
          </a:solidFill>
          <a:ln/>
        </p:spPr>
      </p:sp>
      <p:pic>
        <p:nvPicPr>
          <p:cNvPr id="29" name="check 护理后 After2" descr="check 护理后 After2">    </p:cNvPr>
          <p:cNvPicPr>
            <a:picLocks noChangeAspect="1"/>
          </p:cNvPicPr>
          <p:nvPr/>
        </p:nvPicPr>
        <p:blipFill>
          <a:blip r:embed="rId8"/>
          <a:stretch>
            <a:fillRect/>
          </a:stretch>
        </p:blipFill>
        <p:spPr>
          <a:xfrm>
            <a:off x="6495898" y="3642970"/>
            <a:ext cx="175565" cy="175565"/>
          </a:xfrm>
          <a:prstGeom prst="rect">
            <a:avLst/>
          </a:prstGeom>
        </p:spPr>
      </p:pic>
      <p:sp>
        <p:nvSpPr>
          <p:cNvPr id="30" name="Text 20"/>
          <p:cNvSpPr txBox="1"/>
          <p:nvPr/>
        </p:nvSpPr>
        <p:spPr>
          <a:xfrm>
            <a:off x="6949440" y="3456432"/>
            <a:ext cx="4617720" cy="630936"/>
          </a:xfrm>
          <a:prstGeom prst="rect">
            <a:avLst/>
          </a:prstGeom>
          <a:noFill/>
          <a:ln/>
        </p:spPr>
        <p:txBody>
          <a:bodyPr wrap="square" lIns="0" tIns="0" rIns="0" bIns="0" rtlCol="0" anchor="ctr"/>
          <a:lstStyle/>
          <a:p>
            <a:pPr indent="0" marL="0">
              <a:buNone/>
            </a:pPr>
            <a:r>
              <a:rPr lang="en-US" sz="1300" dirty="0">
                <a:solidFill>
                  <a:schemeClr val="tx1"/>
                </a:solidFill>
              </a:rPr>
              <a:t>暂停去角质磨砂及刺激性护肤品，直至皮肤恢复并符合官方指引</a:t>
            </a:r>
            <a:endParaRPr lang="en-US" sz="1300" dirty="0"/>
          </a:p>
          <a:p>
            <a:pPr indent="0" marL="0">
              <a:buNone/>
            </a:pPr>
            <a:r>
              <a:rPr lang="en-US" sz="1150" dirty="0">
                <a:solidFill>
                  <a:schemeClr val="accent6"/>
                </a:solidFill>
              </a:rPr>
              <a:t>Pause scrubs and irritating skincare until skin recovers and official guidance allows</a:t>
            </a:r>
            <a:endParaRPr lang="en-US" sz="1300" dirty="0"/>
          </a:p>
        </p:txBody>
      </p:sp>
      <p:sp>
        <p:nvSpPr>
          <p:cNvPr id="31" name="check 护理后 After3 bg"/>
          <p:cNvSpPr/>
          <p:nvPr/>
        </p:nvSpPr>
        <p:spPr>
          <a:xfrm>
            <a:off x="6400800" y="4224528"/>
            <a:ext cx="365760" cy="365760"/>
          </a:xfrm>
          <a:prstGeom prst="ellipse">
            <a:avLst/>
          </a:prstGeom>
          <a:solidFill>
            <a:schemeClr val="accent2"/>
          </a:solidFill>
          <a:ln/>
        </p:spPr>
      </p:sp>
      <p:pic>
        <p:nvPicPr>
          <p:cNvPr id="32" name="check 护理后 After3" descr="check 护理后 After3">    </p:cNvPr>
          <p:cNvPicPr>
            <a:picLocks noChangeAspect="1"/>
          </p:cNvPicPr>
          <p:nvPr/>
        </p:nvPicPr>
        <p:blipFill>
          <a:blip r:embed="rId9"/>
          <a:stretch>
            <a:fillRect/>
          </a:stretch>
        </p:blipFill>
        <p:spPr>
          <a:xfrm>
            <a:off x="6495898" y="4319626"/>
            <a:ext cx="175565" cy="175565"/>
          </a:xfrm>
          <a:prstGeom prst="rect">
            <a:avLst/>
          </a:prstGeom>
        </p:spPr>
      </p:pic>
      <p:sp>
        <p:nvSpPr>
          <p:cNvPr id="33" name="Text 22"/>
          <p:cNvSpPr txBox="1"/>
          <p:nvPr/>
        </p:nvSpPr>
        <p:spPr>
          <a:xfrm>
            <a:off x="6949440" y="4133088"/>
            <a:ext cx="4617720" cy="630936"/>
          </a:xfrm>
          <a:prstGeom prst="rect">
            <a:avLst/>
          </a:prstGeom>
          <a:noFill/>
          <a:ln/>
        </p:spPr>
        <p:txBody>
          <a:bodyPr wrap="square" lIns="0" tIns="0" rIns="0" bIns="0" rtlCol="0" anchor="ctr"/>
          <a:lstStyle/>
          <a:p>
            <a:pPr indent="0" marL="0">
              <a:buNone/>
            </a:pPr>
            <a:r>
              <a:rPr lang="en-US" sz="1300" dirty="0">
                <a:solidFill>
                  <a:schemeClr val="tx1"/>
                </a:solidFill>
              </a:rPr>
              <a:t>不要用手撕掉脱落的皮屑</a:t>
            </a:r>
            <a:endParaRPr lang="en-US" sz="1300" dirty="0"/>
          </a:p>
          <a:p>
            <a:pPr indent="0" marL="0">
              <a:buNone/>
            </a:pPr>
            <a:r>
              <a:rPr lang="en-US" sz="1150" dirty="0">
                <a:solidFill>
                  <a:schemeClr val="accent6"/>
                </a:solidFill>
              </a:rPr>
              <a:t>Never pick off flaking skin</a:t>
            </a:r>
            <a:endParaRPr lang="en-US" sz="1300" dirty="0"/>
          </a:p>
        </p:txBody>
      </p:sp>
      <p:sp>
        <p:nvSpPr>
          <p:cNvPr id="34" name="check 护理后 After4 bg"/>
          <p:cNvSpPr/>
          <p:nvPr/>
        </p:nvSpPr>
        <p:spPr>
          <a:xfrm>
            <a:off x="6400800" y="4901184"/>
            <a:ext cx="365760" cy="365760"/>
          </a:xfrm>
          <a:prstGeom prst="ellipse">
            <a:avLst/>
          </a:prstGeom>
          <a:solidFill>
            <a:schemeClr val="accent2"/>
          </a:solidFill>
          <a:ln/>
        </p:spPr>
      </p:sp>
      <p:pic>
        <p:nvPicPr>
          <p:cNvPr id="35" name="check 护理后 After4" descr="check 护理后 After4">    </p:cNvPr>
          <p:cNvPicPr>
            <a:picLocks noChangeAspect="1"/>
          </p:cNvPicPr>
          <p:nvPr/>
        </p:nvPicPr>
        <p:blipFill>
          <a:blip r:embed="rId10"/>
          <a:stretch>
            <a:fillRect/>
          </a:stretch>
        </p:blipFill>
        <p:spPr>
          <a:xfrm>
            <a:off x="6495898" y="4996282"/>
            <a:ext cx="175565" cy="175565"/>
          </a:xfrm>
          <a:prstGeom prst="rect">
            <a:avLst/>
          </a:prstGeom>
        </p:spPr>
      </p:pic>
      <p:sp>
        <p:nvSpPr>
          <p:cNvPr id="36" name="Text 24"/>
          <p:cNvSpPr txBox="1"/>
          <p:nvPr/>
        </p:nvSpPr>
        <p:spPr>
          <a:xfrm>
            <a:off x="6949440" y="4809744"/>
            <a:ext cx="4617720" cy="630936"/>
          </a:xfrm>
          <a:prstGeom prst="rect">
            <a:avLst/>
          </a:prstGeom>
          <a:noFill/>
          <a:ln/>
        </p:spPr>
        <p:txBody>
          <a:bodyPr wrap="square" lIns="0" tIns="0" rIns="0" bIns="0" rtlCol="0" anchor="ctr"/>
          <a:lstStyle/>
          <a:p>
            <a:pPr indent="0" marL="0">
              <a:buNone/>
            </a:pPr>
            <a:r>
              <a:rPr lang="en-US" sz="1300" dirty="0">
                <a:solidFill>
                  <a:schemeClr val="tx1"/>
                </a:solidFill>
              </a:rPr>
              <a:t>避免过热桑拿、蒸汽浴及可能加重刺激的活动，尤其在仍泛红时</a:t>
            </a:r>
            <a:endParaRPr lang="en-US" sz="1300" dirty="0"/>
          </a:p>
          <a:p>
            <a:pPr indent="0" marL="0">
              <a:buNone/>
            </a:pPr>
            <a:r>
              <a:rPr lang="en-US" sz="1150" dirty="0">
                <a:solidFill>
                  <a:schemeClr val="accent6"/>
                </a:solidFill>
              </a:rPr>
              <a:t>Avoid very hot sauna, steam and irritating activities, especially while still red</a:t>
            </a:r>
            <a:endParaRPr lang="en-US" sz="1300" dirty="0"/>
          </a:p>
        </p:txBody>
      </p:sp>
      <p:sp>
        <p:nvSpPr>
          <p:cNvPr id="37" name="check 护理后 After5 bg"/>
          <p:cNvSpPr/>
          <p:nvPr/>
        </p:nvSpPr>
        <p:spPr>
          <a:xfrm>
            <a:off x="6400800" y="5577840"/>
            <a:ext cx="365760" cy="365760"/>
          </a:xfrm>
          <a:prstGeom prst="ellipse">
            <a:avLst/>
          </a:prstGeom>
          <a:solidFill>
            <a:schemeClr val="accent2"/>
          </a:solidFill>
          <a:ln/>
        </p:spPr>
      </p:sp>
      <p:pic>
        <p:nvPicPr>
          <p:cNvPr id="38" name="check 护理后 After5" descr="check 护理后 After5">    </p:cNvPr>
          <p:cNvPicPr>
            <a:picLocks noChangeAspect="1"/>
          </p:cNvPicPr>
          <p:nvPr/>
        </p:nvPicPr>
        <p:blipFill>
          <a:blip r:embed="rId11"/>
          <a:stretch>
            <a:fillRect/>
          </a:stretch>
        </p:blipFill>
        <p:spPr>
          <a:xfrm>
            <a:off x="6495898" y="5672938"/>
            <a:ext cx="175565" cy="175565"/>
          </a:xfrm>
          <a:prstGeom prst="rect">
            <a:avLst/>
          </a:prstGeom>
        </p:spPr>
      </p:pic>
      <p:sp>
        <p:nvSpPr>
          <p:cNvPr id="39" name="Text 26"/>
          <p:cNvSpPr txBox="1"/>
          <p:nvPr/>
        </p:nvSpPr>
        <p:spPr>
          <a:xfrm>
            <a:off x="6949440" y="5486400"/>
            <a:ext cx="4617720" cy="630936"/>
          </a:xfrm>
          <a:prstGeom prst="rect">
            <a:avLst/>
          </a:prstGeom>
          <a:noFill/>
          <a:ln/>
        </p:spPr>
        <p:txBody>
          <a:bodyPr wrap="square" lIns="0" tIns="0" rIns="0" bIns="0" rtlCol="0" anchor="ctr"/>
          <a:lstStyle/>
          <a:p>
            <a:pPr indent="0" marL="0">
              <a:buNone/>
            </a:pPr>
            <a:r>
              <a:rPr lang="en-US" sz="1300" dirty="0">
                <a:solidFill>
                  <a:schemeClr val="tx1"/>
                </a:solidFill>
              </a:rPr>
              <a:t>严重灼痛、水疱、明显肿胀或持续恶化，应及时就医</a:t>
            </a:r>
            <a:endParaRPr lang="en-US" sz="1300" dirty="0"/>
          </a:p>
          <a:p>
            <a:pPr indent="0" marL="0">
              <a:buNone/>
            </a:pPr>
            <a:r>
              <a:rPr lang="en-US" sz="1150" dirty="0">
                <a:solidFill>
                  <a:schemeClr val="accent6"/>
                </a:solidFill>
              </a:rPr>
              <a:t>Severe burning, blisters, marked swelling or worsening — seek medical care promptly</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术后居家护理指南</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After‑care Home Instructions · give to every client</a:t>
            </a:r>
            <a:endParaRPr lang="en-US" sz="3000" dirty="0"/>
          </a:p>
        </p:txBody>
      </p:sp>
      <p:sp>
        <p:nvSpPr>
          <p:cNvPr id="3" name="key rule banner"/>
          <p:cNvSpPr/>
          <p:nvPr/>
        </p:nvSpPr>
        <p:spPr>
          <a:xfrm>
            <a:off x="457200" y="1417320"/>
            <a:ext cx="11247120" cy="777240"/>
          </a:xfrm>
          <a:prstGeom prst="roundRect">
            <a:avLst>
              <a:gd name="adj" fmla="val 14118"/>
            </a:avLst>
          </a:prstGeom>
          <a:solidFill>
            <a:schemeClr val="tx2"/>
          </a:solidFill>
          <a:ln/>
        </p:spPr>
      </p:sp>
      <p:sp>
        <p:nvSpPr>
          <p:cNvPr id="4" name="Text 2"/>
          <p:cNvSpPr txBox="1"/>
          <p:nvPr/>
        </p:nvSpPr>
        <p:spPr>
          <a:xfrm>
            <a:off x="731520" y="1417320"/>
            <a:ext cx="10698480" cy="777240"/>
          </a:xfrm>
          <a:prstGeom prst="rect">
            <a:avLst/>
          </a:prstGeom>
          <a:noFill/>
          <a:ln/>
        </p:spPr>
        <p:txBody>
          <a:bodyPr wrap="square" lIns="0" tIns="0" rIns="0" bIns="0" rtlCol="0" anchor="ctr"/>
          <a:lstStyle/>
          <a:p>
            <a:pPr indent="0" marL="0">
              <a:spcAft>
                <a:spcPts val="100"/>
              </a:spcAft>
              <a:buNone/>
            </a:pPr>
            <a:r>
              <a:rPr lang="en-US" sz="1500" b="1" dirty="0">
                <a:solidFill>
                  <a:schemeClr val="bg1"/>
                </a:solidFill>
              </a:rPr>
              <a:t>7天核心守则：充分保湿 + 严格防晒！新加坡紫外线强，防晒重中之重</a:t>
            </a:r>
            <a:endParaRPr lang="en-US" sz="1500" dirty="0"/>
          </a:p>
          <a:p>
            <a:pPr indent="0" marL="0">
              <a:spcAft>
                <a:spcPts val="100"/>
              </a:spcAft>
              <a:buNone/>
            </a:pPr>
            <a:r>
              <a:rPr lang="en-US" sz="1200" dirty="0">
                <a:solidFill>
                  <a:srgbClr val="CFE0D2"/>
                </a:solidFill>
              </a:rPr>
              <a:t>Key rule for the first 7 days: heavy hydration + strict sun protection (strong UV in Singapore)</a:t>
            </a:r>
            <a:endParaRPr lang="en-US" sz="1500" dirty="0"/>
          </a:p>
        </p:txBody>
      </p:sp>
      <p:sp>
        <p:nvSpPr>
          <p:cNvPr id="5" name="aftercare row 1"/>
          <p:cNvSpPr/>
          <p:nvPr/>
        </p:nvSpPr>
        <p:spPr>
          <a:xfrm>
            <a:off x="457200" y="2377440"/>
            <a:ext cx="7223760" cy="658368"/>
          </a:xfrm>
          <a:prstGeom prst="roundRect">
            <a:avLst>
              <a:gd name="adj" fmla="val 16667"/>
            </a:avLst>
          </a:prstGeom>
          <a:solidFill>
            <a:schemeClr val="bg2"/>
          </a:solidFill>
          <a:ln/>
        </p:spPr>
      </p:sp>
      <p:sp>
        <p:nvSpPr>
          <p:cNvPr id="6" name="num 1"/>
          <p:cNvSpPr txBox="1"/>
          <p:nvPr/>
        </p:nvSpPr>
        <p:spPr>
          <a:xfrm>
            <a:off x="594360" y="2468880"/>
            <a:ext cx="475488" cy="47548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5"/>
          <p:cNvSpPr txBox="1"/>
          <p:nvPr/>
        </p:nvSpPr>
        <p:spPr>
          <a:xfrm>
            <a:off x="1234440" y="2377440"/>
            <a:ext cx="6355080" cy="658368"/>
          </a:xfrm>
          <a:prstGeom prst="rect">
            <a:avLst/>
          </a:prstGeom>
          <a:noFill/>
          <a:ln/>
        </p:spPr>
        <p:txBody>
          <a:bodyPr wrap="square" lIns="0" tIns="0" rIns="0" bIns="0" rtlCol="0" anchor="ctr"/>
          <a:lstStyle/>
          <a:p>
            <a:pPr indent="0" marL="0">
              <a:buNone/>
            </a:pPr>
            <a:r>
              <a:rPr lang="en-US" sz="1400" b="1" dirty="0">
                <a:solidFill>
                  <a:schemeClr val="tx1"/>
                </a:solidFill>
              </a:rPr>
              <a:t>治疗当天：不要热水洗脸、蒸桑拿、剧烈大量出汗</a:t>
            </a:r>
            <a:endParaRPr lang="en-US" sz="1400" dirty="0"/>
          </a:p>
          <a:p>
            <a:pPr indent="0" marL="0">
              <a:buNone/>
            </a:pPr>
            <a:r>
              <a:rPr lang="en-US" sz="1200" dirty="0">
                <a:solidFill>
                  <a:schemeClr val="accent6"/>
                </a:solidFill>
              </a:rPr>
              <a:t>Day of treatment: no hot water, sauna or heavy sweating</a:t>
            </a:r>
            <a:endParaRPr lang="en-US" sz="1400" dirty="0"/>
          </a:p>
        </p:txBody>
      </p:sp>
      <p:sp>
        <p:nvSpPr>
          <p:cNvPr id="8" name="aftercare row 2"/>
          <p:cNvSpPr/>
          <p:nvPr/>
        </p:nvSpPr>
        <p:spPr>
          <a:xfrm>
            <a:off x="457200" y="3145536"/>
            <a:ext cx="7223760" cy="658368"/>
          </a:xfrm>
          <a:prstGeom prst="roundRect">
            <a:avLst>
              <a:gd name="adj" fmla="val 16667"/>
            </a:avLst>
          </a:prstGeom>
          <a:solidFill>
            <a:schemeClr val="bg2"/>
          </a:solidFill>
          <a:ln/>
        </p:spPr>
      </p:sp>
      <p:sp>
        <p:nvSpPr>
          <p:cNvPr id="9" name="num 2"/>
          <p:cNvSpPr txBox="1"/>
          <p:nvPr/>
        </p:nvSpPr>
        <p:spPr>
          <a:xfrm>
            <a:off x="594360" y="3236976"/>
            <a:ext cx="475488" cy="47548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8"/>
          <p:cNvSpPr txBox="1"/>
          <p:nvPr/>
        </p:nvSpPr>
        <p:spPr>
          <a:xfrm>
            <a:off x="1234440" y="3145536"/>
            <a:ext cx="6355080" cy="658368"/>
          </a:xfrm>
          <a:prstGeom prst="rect">
            <a:avLst/>
          </a:prstGeom>
          <a:noFill/>
          <a:ln/>
        </p:spPr>
        <p:txBody>
          <a:bodyPr wrap="square" lIns="0" tIns="0" rIns="0" bIns="0" rtlCol="0" anchor="ctr"/>
          <a:lstStyle/>
          <a:p>
            <a:pPr indent="0" marL="0">
              <a:buNone/>
            </a:pPr>
            <a:r>
              <a:rPr lang="en-US" sz="1400" b="1" dirty="0">
                <a:solidFill>
                  <a:schemeClr val="tx1"/>
                </a:solidFill>
              </a:rPr>
              <a:t>3‑7天内：停用A醇、高浓度维C、果酸、去角质磨砂</a:t>
            </a:r>
            <a:endParaRPr lang="en-US" sz="1400" dirty="0"/>
          </a:p>
          <a:p>
            <a:pPr indent="0" marL="0">
              <a:buNone/>
            </a:pPr>
            <a:r>
              <a:rPr lang="en-US" sz="1200" dirty="0">
                <a:solidFill>
                  <a:schemeClr val="accent6"/>
                </a:solidFill>
              </a:rPr>
              <a:t>Days 3–7: stop retinol, high‑dose vitamin C, acid exfoliants &amp; scrubs</a:t>
            </a:r>
            <a:endParaRPr lang="en-US" sz="1400" dirty="0"/>
          </a:p>
        </p:txBody>
      </p:sp>
      <p:sp>
        <p:nvSpPr>
          <p:cNvPr id="11" name="aftercare row 3"/>
          <p:cNvSpPr/>
          <p:nvPr/>
        </p:nvSpPr>
        <p:spPr>
          <a:xfrm>
            <a:off x="457200" y="3913632"/>
            <a:ext cx="7223760" cy="658368"/>
          </a:xfrm>
          <a:prstGeom prst="roundRect">
            <a:avLst>
              <a:gd name="adj" fmla="val 16667"/>
            </a:avLst>
          </a:prstGeom>
          <a:solidFill>
            <a:schemeClr val="bg2"/>
          </a:solidFill>
          <a:ln/>
        </p:spPr>
      </p:sp>
      <p:sp>
        <p:nvSpPr>
          <p:cNvPr id="12" name="num 3"/>
          <p:cNvSpPr txBox="1"/>
          <p:nvPr/>
        </p:nvSpPr>
        <p:spPr>
          <a:xfrm>
            <a:off x="594360" y="4005072"/>
            <a:ext cx="475488" cy="47548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234440" y="3913632"/>
            <a:ext cx="6355080" cy="658368"/>
          </a:xfrm>
          <a:prstGeom prst="rect">
            <a:avLst/>
          </a:prstGeom>
          <a:noFill/>
          <a:ln/>
        </p:spPr>
        <p:txBody>
          <a:bodyPr wrap="square" lIns="0" tIns="0" rIns="0" bIns="0" rtlCol="0" anchor="ctr"/>
          <a:lstStyle/>
          <a:p>
            <a:pPr indent="0" marL="0">
              <a:buNone/>
            </a:pPr>
            <a:r>
              <a:rPr lang="en-US" sz="1400" b="1" dirty="0">
                <a:solidFill>
                  <a:schemeClr val="tx1"/>
                </a:solidFill>
              </a:rPr>
              <a:t>早晚使用修护精华、面霜，精简护肤</a:t>
            </a:r>
            <a:endParaRPr lang="en-US" sz="1400" dirty="0"/>
          </a:p>
          <a:p>
            <a:pPr indent="0" marL="0">
              <a:buNone/>
            </a:pPr>
            <a:r>
              <a:rPr lang="en-US" sz="1200" dirty="0">
                <a:solidFill>
                  <a:schemeClr val="accent6"/>
                </a:solidFill>
              </a:rPr>
              <a:t>Keep it simple: repair serum &amp; moisturiser, morning and night</a:t>
            </a:r>
            <a:endParaRPr lang="en-US" sz="1400" dirty="0"/>
          </a:p>
        </p:txBody>
      </p:sp>
      <p:sp>
        <p:nvSpPr>
          <p:cNvPr id="14" name="aftercare row 4"/>
          <p:cNvSpPr/>
          <p:nvPr/>
        </p:nvSpPr>
        <p:spPr>
          <a:xfrm>
            <a:off x="457200" y="4681728"/>
            <a:ext cx="7223760" cy="658368"/>
          </a:xfrm>
          <a:prstGeom prst="roundRect">
            <a:avLst>
              <a:gd name="adj" fmla="val 16667"/>
            </a:avLst>
          </a:prstGeom>
          <a:solidFill>
            <a:schemeClr val="bg2"/>
          </a:solidFill>
          <a:ln/>
        </p:spPr>
      </p:sp>
      <p:sp>
        <p:nvSpPr>
          <p:cNvPr id="15" name="num 4"/>
          <p:cNvSpPr txBox="1"/>
          <p:nvPr/>
        </p:nvSpPr>
        <p:spPr>
          <a:xfrm>
            <a:off x="594360" y="4773168"/>
            <a:ext cx="475488" cy="47548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6" name="Text 14"/>
          <p:cNvSpPr txBox="1"/>
          <p:nvPr/>
        </p:nvSpPr>
        <p:spPr>
          <a:xfrm>
            <a:off x="1234440" y="4681728"/>
            <a:ext cx="6355080" cy="658368"/>
          </a:xfrm>
          <a:prstGeom prst="rect">
            <a:avLst/>
          </a:prstGeom>
          <a:noFill/>
          <a:ln/>
        </p:spPr>
        <p:txBody>
          <a:bodyPr wrap="square" lIns="0" tIns="0" rIns="0" bIns="0" rtlCol="0" anchor="ctr"/>
          <a:lstStyle/>
          <a:p>
            <a:pPr indent="0" marL="0">
              <a:buNone/>
            </a:pPr>
            <a:r>
              <a:rPr lang="en-US" sz="1400" b="1" dirty="0">
                <a:solidFill>
                  <a:schemeClr val="tx1"/>
                </a:solidFill>
              </a:rPr>
              <a:t>白天必须涂 SPF50+ 防晒霜，并配合帽子、遮阳伞</a:t>
            </a:r>
            <a:endParaRPr lang="en-US" sz="1400" dirty="0"/>
          </a:p>
          <a:p>
            <a:pPr indent="0" marL="0">
              <a:buNone/>
            </a:pPr>
            <a:r>
              <a:rPr lang="en-US" sz="1200" dirty="0">
                <a:solidFill>
                  <a:schemeClr val="accent6"/>
                </a:solidFill>
              </a:rPr>
              <a:t>Daily SPF50+ sunscreen, plus a hat &amp; umbrella outdoors</a:t>
            </a:r>
            <a:endParaRPr lang="en-US" sz="1400" dirty="0"/>
          </a:p>
        </p:txBody>
      </p:sp>
      <p:sp>
        <p:nvSpPr>
          <p:cNvPr id="17" name="aftercare row 5"/>
          <p:cNvSpPr/>
          <p:nvPr/>
        </p:nvSpPr>
        <p:spPr>
          <a:xfrm>
            <a:off x="457200" y="5449824"/>
            <a:ext cx="7223760" cy="658368"/>
          </a:xfrm>
          <a:prstGeom prst="roundRect">
            <a:avLst>
              <a:gd name="adj" fmla="val 16667"/>
            </a:avLst>
          </a:prstGeom>
          <a:solidFill>
            <a:schemeClr val="bg2"/>
          </a:solidFill>
          <a:ln/>
        </p:spPr>
      </p:sp>
      <p:sp>
        <p:nvSpPr>
          <p:cNvPr id="18" name="num 5"/>
          <p:cNvSpPr txBox="1"/>
          <p:nvPr/>
        </p:nvSpPr>
        <p:spPr>
          <a:xfrm>
            <a:off x="594360" y="5541264"/>
            <a:ext cx="475488" cy="47548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9" name="Text 17"/>
          <p:cNvSpPr txBox="1"/>
          <p:nvPr/>
        </p:nvSpPr>
        <p:spPr>
          <a:xfrm>
            <a:off x="1234440" y="5449824"/>
            <a:ext cx="6355080" cy="658368"/>
          </a:xfrm>
          <a:prstGeom prst="rect">
            <a:avLst/>
          </a:prstGeom>
          <a:noFill/>
          <a:ln/>
        </p:spPr>
        <p:txBody>
          <a:bodyPr wrap="square" lIns="0" tIns="0" rIns="0" bIns="0" rtlCol="0" anchor="ctr"/>
          <a:lstStyle/>
          <a:p>
            <a:pPr indent="0" marL="0">
              <a:buNone/>
            </a:pPr>
            <a:r>
              <a:rPr lang="en-US" sz="1400" b="1" dirty="0">
                <a:solidFill>
                  <a:schemeClr val="tx1"/>
                </a:solidFill>
              </a:rPr>
              <a:t>轻微紧绷、微微泛红属正常，2‑3天自行消退</a:t>
            </a:r>
            <a:endParaRPr lang="en-US" sz="1400" dirty="0"/>
          </a:p>
          <a:p>
            <a:pPr indent="0" marL="0">
              <a:buNone/>
            </a:pPr>
            <a:r>
              <a:rPr lang="en-US" sz="1200" dirty="0">
                <a:solidFill>
                  <a:schemeClr val="accent6"/>
                </a:solidFill>
              </a:rPr>
              <a:t>Mild tightness &amp; a slight pink flush are normal — fades in 2–3 days</a:t>
            </a:r>
            <a:endParaRPr lang="en-US" sz="1400" dirty="0"/>
          </a:p>
        </p:txBody>
      </p:sp>
      <p:sp>
        <p:nvSpPr>
          <p:cNvPr id="20" name="avoid panel"/>
          <p:cNvSpPr/>
          <p:nvPr/>
        </p:nvSpPr>
        <p:spPr>
          <a:xfrm>
            <a:off x="7955280" y="2377440"/>
            <a:ext cx="3749040" cy="3730752"/>
          </a:xfrm>
          <a:prstGeom prst="roundRect">
            <a:avLst>
              <a:gd name="adj" fmla="val 2941"/>
            </a:avLst>
          </a:prstGeom>
          <a:solidFill>
            <a:srgbClr val="FCEDE8"/>
          </a:solidFill>
          <a:ln/>
        </p:spPr>
      </p:sp>
      <p:sp>
        <p:nvSpPr>
          <p:cNvPr id="21" name="avoid icon bg"/>
          <p:cNvSpPr/>
          <p:nvPr/>
        </p:nvSpPr>
        <p:spPr>
          <a:xfrm>
            <a:off x="8183880" y="2560320"/>
            <a:ext cx="548640" cy="548640"/>
          </a:xfrm>
          <a:prstGeom prst="ellipse">
            <a:avLst/>
          </a:prstGeom>
          <a:solidFill>
            <a:schemeClr val="accent3"/>
          </a:solidFill>
          <a:ln/>
        </p:spPr>
      </p:sp>
      <p:pic>
        <p:nvPicPr>
          <p:cNvPr id="22" name="avoid icon" descr="avoid icon">    </p:cNvPr>
          <p:cNvPicPr>
            <a:picLocks noChangeAspect="1"/>
          </p:cNvPicPr>
          <p:nvPr/>
        </p:nvPicPr>
        <p:blipFill>
          <a:blip r:embed="rId1"/>
          <a:stretch>
            <a:fillRect/>
          </a:stretch>
        </p:blipFill>
        <p:spPr>
          <a:xfrm>
            <a:off x="8326526" y="2702966"/>
            <a:ext cx="263347" cy="263347"/>
          </a:xfrm>
          <a:prstGeom prst="rect">
            <a:avLst/>
          </a:prstGeom>
        </p:spPr>
      </p:pic>
      <p:sp>
        <p:nvSpPr>
          <p:cNvPr id="23" name="Text 20"/>
          <p:cNvSpPr txBox="1"/>
          <p:nvPr/>
        </p:nvSpPr>
        <p:spPr>
          <a:xfrm>
            <a:off x="8915400" y="2560320"/>
            <a:ext cx="2651760" cy="548640"/>
          </a:xfrm>
          <a:prstGeom prst="rect">
            <a:avLst/>
          </a:prstGeom>
          <a:noFill/>
          <a:ln/>
        </p:spPr>
        <p:txBody>
          <a:bodyPr wrap="square" lIns="0" tIns="0" rIns="0" bIns="0" rtlCol="0" anchor="ctr"/>
          <a:lstStyle/>
          <a:p>
            <a:pPr indent="0" marL="0">
              <a:buNone/>
            </a:pPr>
            <a:r>
              <a:rPr lang="en-US" sz="1800" b="1" dirty="0">
                <a:solidFill>
                  <a:schemeClr val="tx1"/>
                </a:solidFill>
              </a:rPr>
              <a:t>禁止</a:t>
            </a:r>
            <a:endParaRPr lang="en-US" sz="1800" dirty="0"/>
          </a:p>
          <a:p>
            <a:pPr indent="0" marL="0">
              <a:buNone/>
            </a:pPr>
            <a:r>
              <a:rPr lang="en-US" sz="1300" dirty="0">
                <a:solidFill>
                  <a:schemeClr val="accent6"/>
                </a:solidFill>
              </a:rPr>
              <a:t>Avoid</a:t>
            </a:r>
            <a:endParaRPr lang="en-US" sz="1800" dirty="0"/>
          </a:p>
        </p:txBody>
      </p:sp>
      <p:sp>
        <p:nvSpPr>
          <p:cNvPr id="24" name="Text 21"/>
          <p:cNvSpPr txBox="1"/>
          <p:nvPr/>
        </p:nvSpPr>
        <p:spPr>
          <a:xfrm>
            <a:off x="8229600" y="3337560"/>
            <a:ext cx="3291840" cy="594360"/>
          </a:xfrm>
          <a:prstGeom prst="rect">
            <a:avLst/>
          </a:prstGeom>
          <a:noFill/>
          <a:ln/>
        </p:spPr>
        <p:txBody>
          <a:bodyPr wrap="square" lIns="0" tIns="0" rIns="0" bIns="0" rtlCol="0" anchor="ctr"/>
          <a:lstStyle/>
          <a:p>
            <a:pPr indent="0" marL="0">
              <a:buNone/>
            </a:pPr>
            <a:r>
              <a:rPr lang="en-US" sz="1400" b="1" dirty="0">
                <a:solidFill>
                  <a:schemeClr val="tx1"/>
                </a:solidFill>
              </a:rPr>
              <a:t>去海边暴晒</a:t>
            </a:r>
            <a:endParaRPr lang="en-US" sz="1400" dirty="0"/>
          </a:p>
          <a:p>
            <a:pPr indent="0" marL="0">
              <a:buNone/>
            </a:pPr>
            <a:r>
              <a:rPr lang="en-US" sz="1200" dirty="0">
                <a:solidFill>
                  <a:schemeClr val="accent6"/>
                </a:solidFill>
              </a:rPr>
              <a:t>Beach sun‑tanning</a:t>
            </a:r>
            <a:endParaRPr lang="en-US" sz="1400" dirty="0"/>
          </a:p>
        </p:txBody>
      </p:sp>
      <p:sp>
        <p:nvSpPr>
          <p:cNvPr id="25" name="Text 22"/>
          <p:cNvSpPr txBox="1"/>
          <p:nvPr/>
        </p:nvSpPr>
        <p:spPr>
          <a:xfrm>
            <a:off x="8229600" y="4023360"/>
            <a:ext cx="3291840" cy="594360"/>
          </a:xfrm>
          <a:prstGeom prst="rect">
            <a:avLst/>
          </a:prstGeom>
          <a:noFill/>
          <a:ln/>
        </p:spPr>
        <p:txBody>
          <a:bodyPr wrap="square" lIns="0" tIns="0" rIns="0" bIns="0" rtlCol="0" anchor="ctr"/>
          <a:lstStyle/>
          <a:p>
            <a:pPr indent="0" marL="0">
              <a:buNone/>
            </a:pPr>
            <a:r>
              <a:rPr lang="en-US" sz="1400" b="1" dirty="0">
                <a:solidFill>
                  <a:schemeClr val="tx1"/>
                </a:solidFill>
              </a:rPr>
              <a:t>游泳（海水刺激）</a:t>
            </a:r>
            <a:endParaRPr lang="en-US" sz="1400" dirty="0"/>
          </a:p>
          <a:p>
            <a:pPr indent="0" marL="0">
              <a:buNone/>
            </a:pPr>
            <a:r>
              <a:rPr lang="en-US" sz="1200" dirty="0">
                <a:solidFill>
                  <a:schemeClr val="accent6"/>
                </a:solidFill>
              </a:rPr>
              <a:t>Swimming in seawater</a:t>
            </a:r>
            <a:endParaRPr lang="en-US" sz="1400" dirty="0"/>
          </a:p>
        </p:txBody>
      </p:sp>
      <p:sp>
        <p:nvSpPr>
          <p:cNvPr id="26" name="Text 23"/>
          <p:cNvSpPr txBox="1"/>
          <p:nvPr/>
        </p:nvSpPr>
        <p:spPr>
          <a:xfrm>
            <a:off x="8229600" y="4709160"/>
            <a:ext cx="3291840" cy="594360"/>
          </a:xfrm>
          <a:prstGeom prst="rect">
            <a:avLst/>
          </a:prstGeom>
          <a:noFill/>
          <a:ln/>
        </p:spPr>
        <p:txBody>
          <a:bodyPr wrap="square" lIns="0" tIns="0" rIns="0" bIns="0" rtlCol="0" anchor="ctr"/>
          <a:lstStyle/>
          <a:p>
            <a:pPr indent="0" marL="0">
              <a:buNone/>
            </a:pPr>
            <a:r>
              <a:rPr lang="en-US" sz="1400" b="1" dirty="0">
                <a:solidFill>
                  <a:schemeClr val="tx1"/>
                </a:solidFill>
              </a:rPr>
              <a:t>热敷</a:t>
            </a:r>
            <a:endParaRPr lang="en-US" sz="1400" dirty="0"/>
          </a:p>
          <a:p>
            <a:pPr indent="0" marL="0">
              <a:buNone/>
            </a:pPr>
            <a:r>
              <a:rPr lang="en-US" sz="1200" dirty="0">
                <a:solidFill>
                  <a:schemeClr val="accent6"/>
                </a:solidFill>
              </a:rPr>
              <a:t>Hot compress</a:t>
            </a:r>
            <a:endParaRPr lang="en-US" sz="1400" dirty="0"/>
          </a:p>
        </p:txBody>
      </p:sp>
      <p:sp>
        <p:nvSpPr>
          <p:cNvPr id="27" name="Text 24"/>
          <p:cNvSpPr txBox="1"/>
          <p:nvPr/>
        </p:nvSpPr>
        <p:spPr>
          <a:xfrm>
            <a:off x="8229600" y="5394960"/>
            <a:ext cx="3291840" cy="594360"/>
          </a:xfrm>
          <a:prstGeom prst="rect">
            <a:avLst/>
          </a:prstGeom>
          <a:noFill/>
          <a:ln/>
        </p:spPr>
        <p:txBody>
          <a:bodyPr wrap="square" lIns="0" tIns="0" rIns="0" bIns="0" rtlCol="0" anchor="ctr"/>
          <a:lstStyle/>
          <a:p>
            <a:pPr indent="0" marL="0">
              <a:buNone/>
            </a:pPr>
            <a:r>
              <a:rPr lang="en-US" sz="1400" b="1" dirty="0">
                <a:solidFill>
                  <a:schemeClr val="tx1"/>
                </a:solidFill>
              </a:rPr>
              <a:t>频繁敷功效面膜</a:t>
            </a:r>
            <a:endParaRPr lang="en-US" sz="1400" dirty="0"/>
          </a:p>
          <a:p>
            <a:pPr indent="0" marL="0">
              <a:buNone/>
            </a:pPr>
            <a:r>
              <a:rPr lang="en-US" sz="1200" dirty="0">
                <a:solidFill>
                  <a:schemeClr val="accent6"/>
                </a:solidFill>
              </a:rPr>
              <a:t>Frequent intensive masks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异常状况与应急处理</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Adverse Reaction Management</a:t>
            </a:r>
            <a:endParaRPr lang="en-US" sz="3000" dirty="0"/>
          </a:p>
        </p:txBody>
      </p:sp>
      <p:sp>
        <p:nvSpPr>
          <p:cNvPr id="3" name="Text 1"/>
          <p:cNvSpPr txBox="1"/>
          <p:nvPr/>
        </p:nvSpPr>
        <p:spPr>
          <a:xfrm>
            <a:off x="457200" y="1371600"/>
            <a:ext cx="4572000" cy="274320"/>
          </a:xfrm>
          <a:prstGeom prst="rect">
            <a:avLst/>
          </a:prstGeom>
          <a:noFill/>
          <a:ln/>
        </p:spPr>
        <p:txBody>
          <a:bodyPr wrap="square" lIns="0" tIns="0" rIns="0" bIns="0" rtlCol="0" anchor="t"/>
          <a:lstStyle/>
          <a:p>
            <a:pPr indent="0" marL="0">
              <a:spcAft>
                <a:spcPts val="300"/>
              </a:spcAft>
              <a:buNone/>
            </a:pPr>
            <a:r>
              <a:rPr lang="en-US" sz="1300" b="1" dirty="0">
                <a:solidFill>
                  <a:schemeClr val="accent3"/>
                </a:solidFill>
              </a:rPr>
              <a:t>情况 Situation</a:t>
            </a:r>
            <a:endParaRPr lang="en-US" sz="1300" dirty="0"/>
          </a:p>
        </p:txBody>
      </p:sp>
      <p:sp>
        <p:nvSpPr>
          <p:cNvPr id="4" name="Text 2"/>
          <p:cNvSpPr txBox="1"/>
          <p:nvPr/>
        </p:nvSpPr>
        <p:spPr>
          <a:xfrm>
            <a:off x="5852160" y="1371600"/>
            <a:ext cx="4572000" cy="274320"/>
          </a:xfrm>
          <a:prstGeom prst="rect">
            <a:avLst/>
          </a:prstGeom>
          <a:noFill/>
          <a:ln/>
        </p:spPr>
        <p:txBody>
          <a:bodyPr wrap="square" lIns="0" tIns="0" rIns="0" bIns="0" rtlCol="0" anchor="t"/>
          <a:lstStyle/>
          <a:p>
            <a:pPr indent="0" marL="0">
              <a:spcAft>
                <a:spcPts val="300"/>
              </a:spcAft>
              <a:buNone/>
            </a:pPr>
            <a:r>
              <a:rPr lang="en-US" sz="1300" b="1" dirty="0">
                <a:solidFill>
                  <a:schemeClr val="accent1"/>
                </a:solidFill>
              </a:rPr>
              <a:t>处理 Action</a:t>
            </a:r>
            <a:endParaRPr lang="en-US" sz="1300" dirty="0"/>
          </a:p>
        </p:txBody>
      </p:sp>
      <p:sp>
        <p:nvSpPr>
          <p:cNvPr id="5" name="situation 1"/>
          <p:cNvSpPr/>
          <p:nvPr/>
        </p:nvSpPr>
        <p:spPr>
          <a:xfrm>
            <a:off x="457200" y="1691640"/>
            <a:ext cx="5120640" cy="1051560"/>
          </a:xfrm>
          <a:prstGeom prst="roundRect">
            <a:avLst>
              <a:gd name="adj" fmla="val 10435"/>
            </a:avLst>
          </a:prstGeom>
          <a:solidFill>
            <a:srgbClr val="FCEDE8"/>
          </a:solidFill>
          <a:ln/>
        </p:spPr>
      </p:sp>
      <p:sp>
        <p:nvSpPr>
          <p:cNvPr id="6" name="Text 4"/>
          <p:cNvSpPr txBox="1"/>
          <p:nvPr/>
        </p:nvSpPr>
        <p:spPr>
          <a:xfrm>
            <a:off x="640080" y="1737360"/>
            <a:ext cx="4754880" cy="960120"/>
          </a:xfrm>
          <a:prstGeom prst="rect">
            <a:avLst/>
          </a:prstGeom>
          <a:noFill/>
          <a:ln/>
        </p:spPr>
        <p:txBody>
          <a:bodyPr wrap="square" lIns="0" tIns="0" rIns="0" bIns="0" rtlCol="0" anchor="ctr"/>
          <a:lstStyle/>
          <a:p>
            <a:pPr indent="0" marL="0">
              <a:spcAft>
                <a:spcPts val="200"/>
              </a:spcAft>
              <a:buNone/>
            </a:pPr>
            <a:r>
              <a:rPr lang="en-US" sz="1400" b="1" dirty="0">
                <a:solidFill>
                  <a:schemeClr val="tx1"/>
                </a:solidFill>
              </a:rPr>
              <a:t>操作中持续明显刺痛、灼烧感</a:t>
            </a:r>
            <a:endParaRPr lang="en-US" sz="1400" dirty="0"/>
          </a:p>
          <a:p>
            <a:pPr indent="0" marL="0">
              <a:spcAft>
                <a:spcPts val="200"/>
              </a:spcAft>
              <a:buNone/>
            </a:pPr>
            <a:r>
              <a:rPr lang="en-US" sz="1200" dirty="0">
                <a:solidFill>
                  <a:schemeClr val="accent6"/>
                </a:solidFill>
              </a:rPr>
              <a:t>Severe, persistent stinging or burning during treatment</a:t>
            </a:r>
            <a:endParaRPr lang="en-US" sz="1400" dirty="0"/>
          </a:p>
        </p:txBody>
      </p:sp>
      <p:sp>
        <p:nvSpPr>
          <p:cNvPr id="7" name="arrow 1"/>
          <p:cNvSpPr/>
          <p:nvPr/>
        </p:nvSpPr>
        <p:spPr>
          <a:xfrm>
            <a:off x="5650992" y="2011680"/>
            <a:ext cx="457200" cy="411480"/>
          </a:xfrm>
          <a:prstGeom prst="rightArrow">
            <a:avLst/>
          </a:prstGeom>
          <a:solidFill>
            <a:schemeClr val="accent4"/>
          </a:solidFill>
          <a:ln/>
        </p:spPr>
      </p:sp>
      <p:sp>
        <p:nvSpPr>
          <p:cNvPr id="8" name="action 1"/>
          <p:cNvSpPr/>
          <p:nvPr/>
        </p:nvSpPr>
        <p:spPr>
          <a:xfrm>
            <a:off x="6181344" y="1691640"/>
            <a:ext cx="5522976" cy="1051560"/>
          </a:xfrm>
          <a:prstGeom prst="roundRect">
            <a:avLst>
              <a:gd name="adj" fmla="val 10435"/>
            </a:avLst>
          </a:prstGeom>
          <a:solidFill>
            <a:schemeClr val="bg2"/>
          </a:solidFill>
          <a:ln/>
        </p:spPr>
      </p:sp>
      <p:sp>
        <p:nvSpPr>
          <p:cNvPr id="9" name="Text 7"/>
          <p:cNvSpPr txBox="1"/>
          <p:nvPr/>
        </p:nvSpPr>
        <p:spPr>
          <a:xfrm>
            <a:off x="6364224" y="1737360"/>
            <a:ext cx="5166360" cy="960120"/>
          </a:xfrm>
          <a:prstGeom prst="rect">
            <a:avLst/>
          </a:prstGeom>
          <a:noFill/>
          <a:ln/>
        </p:spPr>
        <p:txBody>
          <a:bodyPr wrap="square" lIns="0" tIns="0" rIns="0" bIns="0" rtlCol="0" anchor="ctr"/>
          <a:lstStyle/>
          <a:p>
            <a:pPr indent="0" marL="0">
              <a:spcAft>
                <a:spcPts val="200"/>
              </a:spcAft>
              <a:buNone/>
            </a:pPr>
            <a:r>
              <a:rPr lang="en-US" sz="1400" b="1" dirty="0">
                <a:solidFill>
                  <a:schemeClr val="tx1"/>
                </a:solidFill>
              </a:rPr>
              <a:t>立刻全部擦拭干净，冷喷降温；下次缩短停留时间</a:t>
            </a:r>
            <a:endParaRPr lang="en-US" sz="1400" dirty="0"/>
          </a:p>
          <a:p>
            <a:pPr indent="0" marL="0">
              <a:spcAft>
                <a:spcPts val="200"/>
              </a:spcAft>
              <a:buNone/>
            </a:pPr>
            <a:r>
              <a:rPr lang="en-US" sz="1200" dirty="0">
                <a:solidFill>
                  <a:schemeClr val="accent6"/>
                </a:solidFill>
              </a:rPr>
              <a:t>Wipe off all solution immediately, apply cool mist; reduce dwell time next visit</a:t>
            </a:r>
            <a:endParaRPr lang="en-US" sz="1400" dirty="0"/>
          </a:p>
        </p:txBody>
      </p:sp>
      <p:sp>
        <p:nvSpPr>
          <p:cNvPr id="10" name="situation 2"/>
          <p:cNvSpPr/>
          <p:nvPr/>
        </p:nvSpPr>
        <p:spPr>
          <a:xfrm>
            <a:off x="457200" y="2880360"/>
            <a:ext cx="5120640" cy="1051560"/>
          </a:xfrm>
          <a:prstGeom prst="roundRect">
            <a:avLst>
              <a:gd name="adj" fmla="val 10435"/>
            </a:avLst>
          </a:prstGeom>
          <a:solidFill>
            <a:srgbClr val="FCEDE8"/>
          </a:solidFill>
          <a:ln/>
        </p:spPr>
      </p:sp>
      <p:sp>
        <p:nvSpPr>
          <p:cNvPr id="11" name="Text 9"/>
          <p:cNvSpPr txBox="1"/>
          <p:nvPr/>
        </p:nvSpPr>
        <p:spPr>
          <a:xfrm>
            <a:off x="640080" y="2926080"/>
            <a:ext cx="4754880" cy="960120"/>
          </a:xfrm>
          <a:prstGeom prst="rect">
            <a:avLst/>
          </a:prstGeom>
          <a:noFill/>
          <a:ln/>
        </p:spPr>
        <p:txBody>
          <a:bodyPr wrap="square" lIns="0" tIns="0" rIns="0" bIns="0" rtlCol="0" anchor="ctr"/>
          <a:lstStyle/>
          <a:p>
            <a:pPr indent="0" marL="0">
              <a:spcAft>
                <a:spcPts val="200"/>
              </a:spcAft>
              <a:buNone/>
            </a:pPr>
            <a:r>
              <a:rPr lang="en-US" sz="1400" b="1" dirty="0">
                <a:solidFill>
                  <a:schemeClr val="tx1"/>
                </a:solidFill>
              </a:rPr>
              <a:t>术后持续泛红超过3天不退</a:t>
            </a:r>
            <a:endParaRPr lang="en-US" sz="1400" dirty="0"/>
          </a:p>
          <a:p>
            <a:pPr indent="0" marL="0">
              <a:spcAft>
                <a:spcPts val="200"/>
              </a:spcAft>
              <a:buNone/>
            </a:pPr>
            <a:r>
              <a:rPr lang="en-US" sz="1200" dirty="0">
                <a:solidFill>
                  <a:schemeClr val="accent6"/>
                </a:solidFill>
              </a:rPr>
              <a:t>Redness persisting beyond 3 days</a:t>
            </a:r>
            <a:endParaRPr lang="en-US" sz="1400" dirty="0"/>
          </a:p>
        </p:txBody>
      </p:sp>
      <p:sp>
        <p:nvSpPr>
          <p:cNvPr id="12" name="arrow 2"/>
          <p:cNvSpPr/>
          <p:nvPr/>
        </p:nvSpPr>
        <p:spPr>
          <a:xfrm>
            <a:off x="5650992" y="3200400"/>
            <a:ext cx="457200" cy="411480"/>
          </a:xfrm>
          <a:prstGeom prst="rightArrow">
            <a:avLst/>
          </a:prstGeom>
          <a:solidFill>
            <a:schemeClr val="accent4"/>
          </a:solidFill>
          <a:ln/>
        </p:spPr>
      </p:sp>
      <p:sp>
        <p:nvSpPr>
          <p:cNvPr id="13" name="action 2"/>
          <p:cNvSpPr/>
          <p:nvPr/>
        </p:nvSpPr>
        <p:spPr>
          <a:xfrm>
            <a:off x="6181344" y="2880360"/>
            <a:ext cx="5522976" cy="1051560"/>
          </a:xfrm>
          <a:prstGeom prst="roundRect">
            <a:avLst>
              <a:gd name="adj" fmla="val 10435"/>
            </a:avLst>
          </a:prstGeom>
          <a:solidFill>
            <a:schemeClr val="bg2"/>
          </a:solidFill>
          <a:ln/>
        </p:spPr>
      </p:sp>
      <p:sp>
        <p:nvSpPr>
          <p:cNvPr id="14" name="Text 12"/>
          <p:cNvSpPr txBox="1"/>
          <p:nvPr/>
        </p:nvSpPr>
        <p:spPr>
          <a:xfrm>
            <a:off x="6364224" y="2926080"/>
            <a:ext cx="5166360" cy="960120"/>
          </a:xfrm>
          <a:prstGeom prst="rect">
            <a:avLst/>
          </a:prstGeom>
          <a:noFill/>
          <a:ln/>
        </p:spPr>
        <p:txBody>
          <a:bodyPr wrap="square" lIns="0" tIns="0" rIns="0" bIns="0" rtlCol="0" anchor="ctr"/>
          <a:lstStyle/>
          <a:p>
            <a:pPr indent="0" marL="0">
              <a:spcAft>
                <a:spcPts val="200"/>
              </a:spcAft>
              <a:buNone/>
            </a:pPr>
            <a:r>
              <a:rPr lang="en-US" sz="1400" b="1" dirty="0">
                <a:solidFill>
                  <a:schemeClr val="tx1"/>
                </a:solidFill>
              </a:rPr>
              <a:t>安排免费舒缓修护护理；居家只用简单修护产品</a:t>
            </a:r>
            <a:endParaRPr lang="en-US" sz="1400" dirty="0"/>
          </a:p>
          <a:p>
            <a:pPr indent="0" marL="0">
              <a:spcAft>
                <a:spcPts val="200"/>
              </a:spcAft>
              <a:buNone/>
            </a:pPr>
            <a:r>
              <a:rPr lang="en-US" sz="1200" dirty="0">
                <a:solidFill>
                  <a:schemeClr val="accent6"/>
                </a:solidFill>
              </a:rPr>
              <a:t>Complimentary soothing repair facial; ultra‑gentle home skincare only</a:t>
            </a:r>
            <a:endParaRPr lang="en-US" sz="1400" dirty="0"/>
          </a:p>
        </p:txBody>
      </p:sp>
      <p:sp>
        <p:nvSpPr>
          <p:cNvPr id="15" name="situation 3"/>
          <p:cNvSpPr/>
          <p:nvPr/>
        </p:nvSpPr>
        <p:spPr>
          <a:xfrm>
            <a:off x="457200" y="4069080"/>
            <a:ext cx="5120640" cy="1051560"/>
          </a:xfrm>
          <a:prstGeom prst="roundRect">
            <a:avLst>
              <a:gd name="adj" fmla="val 10435"/>
            </a:avLst>
          </a:prstGeom>
          <a:solidFill>
            <a:srgbClr val="FCEDE8"/>
          </a:solidFill>
          <a:ln/>
        </p:spPr>
      </p:sp>
      <p:sp>
        <p:nvSpPr>
          <p:cNvPr id="16" name="Text 14"/>
          <p:cNvSpPr txBox="1"/>
          <p:nvPr/>
        </p:nvSpPr>
        <p:spPr>
          <a:xfrm>
            <a:off x="640080" y="4114800"/>
            <a:ext cx="4754880" cy="960120"/>
          </a:xfrm>
          <a:prstGeom prst="rect">
            <a:avLst/>
          </a:prstGeom>
          <a:noFill/>
          <a:ln/>
        </p:spPr>
        <p:txBody>
          <a:bodyPr wrap="square" lIns="0" tIns="0" rIns="0" bIns="0" rtlCol="0" anchor="ctr"/>
          <a:lstStyle/>
          <a:p>
            <a:pPr indent="0" marL="0">
              <a:spcAft>
                <a:spcPts val="200"/>
              </a:spcAft>
              <a:buNone/>
            </a:pPr>
            <a:r>
              <a:rPr lang="en-US" sz="1400" b="1" dirty="0">
                <a:solidFill>
                  <a:schemeClr val="tx1"/>
                </a:solidFill>
              </a:rPr>
              <a:t>极少情况轻微干燥起皮（非结痂脱皮）</a:t>
            </a:r>
            <a:endParaRPr lang="en-US" sz="1400" dirty="0"/>
          </a:p>
          <a:p>
            <a:pPr indent="0" marL="0">
              <a:spcAft>
                <a:spcPts val="200"/>
              </a:spcAft>
              <a:buNone/>
            </a:pPr>
            <a:r>
              <a:rPr lang="en-US" sz="1200" dirty="0">
                <a:solidFill>
                  <a:schemeClr val="accent6"/>
                </a:solidFill>
              </a:rPr>
              <a:t>Rare mild dry flaking (not heavy peeling)</a:t>
            </a:r>
            <a:endParaRPr lang="en-US" sz="1400" dirty="0"/>
          </a:p>
        </p:txBody>
      </p:sp>
      <p:sp>
        <p:nvSpPr>
          <p:cNvPr id="17" name="arrow 3"/>
          <p:cNvSpPr/>
          <p:nvPr/>
        </p:nvSpPr>
        <p:spPr>
          <a:xfrm>
            <a:off x="5650992" y="4389120"/>
            <a:ext cx="457200" cy="411480"/>
          </a:xfrm>
          <a:prstGeom prst="rightArrow">
            <a:avLst/>
          </a:prstGeom>
          <a:solidFill>
            <a:schemeClr val="accent4"/>
          </a:solidFill>
          <a:ln/>
        </p:spPr>
      </p:sp>
      <p:sp>
        <p:nvSpPr>
          <p:cNvPr id="18" name="action 3"/>
          <p:cNvSpPr/>
          <p:nvPr/>
        </p:nvSpPr>
        <p:spPr>
          <a:xfrm>
            <a:off x="6181344" y="4069080"/>
            <a:ext cx="5522976" cy="1051560"/>
          </a:xfrm>
          <a:prstGeom prst="roundRect">
            <a:avLst>
              <a:gd name="adj" fmla="val 10435"/>
            </a:avLst>
          </a:prstGeom>
          <a:solidFill>
            <a:schemeClr val="bg2"/>
          </a:solidFill>
          <a:ln/>
        </p:spPr>
      </p:sp>
      <p:sp>
        <p:nvSpPr>
          <p:cNvPr id="19" name="Text 17"/>
          <p:cNvSpPr txBox="1"/>
          <p:nvPr/>
        </p:nvSpPr>
        <p:spPr>
          <a:xfrm>
            <a:off x="6364224" y="4114800"/>
            <a:ext cx="5166360" cy="960120"/>
          </a:xfrm>
          <a:prstGeom prst="rect">
            <a:avLst/>
          </a:prstGeom>
          <a:noFill/>
          <a:ln/>
        </p:spPr>
        <p:txBody>
          <a:bodyPr wrap="square" lIns="0" tIns="0" rIns="0" bIns="0" rtlCol="0" anchor="ctr"/>
          <a:lstStyle/>
          <a:p>
            <a:pPr indent="0" marL="0">
              <a:spcAft>
                <a:spcPts val="200"/>
              </a:spcAft>
              <a:buNone/>
            </a:pPr>
            <a:r>
              <a:rPr lang="en-US" sz="1400" b="1" dirty="0">
                <a:solidFill>
                  <a:schemeClr val="tx1"/>
                </a:solidFill>
              </a:rPr>
              <a:t>加强保湿，禁止撕皮</a:t>
            </a:r>
            <a:endParaRPr lang="en-US" sz="1400" dirty="0"/>
          </a:p>
          <a:p>
            <a:pPr indent="0" marL="0">
              <a:spcAft>
                <a:spcPts val="200"/>
              </a:spcAft>
              <a:buNone/>
            </a:pPr>
            <a:r>
              <a:rPr lang="en-US" sz="1200" dirty="0">
                <a:solidFill>
                  <a:schemeClr val="accent6"/>
                </a:solidFill>
              </a:rPr>
              <a:t>Intensify moisturiser; never pick or peel the skin manually</a:t>
            </a:r>
            <a:endParaRPr lang="en-US" sz="1400" dirty="0"/>
          </a:p>
        </p:txBody>
      </p:sp>
      <p:sp>
        <p:nvSpPr>
          <p:cNvPr id="20" name="key point banner"/>
          <p:cNvSpPr/>
          <p:nvPr/>
        </p:nvSpPr>
        <p:spPr>
          <a:xfrm>
            <a:off x="457200" y="5349240"/>
            <a:ext cx="11247120" cy="868680"/>
          </a:xfrm>
          <a:prstGeom prst="roundRect">
            <a:avLst>
              <a:gd name="adj" fmla="val 12632"/>
            </a:avLst>
          </a:prstGeom>
          <a:solidFill>
            <a:schemeClr val="tx2"/>
          </a:solidFill>
          <a:ln/>
        </p:spPr>
      </p:sp>
      <p:sp>
        <p:nvSpPr>
          <p:cNvPr id="21" name="Text 19"/>
          <p:cNvSpPr txBox="1"/>
          <p:nvPr/>
        </p:nvSpPr>
        <p:spPr>
          <a:xfrm>
            <a:off x="731520" y="5349240"/>
            <a:ext cx="10698480" cy="868680"/>
          </a:xfrm>
          <a:prstGeom prst="rect">
            <a:avLst/>
          </a:prstGeom>
          <a:noFill/>
          <a:ln/>
        </p:spPr>
        <p:txBody>
          <a:bodyPr wrap="square" lIns="0" tIns="0" rIns="0" bIns="0" rtlCol="0" anchor="ctr"/>
          <a:lstStyle/>
          <a:p>
            <a:pPr indent="0" marL="0">
              <a:spcAft>
                <a:spcPts val="200"/>
              </a:spcAft>
              <a:buNone/>
            </a:pPr>
            <a:r>
              <a:rPr lang="en-US" sz="1400" b="1" dirty="0">
                <a:solidFill>
                  <a:schemeClr val="bg1"/>
                </a:solidFill>
              </a:rPr>
              <a:t>重点：规范操作后不会大面积脱皮。明显脱皮代表停留时间过长或刺激过度，美疗师需要复盘</a:t>
            </a:r>
            <a:endParaRPr lang="en-US" sz="1400" dirty="0"/>
          </a:p>
          <a:p>
            <a:pPr indent="0" marL="0">
              <a:spcAft>
                <a:spcPts val="200"/>
              </a:spcAft>
              <a:buNone/>
            </a:pPr>
            <a:r>
              <a:rPr lang="en-US" sz="1200" dirty="0">
                <a:solidFill>
                  <a:srgbClr val="CFE0D2"/>
                </a:solidFill>
              </a:rPr>
              <a:t>Key point: a proper XE‑LHA Peel should NOT cause heavy peeling. Heavy peeling means over‑exfoliation — review your technique.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客户案例｜前后对比</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Before &amp; After Gallery · clinical cases from the XE‑LHA brand deck</a:t>
            </a:r>
            <a:endParaRPr lang="en-US" sz="3000" dirty="0"/>
          </a:p>
        </p:txBody>
      </p:sp>
      <p:sp>
        <p:nvSpPr>
          <p:cNvPr id="3" name="Text 1"/>
          <p:cNvSpPr txBox="1"/>
          <p:nvPr/>
        </p:nvSpPr>
        <p:spPr>
          <a:xfrm>
            <a:off x="457200" y="1371600"/>
            <a:ext cx="3566160" cy="594360"/>
          </a:xfrm>
          <a:prstGeom prst="rect">
            <a:avLst/>
          </a:prstGeom>
          <a:noFill/>
          <a:ln/>
        </p:spPr>
        <p:txBody>
          <a:bodyPr wrap="square" lIns="0" tIns="0" rIns="0" bIns="0" rtlCol="0" anchor="t"/>
          <a:lstStyle/>
          <a:p>
            <a:pPr indent="0" marL="0">
              <a:buNone/>
            </a:pPr>
            <a:r>
              <a:rPr lang="en-US" sz="1500" b="1" dirty="0">
                <a:solidFill>
                  <a:schemeClr val="tx1"/>
                </a:solidFill>
              </a:rPr>
              <a:t>色素沉着与干燥</a:t>
            </a:r>
            <a:endParaRPr lang="en-US" sz="1500" dirty="0"/>
          </a:p>
          <a:p>
            <a:pPr indent="0" marL="0">
              <a:buNone/>
            </a:pPr>
            <a:r>
              <a:rPr lang="en-US" sz="1200" dirty="0">
                <a:solidFill>
                  <a:schemeClr val="accent6"/>
                </a:solidFill>
              </a:rPr>
              <a:t>Pigmentation &amp; dryness (body)  ·  5 sessions · weekly</a:t>
            </a:r>
            <a:endParaRPr lang="en-US" sz="1500" dirty="0"/>
          </a:p>
        </p:txBody>
      </p:sp>
      <p:pic>
        <p:nvPicPr>
          <p:cNvPr id="4" name="Pigmentation &amp; dryness (body) before" descr="Pigmentation &amp; dryness (body) before">    </p:cNvPr>
          <p:cNvPicPr>
            <a:picLocks noChangeAspect="1"/>
          </p:cNvPicPr>
          <p:nvPr/>
        </p:nvPicPr>
        <p:blipFill>
          <a:blip r:embed="rId1"/>
          <a:stretch>
            <a:fillRect/>
          </a:stretch>
        </p:blipFill>
        <p:spPr>
          <a:xfrm>
            <a:off x="457200" y="2013624"/>
            <a:ext cx="3566160" cy="1669464"/>
          </a:xfrm>
          <a:prstGeom prst="rect">
            <a:avLst/>
          </a:prstGeom>
        </p:spPr>
      </p:pic>
      <p:pic>
        <p:nvPicPr>
          <p:cNvPr id="5" name="Pigmentation &amp; dryness (body) after" descr="Pigmentation &amp; dryness (body) after">    </p:cNvPr>
          <p:cNvPicPr>
            <a:picLocks noChangeAspect="1"/>
          </p:cNvPicPr>
          <p:nvPr/>
        </p:nvPicPr>
        <p:blipFill>
          <a:blip r:embed="rId2"/>
          <a:stretch>
            <a:fillRect/>
          </a:stretch>
        </p:blipFill>
        <p:spPr>
          <a:xfrm>
            <a:off x="457200" y="3750984"/>
            <a:ext cx="3566160" cy="1669464"/>
          </a:xfrm>
          <a:prstGeom prst="rect">
            <a:avLst/>
          </a:prstGeom>
        </p:spPr>
      </p:pic>
      <p:sp>
        <p:nvSpPr>
          <p:cNvPr id="6" name="Text 2"/>
          <p:cNvSpPr txBox="1"/>
          <p:nvPr/>
        </p:nvSpPr>
        <p:spPr>
          <a:xfrm>
            <a:off x="4297680" y="1371600"/>
            <a:ext cx="3566160" cy="594360"/>
          </a:xfrm>
          <a:prstGeom prst="rect">
            <a:avLst/>
          </a:prstGeom>
          <a:noFill/>
          <a:ln/>
        </p:spPr>
        <p:txBody>
          <a:bodyPr wrap="square" lIns="0" tIns="0" rIns="0" bIns="0" rtlCol="0" anchor="t"/>
          <a:lstStyle/>
          <a:p>
            <a:pPr indent="0" marL="0">
              <a:buNone/>
            </a:pPr>
            <a:r>
              <a:rPr lang="en-US" sz="1500" b="1" dirty="0">
                <a:solidFill>
                  <a:schemeClr val="tx1"/>
                </a:solidFill>
              </a:rPr>
              <a:t>色素沉着与黄褐斑</a:t>
            </a:r>
            <a:endParaRPr lang="en-US" sz="1500" dirty="0"/>
          </a:p>
          <a:p>
            <a:pPr indent="0" marL="0">
              <a:buNone/>
            </a:pPr>
            <a:r>
              <a:rPr lang="en-US" sz="1200" dirty="0">
                <a:solidFill>
                  <a:schemeClr val="accent6"/>
                </a:solidFill>
              </a:rPr>
              <a:t>Pigmentation &amp; melasma  ·  5 sessions · weekly</a:t>
            </a:r>
            <a:endParaRPr lang="en-US" sz="1500" dirty="0"/>
          </a:p>
        </p:txBody>
      </p:sp>
      <p:pic>
        <p:nvPicPr>
          <p:cNvPr id="7" name="Pigmentation &amp; melasma before" descr="Pigmentation &amp; melasma before">    </p:cNvPr>
          <p:cNvPicPr>
            <a:picLocks noChangeAspect="1"/>
          </p:cNvPicPr>
          <p:nvPr/>
        </p:nvPicPr>
        <p:blipFill>
          <a:blip r:embed="rId3"/>
          <a:stretch>
            <a:fillRect/>
          </a:stretch>
        </p:blipFill>
        <p:spPr>
          <a:xfrm>
            <a:off x="4297680" y="2013624"/>
            <a:ext cx="3566160" cy="1669464"/>
          </a:xfrm>
          <a:prstGeom prst="rect">
            <a:avLst/>
          </a:prstGeom>
        </p:spPr>
      </p:pic>
      <p:pic>
        <p:nvPicPr>
          <p:cNvPr id="8" name="Pigmentation &amp; melasma after" descr="Pigmentation &amp; melasma after">    </p:cNvPr>
          <p:cNvPicPr>
            <a:picLocks noChangeAspect="1"/>
          </p:cNvPicPr>
          <p:nvPr/>
        </p:nvPicPr>
        <p:blipFill>
          <a:blip r:embed="rId4"/>
          <a:stretch>
            <a:fillRect/>
          </a:stretch>
        </p:blipFill>
        <p:spPr>
          <a:xfrm>
            <a:off x="4297680" y="3750984"/>
            <a:ext cx="3566160" cy="1669464"/>
          </a:xfrm>
          <a:prstGeom prst="rect">
            <a:avLst/>
          </a:prstGeom>
        </p:spPr>
      </p:pic>
      <p:sp>
        <p:nvSpPr>
          <p:cNvPr id="9" name="Text 3"/>
          <p:cNvSpPr txBox="1"/>
          <p:nvPr/>
        </p:nvSpPr>
        <p:spPr>
          <a:xfrm>
            <a:off x="8138160" y="1371600"/>
            <a:ext cx="3566160" cy="594360"/>
          </a:xfrm>
          <a:prstGeom prst="rect">
            <a:avLst/>
          </a:prstGeom>
          <a:noFill/>
          <a:ln/>
        </p:spPr>
        <p:txBody>
          <a:bodyPr wrap="square" lIns="0" tIns="0" rIns="0" bIns="0" rtlCol="0" anchor="t"/>
          <a:lstStyle/>
          <a:p>
            <a:pPr indent="0" marL="0">
              <a:buNone/>
            </a:pPr>
            <a:r>
              <a:rPr lang="en-US" sz="1500" b="1" dirty="0">
                <a:solidFill>
                  <a:schemeClr val="tx1"/>
                </a:solidFill>
              </a:rPr>
              <a:t>痘痘肌</a:t>
            </a:r>
            <a:endParaRPr lang="en-US" sz="1500" dirty="0"/>
          </a:p>
          <a:p>
            <a:pPr indent="0" marL="0">
              <a:buNone/>
            </a:pPr>
            <a:r>
              <a:rPr lang="en-US" sz="1200" dirty="0">
                <a:solidFill>
                  <a:schemeClr val="accent6"/>
                </a:solidFill>
              </a:rPr>
              <a:t>Acne‑prone skin  ·  3 sessions · weekly</a:t>
            </a:r>
            <a:endParaRPr lang="en-US" sz="1500" dirty="0"/>
          </a:p>
        </p:txBody>
      </p:sp>
      <p:pic>
        <p:nvPicPr>
          <p:cNvPr id="10" name="Acne‑prone skin before" descr="Acne‑prone skin before">    </p:cNvPr>
          <p:cNvPicPr>
            <a:picLocks noChangeAspect="1"/>
          </p:cNvPicPr>
          <p:nvPr/>
        </p:nvPicPr>
        <p:blipFill>
          <a:blip r:embed="rId5"/>
          <a:stretch>
            <a:fillRect/>
          </a:stretch>
        </p:blipFill>
        <p:spPr>
          <a:xfrm>
            <a:off x="8138160" y="2013624"/>
            <a:ext cx="3566160" cy="1669464"/>
          </a:xfrm>
          <a:prstGeom prst="rect">
            <a:avLst/>
          </a:prstGeom>
        </p:spPr>
      </p:pic>
      <p:pic>
        <p:nvPicPr>
          <p:cNvPr id="11" name="Acne‑prone skin after" descr="Acne‑prone skin after">    </p:cNvPr>
          <p:cNvPicPr>
            <a:picLocks noChangeAspect="1"/>
          </p:cNvPicPr>
          <p:nvPr/>
        </p:nvPicPr>
        <p:blipFill>
          <a:blip r:embed="rId6"/>
          <a:stretch>
            <a:fillRect/>
          </a:stretch>
        </p:blipFill>
        <p:spPr>
          <a:xfrm>
            <a:off x="8138160" y="3750984"/>
            <a:ext cx="3566160" cy="1669464"/>
          </a:xfrm>
          <a:prstGeom prst="rect">
            <a:avLst/>
          </a:prstGeom>
        </p:spPr>
      </p:pic>
      <p:sp>
        <p:nvSpPr>
          <p:cNvPr id="12" name="disclaimer"/>
          <p:cNvSpPr/>
          <p:nvPr/>
        </p:nvSpPr>
        <p:spPr>
          <a:xfrm>
            <a:off x="457200" y="5532120"/>
            <a:ext cx="11247120" cy="777240"/>
          </a:xfrm>
          <a:prstGeom prst="roundRect">
            <a:avLst>
              <a:gd name="adj" fmla="val 14118"/>
            </a:avLst>
          </a:prstGeom>
          <a:solidFill>
            <a:srgbClr val="FCEDE8"/>
          </a:solidFill>
          <a:ln/>
        </p:spPr>
      </p:sp>
      <p:sp>
        <p:nvSpPr>
          <p:cNvPr id="13" name="Text 5"/>
          <p:cNvSpPr txBox="1"/>
          <p:nvPr/>
        </p:nvSpPr>
        <p:spPr>
          <a:xfrm>
            <a:off x="640080" y="5532120"/>
            <a:ext cx="10881360" cy="777240"/>
          </a:xfrm>
          <a:prstGeom prst="rect">
            <a:avLst/>
          </a:prstGeom>
          <a:noFill/>
          <a:ln/>
        </p:spPr>
        <p:txBody>
          <a:bodyPr wrap="square" lIns="0" tIns="0" rIns="0" bIns="0" rtlCol="0" anchor="ctr"/>
          <a:lstStyle/>
          <a:p>
            <a:pPr indent="0" marL="0">
              <a:spcAft>
                <a:spcPts val="200"/>
              </a:spcAft>
              <a:buNone/>
            </a:pPr>
            <a:r>
              <a:rPr lang="en-US" sz="1400" b="1" dirty="0">
                <a:solidFill>
                  <a:srgbClr val="000000"/>
                </a:solidFill>
              </a:rPr>
              <a:t>提示：每位客人原始肤质不同，效果存在个体差异，不能承诺100%相同效果。</a:t>
            </a:r>
            <a:endParaRPr lang="en-US" sz="1400" dirty="0"/>
          </a:p>
          <a:p>
            <a:pPr indent="0" marL="0">
              <a:spcAft>
                <a:spcPts val="200"/>
              </a:spcAft>
              <a:buNone/>
            </a:pPr>
            <a:r>
              <a:rPr lang="en-US" sz="1100" dirty="0">
                <a:solidFill>
                  <a:schemeClr val="accent6"/>
                </a:solidFill>
              </a:rPr>
              <a:t>Disclaimer: individual results vary — never promise identical outcomes. Source: XE‑LHA brand clinical cases (YSmedi). Replace with our own client photos when available.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顾客常见问题 (1/6)</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Customer FAQ · what clients ask most, with standard answers 标准回答话术</a:t>
            </a:r>
            <a:endParaRPr lang="en-US" sz="3000" dirty="0"/>
          </a:p>
        </p:txBody>
      </p:sp>
      <p:sp>
        <p:nvSpPr>
          <p:cNvPr id="3" name="faq question 1"/>
          <p:cNvSpPr/>
          <p:nvPr/>
        </p:nvSpPr>
        <p:spPr>
          <a:xfrm>
            <a:off x="457200" y="1417320"/>
            <a:ext cx="3017520" cy="2286000"/>
          </a:xfrm>
          <a:prstGeom prst="roundRect">
            <a:avLst>
              <a:gd name="adj" fmla="val 4800"/>
            </a:avLst>
          </a:prstGeom>
          <a:solidFill>
            <a:schemeClr val="tx2"/>
          </a:solidFill>
          <a:ln/>
        </p:spPr>
      </p:sp>
      <p:sp>
        <p:nvSpPr>
          <p:cNvPr id="4" name="Text 2"/>
          <p:cNvSpPr txBox="1"/>
          <p:nvPr/>
        </p:nvSpPr>
        <p:spPr>
          <a:xfrm>
            <a:off x="685800" y="1554480"/>
            <a:ext cx="1097280" cy="411480"/>
          </a:xfrm>
          <a:prstGeom prst="rect">
            <a:avLst/>
          </a:prstGeom>
          <a:noFill/>
          <a:ln/>
        </p:spPr>
        <p:txBody>
          <a:bodyPr wrap="square" lIns="0" tIns="0" rIns="0" bIns="0" rtlCol="0" anchor="ctr"/>
          <a:lstStyle/>
          <a:p>
            <a:pPr indent="0" marL="0">
              <a:buNone/>
            </a:pPr>
            <a:r>
              <a:rPr lang="en-US" sz="2200" b="1" dirty="0">
                <a:solidFill>
                  <a:schemeClr val="accent4"/>
                </a:solidFill>
              </a:rPr>
              <a:t>Q1</a:t>
            </a:r>
            <a:endParaRPr lang="en-US" sz="2200" dirty="0"/>
          </a:p>
        </p:txBody>
      </p:sp>
      <p:sp>
        <p:nvSpPr>
          <p:cNvPr id="5" name="Text 3"/>
          <p:cNvSpPr txBox="1"/>
          <p:nvPr/>
        </p:nvSpPr>
        <p:spPr>
          <a:xfrm>
            <a:off x="685800" y="2057400"/>
            <a:ext cx="2606040" cy="160020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做 XE LHA Peel 会不会脱皮？</a:t>
            </a:r>
            <a:endParaRPr lang="en-US" sz="1600" dirty="0"/>
          </a:p>
          <a:p>
            <a:pPr indent="0" marL="0">
              <a:spcAft>
                <a:spcPts val="400"/>
              </a:spcAft>
              <a:buNone/>
            </a:pPr>
            <a:r>
              <a:rPr lang="en-US" sz="1300" dirty="0">
                <a:solidFill>
                  <a:srgbClr val="CFE0D2"/>
                </a:solidFill>
              </a:rPr>
              <a:t>Will XE LHA Peel make my skin peel?</a:t>
            </a:r>
            <a:endParaRPr lang="en-US" sz="1600" dirty="0"/>
          </a:p>
        </p:txBody>
      </p:sp>
      <p:sp>
        <p:nvSpPr>
          <p:cNvPr id="6" name="faq say 1"/>
          <p:cNvSpPr/>
          <p:nvPr/>
        </p:nvSpPr>
        <p:spPr>
          <a:xfrm>
            <a:off x="3611880" y="1417320"/>
            <a:ext cx="4937760" cy="2286000"/>
          </a:xfrm>
          <a:prstGeom prst="roundRect">
            <a:avLst>
              <a:gd name="adj" fmla="val 4800"/>
            </a:avLst>
          </a:prstGeom>
          <a:solidFill>
            <a:schemeClr val="bg2"/>
          </a:solidFill>
          <a:ln/>
        </p:spPr>
      </p:sp>
      <p:sp>
        <p:nvSpPr>
          <p:cNvPr id="7" name="Text 5"/>
          <p:cNvSpPr txBox="1"/>
          <p:nvPr/>
        </p:nvSpPr>
        <p:spPr>
          <a:xfrm>
            <a:off x="3840480" y="1527048"/>
            <a:ext cx="3200400" cy="292608"/>
          </a:xfrm>
          <a:prstGeom prst="rect">
            <a:avLst/>
          </a:prstGeom>
          <a:noFill/>
          <a:ln/>
        </p:spPr>
        <p:txBody>
          <a:bodyPr wrap="square" lIns="0" tIns="0" rIns="0" bIns="0" rtlCol="0" anchor="ctr"/>
          <a:lstStyle/>
          <a:p>
            <a:pPr indent="0" marL="0">
              <a:buNone/>
            </a:pPr>
            <a:r>
              <a:rPr lang="en-US" sz="1200" b="1" dirty="0">
                <a:solidFill>
                  <a:schemeClr val="accent1"/>
                </a:solidFill>
              </a:rPr>
              <a:t>员工回答 Say this</a:t>
            </a:r>
            <a:endParaRPr lang="en-US" sz="1200" dirty="0"/>
          </a:p>
        </p:txBody>
      </p:sp>
      <p:sp>
        <p:nvSpPr>
          <p:cNvPr id="8" name="Text 6"/>
          <p:cNvSpPr txBox="1"/>
          <p:nvPr/>
        </p:nvSpPr>
        <p:spPr>
          <a:xfrm>
            <a:off x="3840480" y="1874520"/>
            <a:ext cx="4480560" cy="1783080"/>
          </a:xfrm>
          <a:prstGeom prst="rect">
            <a:avLst/>
          </a:prstGeom>
          <a:noFill/>
          <a:ln/>
        </p:spPr>
        <p:txBody>
          <a:bodyPr wrap="square" lIns="0" tIns="0" rIns="0" bIns="0" rtlCol="0" anchor="t"/>
          <a:lstStyle/>
          <a:p>
            <a:pPr indent="0" marL="0">
              <a:spcAft>
                <a:spcPts val="400"/>
              </a:spcAft>
              <a:buNone/>
            </a:pPr>
            <a:r>
              <a:rPr lang="en-US" sz="1450" dirty="0">
                <a:solidFill>
                  <a:schemeClr val="tx1"/>
                </a:solidFill>
              </a:rPr>
              <a:t>不一定哦。焕肤主要是帮助皮肤代谢老废角质，有些顾客做完可能会出现轻微干燥或细小脱屑，也有顾客完全没有明显脱皮。没有脱皮不代表护理没有效果。</a:t>
            </a:r>
            <a:endParaRPr lang="en-US" sz="1450" dirty="0"/>
          </a:p>
          <a:p>
            <a:pPr indent="0" marL="0">
              <a:spcAft>
                <a:spcPts val="400"/>
              </a:spcAft>
              <a:buNone/>
            </a:pPr>
            <a:r>
              <a:rPr lang="en-US" sz="1250" dirty="0">
                <a:solidFill>
                  <a:schemeClr val="accent6"/>
                </a:solidFill>
              </a:rPr>
              <a:t>Not necessarily. A peel helps the skin shed dead skin cells; some clients get mild dryness or fine flaking, others none at all. No peeling does not mean the treatment didn't work.</a:t>
            </a:r>
            <a:endParaRPr lang="en-US" sz="1450" dirty="0"/>
          </a:p>
        </p:txBody>
      </p:sp>
      <p:sp>
        <p:nvSpPr>
          <p:cNvPr id="9" name="faq knowledge 1"/>
          <p:cNvSpPr/>
          <p:nvPr/>
        </p:nvSpPr>
        <p:spPr>
          <a:xfrm>
            <a:off x="8686800" y="1417320"/>
            <a:ext cx="3017520" cy="2286000"/>
          </a:xfrm>
          <a:prstGeom prst="roundRect">
            <a:avLst>
              <a:gd name="adj" fmla="val 4800"/>
            </a:avLst>
          </a:prstGeom>
          <a:solidFill>
            <a:srgbClr val="FBF1D6"/>
          </a:solidFill>
          <a:ln/>
        </p:spPr>
      </p:sp>
      <p:sp>
        <p:nvSpPr>
          <p:cNvPr id="10" name="Text 8"/>
          <p:cNvSpPr txBox="1"/>
          <p:nvPr/>
        </p:nvSpPr>
        <p:spPr>
          <a:xfrm>
            <a:off x="8915400" y="1527048"/>
            <a:ext cx="2743200" cy="292608"/>
          </a:xfrm>
          <a:prstGeom prst="rect">
            <a:avLst/>
          </a:prstGeom>
          <a:noFill/>
          <a:ln/>
        </p:spPr>
        <p:txBody>
          <a:bodyPr wrap="square" lIns="0" tIns="0" rIns="0" bIns="0" rtlCol="0" anchor="ctr"/>
          <a:lstStyle/>
          <a:p>
            <a:pPr indent="0" marL="0">
              <a:buNone/>
            </a:pPr>
            <a:r>
              <a:rPr lang="en-US" sz="1200" b="1" dirty="0">
                <a:solidFill>
                  <a:schemeClr val="accent2"/>
                </a:solidFill>
              </a:rPr>
              <a:t>员工知识 Staff knowledge</a:t>
            </a:r>
            <a:endParaRPr lang="en-US" sz="1200" dirty="0"/>
          </a:p>
        </p:txBody>
      </p:sp>
      <p:sp>
        <p:nvSpPr>
          <p:cNvPr id="11" name="Text 9"/>
          <p:cNvSpPr txBox="1"/>
          <p:nvPr/>
        </p:nvSpPr>
        <p:spPr>
          <a:xfrm>
            <a:off x="8915400" y="1874520"/>
            <a:ext cx="2560320" cy="1783080"/>
          </a:xfrm>
          <a:prstGeom prst="rect">
            <a:avLst/>
          </a:prstGeom>
          <a:noFill/>
          <a:ln/>
        </p:spPr>
        <p:txBody>
          <a:bodyPr wrap="square" lIns="0" tIns="0" rIns="0" bIns="0" rtlCol="0" anchor="t"/>
          <a:lstStyle/>
          <a:p>
            <a:pPr indent="0" marL="0">
              <a:spcAft>
                <a:spcPts val="400"/>
              </a:spcAft>
              <a:buNone/>
            </a:pPr>
            <a:r>
              <a:rPr lang="en-US" sz="1350" b="1" dirty="0">
                <a:solidFill>
                  <a:schemeClr val="tx1"/>
                </a:solidFill>
              </a:rPr>
              <a:t>不能把明显脱皮当作护理成功的标准。</a:t>
            </a:r>
            <a:endParaRPr lang="en-US" sz="1350" dirty="0"/>
          </a:p>
          <a:p>
            <a:pPr indent="0" marL="0">
              <a:spcAft>
                <a:spcPts val="400"/>
              </a:spcAft>
              <a:buNone/>
            </a:pPr>
            <a:r>
              <a:rPr lang="en-US" sz="1150" dirty="0">
                <a:solidFill>
                  <a:schemeClr val="accent6"/>
                </a:solidFill>
              </a:rPr>
              <a:t>Never treat obvious peeling as the measure of success.</a:t>
            </a:r>
            <a:endParaRPr lang="en-US" sz="1350" dirty="0"/>
          </a:p>
        </p:txBody>
      </p:sp>
      <p:sp>
        <p:nvSpPr>
          <p:cNvPr id="12" name="faq question 2"/>
          <p:cNvSpPr/>
          <p:nvPr/>
        </p:nvSpPr>
        <p:spPr>
          <a:xfrm>
            <a:off x="457200" y="3886200"/>
            <a:ext cx="3017520" cy="2286000"/>
          </a:xfrm>
          <a:prstGeom prst="roundRect">
            <a:avLst>
              <a:gd name="adj" fmla="val 4800"/>
            </a:avLst>
          </a:prstGeom>
          <a:solidFill>
            <a:schemeClr val="tx2"/>
          </a:solidFill>
          <a:ln/>
        </p:spPr>
      </p:sp>
      <p:sp>
        <p:nvSpPr>
          <p:cNvPr id="13" name="Text 11"/>
          <p:cNvSpPr txBox="1"/>
          <p:nvPr/>
        </p:nvSpPr>
        <p:spPr>
          <a:xfrm>
            <a:off x="685800" y="4023360"/>
            <a:ext cx="1097280" cy="411480"/>
          </a:xfrm>
          <a:prstGeom prst="rect">
            <a:avLst/>
          </a:prstGeom>
          <a:noFill/>
          <a:ln/>
        </p:spPr>
        <p:txBody>
          <a:bodyPr wrap="square" lIns="0" tIns="0" rIns="0" bIns="0" rtlCol="0" anchor="ctr"/>
          <a:lstStyle/>
          <a:p>
            <a:pPr indent="0" marL="0">
              <a:buNone/>
            </a:pPr>
            <a:r>
              <a:rPr lang="en-US" sz="2200" b="1" dirty="0">
                <a:solidFill>
                  <a:schemeClr val="accent4"/>
                </a:solidFill>
              </a:rPr>
              <a:t>Q2</a:t>
            </a:r>
            <a:endParaRPr lang="en-US" sz="2200" dirty="0"/>
          </a:p>
        </p:txBody>
      </p:sp>
      <p:sp>
        <p:nvSpPr>
          <p:cNvPr id="14" name="Text 12"/>
          <p:cNvSpPr txBox="1"/>
          <p:nvPr/>
        </p:nvSpPr>
        <p:spPr>
          <a:xfrm>
            <a:off x="685800" y="4526280"/>
            <a:ext cx="2606040" cy="160020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做 XE LHA Peel 会不会痛？</a:t>
            </a:r>
            <a:endParaRPr lang="en-US" sz="1600" dirty="0"/>
          </a:p>
          <a:p>
            <a:pPr indent="0" marL="0">
              <a:spcAft>
                <a:spcPts val="400"/>
              </a:spcAft>
              <a:buNone/>
            </a:pPr>
            <a:r>
              <a:rPr lang="en-US" sz="1300" dirty="0">
                <a:solidFill>
                  <a:srgbClr val="CFE0D2"/>
                </a:solidFill>
              </a:rPr>
              <a:t>Does XE LHA Peel hurt?</a:t>
            </a:r>
            <a:endParaRPr lang="en-US" sz="1600" dirty="0"/>
          </a:p>
        </p:txBody>
      </p:sp>
      <p:sp>
        <p:nvSpPr>
          <p:cNvPr id="15" name="faq say 2"/>
          <p:cNvSpPr/>
          <p:nvPr/>
        </p:nvSpPr>
        <p:spPr>
          <a:xfrm>
            <a:off x="3611880" y="3886200"/>
            <a:ext cx="4937760" cy="2286000"/>
          </a:xfrm>
          <a:prstGeom prst="roundRect">
            <a:avLst>
              <a:gd name="adj" fmla="val 4800"/>
            </a:avLst>
          </a:prstGeom>
          <a:solidFill>
            <a:schemeClr val="bg2"/>
          </a:solidFill>
          <a:ln/>
        </p:spPr>
      </p:sp>
      <p:sp>
        <p:nvSpPr>
          <p:cNvPr id="16" name="Text 14"/>
          <p:cNvSpPr txBox="1"/>
          <p:nvPr/>
        </p:nvSpPr>
        <p:spPr>
          <a:xfrm>
            <a:off x="3840480" y="3995928"/>
            <a:ext cx="3200400" cy="292608"/>
          </a:xfrm>
          <a:prstGeom prst="rect">
            <a:avLst/>
          </a:prstGeom>
          <a:noFill/>
          <a:ln/>
        </p:spPr>
        <p:txBody>
          <a:bodyPr wrap="square" lIns="0" tIns="0" rIns="0" bIns="0" rtlCol="0" anchor="ctr"/>
          <a:lstStyle/>
          <a:p>
            <a:pPr indent="0" marL="0">
              <a:buNone/>
            </a:pPr>
            <a:r>
              <a:rPr lang="en-US" sz="1200" b="1" dirty="0">
                <a:solidFill>
                  <a:schemeClr val="accent1"/>
                </a:solidFill>
              </a:rPr>
              <a:t>员工回答 Say this</a:t>
            </a:r>
            <a:endParaRPr lang="en-US" sz="1200" dirty="0"/>
          </a:p>
        </p:txBody>
      </p:sp>
      <p:sp>
        <p:nvSpPr>
          <p:cNvPr id="17" name="Text 15"/>
          <p:cNvSpPr txBox="1"/>
          <p:nvPr/>
        </p:nvSpPr>
        <p:spPr>
          <a:xfrm>
            <a:off x="3840480" y="4343400"/>
            <a:ext cx="4480560" cy="1783080"/>
          </a:xfrm>
          <a:prstGeom prst="rect">
            <a:avLst/>
          </a:prstGeom>
          <a:noFill/>
          <a:ln/>
        </p:spPr>
        <p:txBody>
          <a:bodyPr wrap="square" lIns="0" tIns="0" rIns="0" bIns="0" rtlCol="0" anchor="t"/>
          <a:lstStyle/>
          <a:p>
            <a:pPr indent="0" marL="0">
              <a:spcAft>
                <a:spcPts val="400"/>
              </a:spcAft>
              <a:buNone/>
            </a:pPr>
            <a:r>
              <a:rPr lang="en-US" sz="1450" dirty="0">
                <a:solidFill>
                  <a:schemeClr val="tx1"/>
                </a:solidFill>
              </a:rPr>
              <a:t>护理过程中可能会有轻微刺刺、温热或痒的感觉，但每个人的皮肤耐受度不同。如果出现明显灼热或疼痛，一定要马上告诉我们。</a:t>
            </a:r>
            <a:endParaRPr lang="en-US" sz="1450" dirty="0"/>
          </a:p>
          <a:p>
            <a:pPr indent="0" marL="0">
              <a:spcAft>
                <a:spcPts val="400"/>
              </a:spcAft>
              <a:buNone/>
            </a:pPr>
            <a:r>
              <a:rPr lang="en-US" sz="1250" dirty="0">
                <a:solidFill>
                  <a:schemeClr val="accent6"/>
                </a:solidFill>
              </a:rPr>
              <a:t>You may feel mild tingling, warmth or itching, but everyone's tolerance differs. If you feel marked burning or pain, tell us right away.</a:t>
            </a:r>
            <a:endParaRPr lang="en-US" sz="1450" dirty="0"/>
          </a:p>
        </p:txBody>
      </p:sp>
      <p:sp>
        <p:nvSpPr>
          <p:cNvPr id="18" name="faq knowledge 2"/>
          <p:cNvSpPr/>
          <p:nvPr/>
        </p:nvSpPr>
        <p:spPr>
          <a:xfrm>
            <a:off x="8686800" y="3886200"/>
            <a:ext cx="3017520" cy="2286000"/>
          </a:xfrm>
          <a:prstGeom prst="roundRect">
            <a:avLst>
              <a:gd name="adj" fmla="val 4800"/>
            </a:avLst>
          </a:prstGeom>
          <a:solidFill>
            <a:srgbClr val="FBF1D6"/>
          </a:solidFill>
          <a:ln/>
        </p:spPr>
      </p:sp>
      <p:sp>
        <p:nvSpPr>
          <p:cNvPr id="19" name="Text 17"/>
          <p:cNvSpPr txBox="1"/>
          <p:nvPr/>
        </p:nvSpPr>
        <p:spPr>
          <a:xfrm>
            <a:off x="8915400" y="3995928"/>
            <a:ext cx="2743200" cy="292608"/>
          </a:xfrm>
          <a:prstGeom prst="rect">
            <a:avLst/>
          </a:prstGeom>
          <a:noFill/>
          <a:ln/>
        </p:spPr>
        <p:txBody>
          <a:bodyPr wrap="square" lIns="0" tIns="0" rIns="0" bIns="0" rtlCol="0" anchor="ctr"/>
          <a:lstStyle/>
          <a:p>
            <a:pPr indent="0" marL="0">
              <a:buNone/>
            </a:pPr>
            <a:r>
              <a:rPr lang="en-US" sz="1200" b="1" dirty="0">
                <a:solidFill>
                  <a:schemeClr val="accent2"/>
                </a:solidFill>
              </a:rPr>
              <a:t>员工知识 Staff knowledge</a:t>
            </a:r>
            <a:endParaRPr lang="en-US" sz="1200" dirty="0"/>
          </a:p>
        </p:txBody>
      </p:sp>
      <p:sp>
        <p:nvSpPr>
          <p:cNvPr id="20" name="Text 18"/>
          <p:cNvSpPr txBox="1"/>
          <p:nvPr/>
        </p:nvSpPr>
        <p:spPr>
          <a:xfrm>
            <a:off x="8915400" y="4343400"/>
            <a:ext cx="2560320" cy="1783080"/>
          </a:xfrm>
          <a:prstGeom prst="rect">
            <a:avLst/>
          </a:prstGeom>
          <a:noFill/>
          <a:ln/>
        </p:spPr>
        <p:txBody>
          <a:bodyPr wrap="square" lIns="0" tIns="0" rIns="0" bIns="0" rtlCol="0" anchor="t"/>
          <a:lstStyle/>
          <a:p>
            <a:pPr indent="0" marL="0">
              <a:spcAft>
                <a:spcPts val="400"/>
              </a:spcAft>
              <a:buNone/>
            </a:pPr>
            <a:r>
              <a:rPr lang="en-US" sz="1350" b="1" dirty="0">
                <a:solidFill>
                  <a:schemeClr val="tx1"/>
                </a:solidFill>
              </a:rPr>
              <a:t>明显疼痛、持续灼烧或异常红肿不是应该忍耐的正常反应，应立即停止并按照品牌安全流程处理。</a:t>
            </a:r>
            <a:endParaRPr lang="en-US" sz="1350" dirty="0"/>
          </a:p>
          <a:p>
            <a:pPr indent="0" marL="0">
              <a:spcAft>
                <a:spcPts val="400"/>
              </a:spcAft>
              <a:buNone/>
            </a:pPr>
            <a:r>
              <a:rPr lang="en-US" sz="1150" dirty="0">
                <a:solidFill>
                  <a:schemeClr val="accent6"/>
                </a:solidFill>
              </a:rPr>
              <a:t>Marked pain, persistent burning or abnormal redness/swelling is not normal to endure — stop immediately and follow the brand safety protocol.</a:t>
            </a:r>
            <a:endParaRPr lang="en-US" sz="13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顾客常见问题 (2/6)</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Customer FAQ · what clients ask most, with standard answers 标准回答话术</a:t>
            </a:r>
            <a:endParaRPr lang="en-US" sz="3000" dirty="0"/>
          </a:p>
        </p:txBody>
      </p:sp>
      <p:sp>
        <p:nvSpPr>
          <p:cNvPr id="3" name="faq question 3"/>
          <p:cNvSpPr/>
          <p:nvPr/>
        </p:nvSpPr>
        <p:spPr>
          <a:xfrm>
            <a:off x="457200" y="1417320"/>
            <a:ext cx="3017520" cy="2286000"/>
          </a:xfrm>
          <a:prstGeom prst="roundRect">
            <a:avLst>
              <a:gd name="adj" fmla="val 4800"/>
            </a:avLst>
          </a:prstGeom>
          <a:solidFill>
            <a:schemeClr val="tx2"/>
          </a:solidFill>
          <a:ln/>
        </p:spPr>
      </p:sp>
      <p:sp>
        <p:nvSpPr>
          <p:cNvPr id="4" name="Text 2"/>
          <p:cNvSpPr txBox="1"/>
          <p:nvPr/>
        </p:nvSpPr>
        <p:spPr>
          <a:xfrm>
            <a:off x="685800" y="1554480"/>
            <a:ext cx="1097280" cy="411480"/>
          </a:xfrm>
          <a:prstGeom prst="rect">
            <a:avLst/>
          </a:prstGeom>
          <a:noFill/>
          <a:ln/>
        </p:spPr>
        <p:txBody>
          <a:bodyPr wrap="square" lIns="0" tIns="0" rIns="0" bIns="0" rtlCol="0" anchor="ctr"/>
          <a:lstStyle/>
          <a:p>
            <a:pPr indent="0" marL="0">
              <a:buNone/>
            </a:pPr>
            <a:r>
              <a:rPr lang="en-US" sz="2200" b="1" dirty="0">
                <a:solidFill>
                  <a:schemeClr val="accent4"/>
                </a:solidFill>
              </a:rPr>
              <a:t>Q3</a:t>
            </a:r>
            <a:endParaRPr lang="en-US" sz="2200" dirty="0"/>
          </a:p>
        </p:txBody>
      </p:sp>
      <p:sp>
        <p:nvSpPr>
          <p:cNvPr id="5" name="Text 3"/>
          <p:cNvSpPr txBox="1"/>
          <p:nvPr/>
        </p:nvSpPr>
        <p:spPr>
          <a:xfrm>
            <a:off x="685800" y="2057400"/>
            <a:ext cx="2606040" cy="160020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做完会不会爆痘？</a:t>
            </a:r>
            <a:endParaRPr lang="en-US" sz="1600" dirty="0"/>
          </a:p>
          <a:p>
            <a:pPr indent="0" marL="0">
              <a:spcAft>
                <a:spcPts val="400"/>
              </a:spcAft>
              <a:buNone/>
            </a:pPr>
            <a:r>
              <a:rPr lang="en-US" sz="1300" dirty="0">
                <a:solidFill>
                  <a:srgbClr val="CFE0D2"/>
                </a:solidFill>
              </a:rPr>
              <a:t>Will I break out after treatment?</a:t>
            </a:r>
            <a:endParaRPr lang="en-US" sz="1600" dirty="0"/>
          </a:p>
        </p:txBody>
      </p:sp>
      <p:sp>
        <p:nvSpPr>
          <p:cNvPr id="6" name="faq say 3"/>
          <p:cNvSpPr/>
          <p:nvPr/>
        </p:nvSpPr>
        <p:spPr>
          <a:xfrm>
            <a:off x="3611880" y="1417320"/>
            <a:ext cx="4937760" cy="2286000"/>
          </a:xfrm>
          <a:prstGeom prst="roundRect">
            <a:avLst>
              <a:gd name="adj" fmla="val 4800"/>
            </a:avLst>
          </a:prstGeom>
          <a:solidFill>
            <a:schemeClr val="bg2"/>
          </a:solidFill>
          <a:ln/>
        </p:spPr>
      </p:sp>
      <p:sp>
        <p:nvSpPr>
          <p:cNvPr id="7" name="Text 5"/>
          <p:cNvSpPr txBox="1"/>
          <p:nvPr/>
        </p:nvSpPr>
        <p:spPr>
          <a:xfrm>
            <a:off x="3840480" y="1527048"/>
            <a:ext cx="3200400" cy="292608"/>
          </a:xfrm>
          <a:prstGeom prst="rect">
            <a:avLst/>
          </a:prstGeom>
          <a:noFill/>
          <a:ln/>
        </p:spPr>
        <p:txBody>
          <a:bodyPr wrap="square" lIns="0" tIns="0" rIns="0" bIns="0" rtlCol="0" anchor="ctr"/>
          <a:lstStyle/>
          <a:p>
            <a:pPr indent="0" marL="0">
              <a:buNone/>
            </a:pPr>
            <a:r>
              <a:rPr lang="en-US" sz="1200" b="1" dirty="0">
                <a:solidFill>
                  <a:schemeClr val="accent1"/>
                </a:solidFill>
              </a:rPr>
              <a:t>员工回答 Say this</a:t>
            </a:r>
            <a:endParaRPr lang="en-US" sz="1200" dirty="0"/>
          </a:p>
        </p:txBody>
      </p:sp>
      <p:sp>
        <p:nvSpPr>
          <p:cNvPr id="8" name="Text 6"/>
          <p:cNvSpPr txBox="1"/>
          <p:nvPr/>
        </p:nvSpPr>
        <p:spPr>
          <a:xfrm>
            <a:off x="3840480" y="1874520"/>
            <a:ext cx="4480560" cy="1783080"/>
          </a:xfrm>
          <a:prstGeom prst="rect">
            <a:avLst/>
          </a:prstGeom>
          <a:noFill/>
          <a:ln/>
        </p:spPr>
        <p:txBody>
          <a:bodyPr wrap="square" lIns="0" tIns="0" rIns="0" bIns="0" rtlCol="0" anchor="t"/>
          <a:lstStyle/>
          <a:p>
            <a:pPr indent="0" marL="0">
              <a:spcAft>
                <a:spcPts val="400"/>
              </a:spcAft>
              <a:buNone/>
            </a:pPr>
            <a:r>
              <a:rPr lang="en-US" sz="1450" dirty="0">
                <a:solidFill>
                  <a:schemeClr val="tx1"/>
                </a:solidFill>
              </a:rPr>
              <a:t>部分顾客护理后可能会暂时出现粉刺或痘痘变化，但不是每个人都会发生。如果出现大量新痘、明显红肿或持续恶化，我们需要重新评估皮肤情况。</a:t>
            </a:r>
            <a:endParaRPr lang="en-US" sz="1450" dirty="0"/>
          </a:p>
          <a:p>
            <a:pPr indent="0" marL="0">
              <a:spcAft>
                <a:spcPts val="400"/>
              </a:spcAft>
              <a:buNone/>
            </a:pPr>
            <a:r>
              <a:rPr lang="en-US" sz="1250" dirty="0">
                <a:solidFill>
                  <a:schemeClr val="accent6"/>
                </a:solidFill>
              </a:rPr>
              <a:t>Some clients may see temporary changes in comedones or pimples, but not everyone does. If many new pimples, marked redness or ongoing worsening appear, we will reassess your skin.</a:t>
            </a:r>
            <a:endParaRPr lang="en-US" sz="1450" dirty="0"/>
          </a:p>
        </p:txBody>
      </p:sp>
      <p:sp>
        <p:nvSpPr>
          <p:cNvPr id="9" name="faq knowledge 3"/>
          <p:cNvSpPr/>
          <p:nvPr/>
        </p:nvSpPr>
        <p:spPr>
          <a:xfrm>
            <a:off x="8686800" y="1417320"/>
            <a:ext cx="3017520" cy="2286000"/>
          </a:xfrm>
          <a:prstGeom prst="roundRect">
            <a:avLst>
              <a:gd name="adj" fmla="val 4800"/>
            </a:avLst>
          </a:prstGeom>
          <a:solidFill>
            <a:srgbClr val="FBF1D6"/>
          </a:solidFill>
          <a:ln/>
        </p:spPr>
      </p:sp>
      <p:sp>
        <p:nvSpPr>
          <p:cNvPr id="10" name="Text 8"/>
          <p:cNvSpPr txBox="1"/>
          <p:nvPr/>
        </p:nvSpPr>
        <p:spPr>
          <a:xfrm>
            <a:off x="8915400" y="1527048"/>
            <a:ext cx="2743200" cy="292608"/>
          </a:xfrm>
          <a:prstGeom prst="rect">
            <a:avLst/>
          </a:prstGeom>
          <a:noFill/>
          <a:ln/>
        </p:spPr>
        <p:txBody>
          <a:bodyPr wrap="square" lIns="0" tIns="0" rIns="0" bIns="0" rtlCol="0" anchor="ctr"/>
          <a:lstStyle/>
          <a:p>
            <a:pPr indent="0" marL="0">
              <a:buNone/>
            </a:pPr>
            <a:r>
              <a:rPr lang="en-US" sz="1200" b="1" dirty="0">
                <a:solidFill>
                  <a:schemeClr val="accent2"/>
                </a:solidFill>
              </a:rPr>
              <a:t>员工知识 Staff knowledge</a:t>
            </a:r>
            <a:endParaRPr lang="en-US" sz="1200" dirty="0"/>
          </a:p>
        </p:txBody>
      </p:sp>
      <p:sp>
        <p:nvSpPr>
          <p:cNvPr id="11" name="Text 9"/>
          <p:cNvSpPr txBox="1"/>
          <p:nvPr/>
        </p:nvSpPr>
        <p:spPr>
          <a:xfrm>
            <a:off x="8915400" y="1874520"/>
            <a:ext cx="2560320" cy="1783080"/>
          </a:xfrm>
          <a:prstGeom prst="rect">
            <a:avLst/>
          </a:prstGeom>
          <a:noFill/>
          <a:ln/>
        </p:spPr>
        <p:txBody>
          <a:bodyPr wrap="square" lIns="0" tIns="0" rIns="0" bIns="0" rtlCol="0" anchor="t"/>
          <a:lstStyle/>
          <a:p>
            <a:pPr indent="0" marL="0">
              <a:spcAft>
                <a:spcPts val="400"/>
              </a:spcAft>
              <a:buNone/>
            </a:pPr>
            <a:r>
              <a:rPr lang="en-US" sz="1350" b="1" dirty="0">
                <a:solidFill>
                  <a:schemeClr val="tx1"/>
                </a:solidFill>
              </a:rPr>
              <a:t>不要把所有爆痘都解释为「排毒」或「把脏东西排出来」。也可能是刺激、毛囊炎或产品不耐受。</a:t>
            </a:r>
            <a:endParaRPr lang="en-US" sz="1350" dirty="0"/>
          </a:p>
          <a:p>
            <a:pPr indent="0" marL="0">
              <a:spcAft>
                <a:spcPts val="400"/>
              </a:spcAft>
              <a:buNone/>
            </a:pPr>
            <a:r>
              <a:rPr lang="en-US" sz="1150" dirty="0">
                <a:solidFill>
                  <a:schemeClr val="accent6"/>
                </a:solidFill>
              </a:rPr>
              <a:t>Don't explain every breakout as “detox” or “purging” — it may be irritation, folliculitis or product intolerance.</a:t>
            </a:r>
            <a:endParaRPr lang="en-US" sz="1350" dirty="0"/>
          </a:p>
        </p:txBody>
      </p:sp>
      <p:sp>
        <p:nvSpPr>
          <p:cNvPr id="12" name="faq question 4"/>
          <p:cNvSpPr/>
          <p:nvPr/>
        </p:nvSpPr>
        <p:spPr>
          <a:xfrm>
            <a:off x="457200" y="3886200"/>
            <a:ext cx="3017520" cy="2286000"/>
          </a:xfrm>
          <a:prstGeom prst="roundRect">
            <a:avLst>
              <a:gd name="adj" fmla="val 4800"/>
            </a:avLst>
          </a:prstGeom>
          <a:solidFill>
            <a:schemeClr val="tx2"/>
          </a:solidFill>
          <a:ln/>
        </p:spPr>
      </p:sp>
      <p:sp>
        <p:nvSpPr>
          <p:cNvPr id="13" name="Text 11"/>
          <p:cNvSpPr txBox="1"/>
          <p:nvPr/>
        </p:nvSpPr>
        <p:spPr>
          <a:xfrm>
            <a:off x="685800" y="4023360"/>
            <a:ext cx="1097280" cy="411480"/>
          </a:xfrm>
          <a:prstGeom prst="rect">
            <a:avLst/>
          </a:prstGeom>
          <a:noFill/>
          <a:ln/>
        </p:spPr>
        <p:txBody>
          <a:bodyPr wrap="square" lIns="0" tIns="0" rIns="0" bIns="0" rtlCol="0" anchor="ctr"/>
          <a:lstStyle/>
          <a:p>
            <a:pPr indent="0" marL="0">
              <a:buNone/>
            </a:pPr>
            <a:r>
              <a:rPr lang="en-US" sz="2200" b="1" dirty="0">
                <a:solidFill>
                  <a:schemeClr val="accent4"/>
                </a:solidFill>
              </a:rPr>
              <a:t>Q4</a:t>
            </a:r>
            <a:endParaRPr lang="en-US" sz="2200" dirty="0"/>
          </a:p>
        </p:txBody>
      </p:sp>
      <p:sp>
        <p:nvSpPr>
          <p:cNvPr id="14" name="Text 12"/>
          <p:cNvSpPr txBox="1"/>
          <p:nvPr/>
        </p:nvSpPr>
        <p:spPr>
          <a:xfrm>
            <a:off x="685800" y="4526280"/>
            <a:ext cx="2606040" cy="160020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敏感肌可以做吗？</a:t>
            </a:r>
            <a:endParaRPr lang="en-US" sz="1600" dirty="0"/>
          </a:p>
          <a:p>
            <a:pPr indent="0" marL="0">
              <a:spcAft>
                <a:spcPts val="400"/>
              </a:spcAft>
              <a:buNone/>
            </a:pPr>
            <a:r>
              <a:rPr lang="en-US" sz="1300" dirty="0">
                <a:solidFill>
                  <a:srgbClr val="CFE0D2"/>
                </a:solidFill>
              </a:rPr>
              <a:t>Can sensitive skin have it?</a:t>
            </a:r>
            <a:endParaRPr lang="en-US" sz="1600" dirty="0"/>
          </a:p>
        </p:txBody>
      </p:sp>
      <p:sp>
        <p:nvSpPr>
          <p:cNvPr id="15" name="faq say 4"/>
          <p:cNvSpPr/>
          <p:nvPr/>
        </p:nvSpPr>
        <p:spPr>
          <a:xfrm>
            <a:off x="3611880" y="3886200"/>
            <a:ext cx="4937760" cy="2286000"/>
          </a:xfrm>
          <a:prstGeom prst="roundRect">
            <a:avLst>
              <a:gd name="adj" fmla="val 4800"/>
            </a:avLst>
          </a:prstGeom>
          <a:solidFill>
            <a:schemeClr val="bg2"/>
          </a:solidFill>
          <a:ln/>
        </p:spPr>
      </p:sp>
      <p:sp>
        <p:nvSpPr>
          <p:cNvPr id="16" name="Text 14"/>
          <p:cNvSpPr txBox="1"/>
          <p:nvPr/>
        </p:nvSpPr>
        <p:spPr>
          <a:xfrm>
            <a:off x="3840480" y="3995928"/>
            <a:ext cx="3200400" cy="292608"/>
          </a:xfrm>
          <a:prstGeom prst="rect">
            <a:avLst/>
          </a:prstGeom>
          <a:noFill/>
          <a:ln/>
        </p:spPr>
        <p:txBody>
          <a:bodyPr wrap="square" lIns="0" tIns="0" rIns="0" bIns="0" rtlCol="0" anchor="ctr"/>
          <a:lstStyle/>
          <a:p>
            <a:pPr indent="0" marL="0">
              <a:buNone/>
            </a:pPr>
            <a:r>
              <a:rPr lang="en-US" sz="1200" b="1" dirty="0">
                <a:solidFill>
                  <a:schemeClr val="accent1"/>
                </a:solidFill>
              </a:rPr>
              <a:t>员工回答 Say this</a:t>
            </a:r>
            <a:endParaRPr lang="en-US" sz="1200" dirty="0"/>
          </a:p>
        </p:txBody>
      </p:sp>
      <p:sp>
        <p:nvSpPr>
          <p:cNvPr id="17" name="Text 15"/>
          <p:cNvSpPr txBox="1"/>
          <p:nvPr/>
        </p:nvSpPr>
        <p:spPr>
          <a:xfrm>
            <a:off x="3840480" y="4343400"/>
            <a:ext cx="4480560" cy="1783080"/>
          </a:xfrm>
          <a:prstGeom prst="rect">
            <a:avLst/>
          </a:prstGeom>
          <a:noFill/>
          <a:ln/>
        </p:spPr>
        <p:txBody>
          <a:bodyPr wrap="square" lIns="0" tIns="0" rIns="0" bIns="0" rtlCol="0" anchor="t"/>
          <a:lstStyle/>
          <a:p>
            <a:pPr indent="0" marL="0">
              <a:spcAft>
                <a:spcPts val="400"/>
              </a:spcAft>
              <a:buNone/>
            </a:pPr>
            <a:r>
              <a:rPr lang="en-US" sz="1450" dirty="0">
                <a:solidFill>
                  <a:schemeClr val="tx1"/>
                </a:solidFill>
              </a:rPr>
              <a:t>要先看您的皮肤情况。如果只是偶尔敏感，不一定完全不能做，但如果目前有泛红、刺痛、脱皮或皮肤屏障受损，我们会建议先修复皮肤，再考虑焕肤护理。</a:t>
            </a:r>
            <a:endParaRPr lang="en-US" sz="1450" dirty="0"/>
          </a:p>
          <a:p>
            <a:pPr indent="0" marL="0">
              <a:spcAft>
                <a:spcPts val="400"/>
              </a:spcAft>
              <a:buNone/>
            </a:pPr>
            <a:r>
              <a:rPr lang="en-US" sz="1250" dirty="0">
                <a:solidFill>
                  <a:schemeClr val="accent6"/>
                </a:solidFill>
              </a:rPr>
              <a:t>It depends on your skin. Occasional sensitivity doesn't always rule it out, but if you currently have redness, stinging, flaking or a damaged barrier, we recommend repairing the skin first.</a:t>
            </a:r>
            <a:endParaRPr lang="en-US" sz="1450" dirty="0"/>
          </a:p>
        </p:txBody>
      </p:sp>
      <p:sp>
        <p:nvSpPr>
          <p:cNvPr id="18" name="faq knowledge 4"/>
          <p:cNvSpPr/>
          <p:nvPr/>
        </p:nvSpPr>
        <p:spPr>
          <a:xfrm>
            <a:off x="8686800" y="3886200"/>
            <a:ext cx="3017520" cy="2286000"/>
          </a:xfrm>
          <a:prstGeom prst="roundRect">
            <a:avLst>
              <a:gd name="adj" fmla="val 4800"/>
            </a:avLst>
          </a:prstGeom>
          <a:solidFill>
            <a:srgbClr val="FBF1D6"/>
          </a:solidFill>
          <a:ln/>
        </p:spPr>
      </p:sp>
      <p:sp>
        <p:nvSpPr>
          <p:cNvPr id="19" name="Text 17"/>
          <p:cNvSpPr txBox="1"/>
          <p:nvPr/>
        </p:nvSpPr>
        <p:spPr>
          <a:xfrm>
            <a:off x="8915400" y="3995928"/>
            <a:ext cx="2743200" cy="292608"/>
          </a:xfrm>
          <a:prstGeom prst="rect">
            <a:avLst/>
          </a:prstGeom>
          <a:noFill/>
          <a:ln/>
        </p:spPr>
        <p:txBody>
          <a:bodyPr wrap="square" lIns="0" tIns="0" rIns="0" bIns="0" rtlCol="0" anchor="ctr"/>
          <a:lstStyle/>
          <a:p>
            <a:pPr indent="0" marL="0">
              <a:buNone/>
            </a:pPr>
            <a:r>
              <a:rPr lang="en-US" sz="1200" b="1" dirty="0">
                <a:solidFill>
                  <a:schemeClr val="accent2"/>
                </a:solidFill>
              </a:rPr>
              <a:t>员工知识 Staff knowledge</a:t>
            </a:r>
            <a:endParaRPr lang="en-US" sz="1200" dirty="0"/>
          </a:p>
        </p:txBody>
      </p:sp>
      <p:sp>
        <p:nvSpPr>
          <p:cNvPr id="20" name="Text 18"/>
          <p:cNvSpPr txBox="1"/>
          <p:nvPr/>
        </p:nvSpPr>
        <p:spPr>
          <a:xfrm>
            <a:off x="8915400" y="4343400"/>
            <a:ext cx="2560320" cy="1783080"/>
          </a:xfrm>
          <a:prstGeom prst="rect">
            <a:avLst/>
          </a:prstGeom>
          <a:noFill/>
          <a:ln/>
        </p:spPr>
        <p:txBody>
          <a:bodyPr wrap="square" lIns="0" tIns="0" rIns="0" bIns="0" rtlCol="0" anchor="t"/>
          <a:lstStyle/>
          <a:p>
            <a:pPr indent="0" marL="0">
              <a:spcAft>
                <a:spcPts val="400"/>
              </a:spcAft>
              <a:buNone/>
            </a:pPr>
            <a:r>
              <a:rPr lang="en-US" sz="1350" b="1" dirty="0">
                <a:solidFill>
                  <a:schemeClr val="tx1"/>
                </a:solidFill>
              </a:rPr>
              <a:t>敏感肌不等于一定适合 LHA。应按产品浓度、品牌禁忌及顾客皮肤状况判断。</a:t>
            </a:r>
            <a:endParaRPr lang="en-US" sz="1350" dirty="0"/>
          </a:p>
          <a:p>
            <a:pPr indent="0" marL="0">
              <a:spcAft>
                <a:spcPts val="400"/>
              </a:spcAft>
              <a:buNone/>
            </a:pPr>
            <a:r>
              <a:rPr lang="en-US" sz="1150" dirty="0">
                <a:solidFill>
                  <a:schemeClr val="accent6"/>
                </a:solidFill>
              </a:rPr>
              <a:t>Sensitive skin is not automatically suitable for LHA. Decide by product strength, brand contraindications and the client's skin condition.</a:t>
            </a:r>
            <a:endParaRPr lang="en-US" sz="13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顾客常见问题 (3/6)</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Customer FAQ · what clients ask most, with standard answers 标准回答话术</a:t>
            </a:r>
            <a:endParaRPr lang="en-US" sz="3000" dirty="0"/>
          </a:p>
        </p:txBody>
      </p:sp>
      <p:sp>
        <p:nvSpPr>
          <p:cNvPr id="3" name="faq question 5"/>
          <p:cNvSpPr/>
          <p:nvPr/>
        </p:nvSpPr>
        <p:spPr>
          <a:xfrm>
            <a:off x="457200" y="1417320"/>
            <a:ext cx="3017520" cy="2286000"/>
          </a:xfrm>
          <a:prstGeom prst="roundRect">
            <a:avLst>
              <a:gd name="adj" fmla="val 4800"/>
            </a:avLst>
          </a:prstGeom>
          <a:solidFill>
            <a:schemeClr val="tx2"/>
          </a:solidFill>
          <a:ln/>
        </p:spPr>
      </p:sp>
      <p:sp>
        <p:nvSpPr>
          <p:cNvPr id="4" name="Text 2"/>
          <p:cNvSpPr txBox="1"/>
          <p:nvPr/>
        </p:nvSpPr>
        <p:spPr>
          <a:xfrm>
            <a:off x="685800" y="1554480"/>
            <a:ext cx="1097280" cy="411480"/>
          </a:xfrm>
          <a:prstGeom prst="rect">
            <a:avLst/>
          </a:prstGeom>
          <a:noFill/>
          <a:ln/>
        </p:spPr>
        <p:txBody>
          <a:bodyPr wrap="square" lIns="0" tIns="0" rIns="0" bIns="0" rtlCol="0" anchor="ctr"/>
          <a:lstStyle/>
          <a:p>
            <a:pPr indent="0" marL="0">
              <a:buNone/>
            </a:pPr>
            <a:r>
              <a:rPr lang="en-US" sz="2200" b="1" dirty="0">
                <a:solidFill>
                  <a:schemeClr val="accent4"/>
                </a:solidFill>
              </a:rPr>
              <a:t>Q5</a:t>
            </a:r>
            <a:endParaRPr lang="en-US" sz="2200" dirty="0"/>
          </a:p>
        </p:txBody>
      </p:sp>
      <p:sp>
        <p:nvSpPr>
          <p:cNvPr id="5" name="Text 3"/>
          <p:cNvSpPr txBox="1"/>
          <p:nvPr/>
        </p:nvSpPr>
        <p:spPr>
          <a:xfrm>
            <a:off x="685800" y="2057400"/>
            <a:ext cx="2606040" cy="160020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XE LHA Peel 可以改善毛孔粗大吗？</a:t>
            </a:r>
            <a:endParaRPr lang="en-US" sz="1600" dirty="0"/>
          </a:p>
          <a:p>
            <a:pPr indent="0" marL="0">
              <a:spcAft>
                <a:spcPts val="400"/>
              </a:spcAft>
              <a:buNone/>
            </a:pPr>
            <a:r>
              <a:rPr lang="en-US" sz="1300" dirty="0">
                <a:solidFill>
                  <a:srgbClr val="CFE0D2"/>
                </a:solidFill>
              </a:rPr>
              <a:t>Can it improve large pores?</a:t>
            </a:r>
            <a:endParaRPr lang="en-US" sz="1600" dirty="0"/>
          </a:p>
        </p:txBody>
      </p:sp>
      <p:sp>
        <p:nvSpPr>
          <p:cNvPr id="6" name="faq say 5"/>
          <p:cNvSpPr/>
          <p:nvPr/>
        </p:nvSpPr>
        <p:spPr>
          <a:xfrm>
            <a:off x="3611880" y="1417320"/>
            <a:ext cx="8046720" cy="2286000"/>
          </a:xfrm>
          <a:prstGeom prst="roundRect">
            <a:avLst>
              <a:gd name="adj" fmla="val 4800"/>
            </a:avLst>
          </a:prstGeom>
          <a:solidFill>
            <a:schemeClr val="bg2"/>
          </a:solidFill>
          <a:ln/>
        </p:spPr>
      </p:sp>
      <p:sp>
        <p:nvSpPr>
          <p:cNvPr id="7" name="Text 5"/>
          <p:cNvSpPr txBox="1"/>
          <p:nvPr/>
        </p:nvSpPr>
        <p:spPr>
          <a:xfrm>
            <a:off x="3840480" y="1527048"/>
            <a:ext cx="3200400" cy="292608"/>
          </a:xfrm>
          <a:prstGeom prst="rect">
            <a:avLst/>
          </a:prstGeom>
          <a:noFill/>
          <a:ln/>
        </p:spPr>
        <p:txBody>
          <a:bodyPr wrap="square" lIns="0" tIns="0" rIns="0" bIns="0" rtlCol="0" anchor="ctr"/>
          <a:lstStyle/>
          <a:p>
            <a:pPr indent="0" marL="0">
              <a:buNone/>
            </a:pPr>
            <a:r>
              <a:rPr lang="en-US" sz="1200" b="1" dirty="0">
                <a:solidFill>
                  <a:schemeClr val="accent1"/>
                </a:solidFill>
              </a:rPr>
              <a:t>员工回答 Say this</a:t>
            </a:r>
            <a:endParaRPr lang="en-US" sz="1200" dirty="0"/>
          </a:p>
        </p:txBody>
      </p:sp>
      <p:sp>
        <p:nvSpPr>
          <p:cNvPr id="8" name="Text 6"/>
          <p:cNvSpPr txBox="1"/>
          <p:nvPr/>
        </p:nvSpPr>
        <p:spPr>
          <a:xfrm>
            <a:off x="3840480" y="1874520"/>
            <a:ext cx="7589520" cy="1783080"/>
          </a:xfrm>
          <a:prstGeom prst="rect">
            <a:avLst/>
          </a:prstGeom>
          <a:noFill/>
          <a:ln/>
        </p:spPr>
        <p:txBody>
          <a:bodyPr wrap="square" lIns="0" tIns="0" rIns="0" bIns="0" rtlCol="0" anchor="t"/>
          <a:lstStyle/>
          <a:p>
            <a:pPr indent="0" marL="0">
              <a:spcAft>
                <a:spcPts val="400"/>
              </a:spcAft>
              <a:buNone/>
            </a:pPr>
            <a:r>
              <a:rPr lang="en-US" sz="1450" dirty="0">
                <a:solidFill>
                  <a:schemeClr val="tx1"/>
                </a:solidFill>
              </a:rPr>
              <a:t>如果毛孔明显是因为油脂和老废角质堆积，焕肤护理可以帮助改善堵塞，让毛孔看起来比较干净、细致。不过毛孔大小也跟遗传、油脂分泌和皮肤弹性有关，所以不能保证毛孔永久缩小。</a:t>
            </a:r>
            <a:endParaRPr lang="en-US" sz="1450" dirty="0"/>
          </a:p>
          <a:p>
            <a:pPr indent="0" marL="0">
              <a:spcAft>
                <a:spcPts val="400"/>
              </a:spcAft>
              <a:buNone/>
            </a:pPr>
            <a:r>
              <a:rPr lang="en-US" sz="1250" dirty="0">
                <a:solidFill>
                  <a:schemeClr val="accent6"/>
                </a:solidFill>
              </a:rPr>
              <a:t>If pores look obvious because of oil and dead‑skin buildup, a peel can ease the clogging so pores look cleaner and finer. Pore size also depends on genetics, oil production and elasticity, so we cannot promise permanently smaller pores.</a:t>
            </a:r>
            <a:endParaRPr lang="en-US" sz="1450" dirty="0"/>
          </a:p>
        </p:txBody>
      </p:sp>
      <p:sp>
        <p:nvSpPr>
          <p:cNvPr id="9" name="faq question 6"/>
          <p:cNvSpPr/>
          <p:nvPr/>
        </p:nvSpPr>
        <p:spPr>
          <a:xfrm>
            <a:off x="457200" y="3886200"/>
            <a:ext cx="3017520" cy="2286000"/>
          </a:xfrm>
          <a:prstGeom prst="roundRect">
            <a:avLst>
              <a:gd name="adj" fmla="val 4800"/>
            </a:avLst>
          </a:prstGeom>
          <a:solidFill>
            <a:schemeClr val="tx2"/>
          </a:solidFill>
          <a:ln/>
        </p:spPr>
      </p:sp>
      <p:sp>
        <p:nvSpPr>
          <p:cNvPr id="10" name="Text 8"/>
          <p:cNvSpPr txBox="1"/>
          <p:nvPr/>
        </p:nvSpPr>
        <p:spPr>
          <a:xfrm>
            <a:off x="685800" y="4023360"/>
            <a:ext cx="1097280" cy="411480"/>
          </a:xfrm>
          <a:prstGeom prst="rect">
            <a:avLst/>
          </a:prstGeom>
          <a:noFill/>
          <a:ln/>
        </p:spPr>
        <p:txBody>
          <a:bodyPr wrap="square" lIns="0" tIns="0" rIns="0" bIns="0" rtlCol="0" anchor="ctr"/>
          <a:lstStyle/>
          <a:p>
            <a:pPr indent="0" marL="0">
              <a:buNone/>
            </a:pPr>
            <a:r>
              <a:rPr lang="en-US" sz="2200" b="1" dirty="0">
                <a:solidFill>
                  <a:schemeClr val="accent4"/>
                </a:solidFill>
              </a:rPr>
              <a:t>Q6</a:t>
            </a:r>
            <a:endParaRPr lang="en-US" sz="2200" dirty="0"/>
          </a:p>
        </p:txBody>
      </p:sp>
      <p:sp>
        <p:nvSpPr>
          <p:cNvPr id="11" name="Text 9"/>
          <p:cNvSpPr txBox="1"/>
          <p:nvPr/>
        </p:nvSpPr>
        <p:spPr>
          <a:xfrm>
            <a:off x="685800" y="4526280"/>
            <a:ext cx="2606040" cy="160020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可以改善黑头和闭口粉刺吗？</a:t>
            </a:r>
            <a:endParaRPr lang="en-US" sz="1600" dirty="0"/>
          </a:p>
          <a:p>
            <a:pPr indent="0" marL="0">
              <a:spcAft>
                <a:spcPts val="400"/>
              </a:spcAft>
              <a:buNone/>
            </a:pPr>
            <a:r>
              <a:rPr lang="en-US" sz="1300" dirty="0">
                <a:solidFill>
                  <a:srgbClr val="CFE0D2"/>
                </a:solidFill>
              </a:rPr>
              <a:t>Can it help blackheads and closed comedones?</a:t>
            </a:r>
            <a:endParaRPr lang="en-US" sz="1600" dirty="0"/>
          </a:p>
        </p:txBody>
      </p:sp>
      <p:sp>
        <p:nvSpPr>
          <p:cNvPr id="12" name="faq say 6"/>
          <p:cNvSpPr/>
          <p:nvPr/>
        </p:nvSpPr>
        <p:spPr>
          <a:xfrm>
            <a:off x="3611880" y="3886200"/>
            <a:ext cx="8046720" cy="2286000"/>
          </a:xfrm>
          <a:prstGeom prst="roundRect">
            <a:avLst>
              <a:gd name="adj" fmla="val 4800"/>
            </a:avLst>
          </a:prstGeom>
          <a:solidFill>
            <a:schemeClr val="bg2"/>
          </a:solidFill>
          <a:ln/>
        </p:spPr>
      </p:sp>
      <p:sp>
        <p:nvSpPr>
          <p:cNvPr id="13" name="Text 11"/>
          <p:cNvSpPr txBox="1"/>
          <p:nvPr/>
        </p:nvSpPr>
        <p:spPr>
          <a:xfrm>
            <a:off x="3840480" y="3995928"/>
            <a:ext cx="3200400" cy="292608"/>
          </a:xfrm>
          <a:prstGeom prst="rect">
            <a:avLst/>
          </a:prstGeom>
          <a:noFill/>
          <a:ln/>
        </p:spPr>
        <p:txBody>
          <a:bodyPr wrap="square" lIns="0" tIns="0" rIns="0" bIns="0" rtlCol="0" anchor="ctr"/>
          <a:lstStyle/>
          <a:p>
            <a:pPr indent="0" marL="0">
              <a:buNone/>
            </a:pPr>
            <a:r>
              <a:rPr lang="en-US" sz="1200" b="1" dirty="0">
                <a:solidFill>
                  <a:schemeClr val="accent1"/>
                </a:solidFill>
              </a:rPr>
              <a:t>员工回答 Say this</a:t>
            </a:r>
            <a:endParaRPr lang="en-US" sz="1200" dirty="0"/>
          </a:p>
        </p:txBody>
      </p:sp>
      <p:sp>
        <p:nvSpPr>
          <p:cNvPr id="14" name="Text 12"/>
          <p:cNvSpPr txBox="1"/>
          <p:nvPr/>
        </p:nvSpPr>
        <p:spPr>
          <a:xfrm>
            <a:off x="3840480" y="4343400"/>
            <a:ext cx="7589520" cy="1783080"/>
          </a:xfrm>
          <a:prstGeom prst="rect">
            <a:avLst/>
          </a:prstGeom>
          <a:noFill/>
          <a:ln/>
        </p:spPr>
        <p:txBody>
          <a:bodyPr wrap="square" lIns="0" tIns="0" rIns="0" bIns="0" rtlCol="0" anchor="t"/>
          <a:lstStyle/>
          <a:p>
            <a:pPr indent="0" marL="0">
              <a:spcAft>
                <a:spcPts val="400"/>
              </a:spcAft>
              <a:buNone/>
            </a:pPr>
            <a:r>
              <a:rPr lang="en-US" sz="1450" dirty="0">
                <a:solidFill>
                  <a:schemeClr val="tx1"/>
                </a:solidFill>
              </a:rPr>
              <a:t>可以帮助改善因角质堆积而形成的毛孔堵塞，对部分黑头和闭口粉刺问题有帮助。不过需要看粉刺的严重程度，也不是做一次就能全部清除。</a:t>
            </a:r>
            <a:endParaRPr lang="en-US" sz="1450" dirty="0"/>
          </a:p>
          <a:p>
            <a:pPr indent="0" marL="0">
              <a:spcAft>
                <a:spcPts val="400"/>
              </a:spcAft>
              <a:buNone/>
            </a:pPr>
            <a:r>
              <a:rPr lang="en-US" sz="1250" dirty="0">
                <a:solidFill>
                  <a:schemeClr val="accent6"/>
                </a:solidFill>
              </a:rPr>
              <a:t>It can help with pore clogging caused by dead‑skin buildup and may help some blackheads and closed comedones. Results depend on severity, and one session will not clear everything.</a:t>
            </a:r>
            <a:endParaRPr lang="en-US" sz="14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顾客常见问题 (4/6)</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Customer FAQ · what clients ask most, with standard answers 标准回答话术</a:t>
            </a:r>
            <a:endParaRPr lang="en-US" sz="3000" dirty="0"/>
          </a:p>
        </p:txBody>
      </p:sp>
      <p:sp>
        <p:nvSpPr>
          <p:cNvPr id="3" name="faq question 7"/>
          <p:cNvSpPr/>
          <p:nvPr/>
        </p:nvSpPr>
        <p:spPr>
          <a:xfrm>
            <a:off x="457200" y="1417320"/>
            <a:ext cx="3017520" cy="2286000"/>
          </a:xfrm>
          <a:prstGeom prst="roundRect">
            <a:avLst>
              <a:gd name="adj" fmla="val 4800"/>
            </a:avLst>
          </a:prstGeom>
          <a:solidFill>
            <a:schemeClr val="tx2"/>
          </a:solidFill>
          <a:ln/>
        </p:spPr>
      </p:sp>
      <p:sp>
        <p:nvSpPr>
          <p:cNvPr id="4" name="Text 2"/>
          <p:cNvSpPr txBox="1"/>
          <p:nvPr/>
        </p:nvSpPr>
        <p:spPr>
          <a:xfrm>
            <a:off x="685800" y="1554480"/>
            <a:ext cx="1097280" cy="411480"/>
          </a:xfrm>
          <a:prstGeom prst="rect">
            <a:avLst/>
          </a:prstGeom>
          <a:noFill/>
          <a:ln/>
        </p:spPr>
        <p:txBody>
          <a:bodyPr wrap="square" lIns="0" tIns="0" rIns="0" bIns="0" rtlCol="0" anchor="ctr"/>
          <a:lstStyle/>
          <a:p>
            <a:pPr indent="0" marL="0">
              <a:buNone/>
            </a:pPr>
            <a:r>
              <a:rPr lang="en-US" sz="2200" b="1" dirty="0">
                <a:solidFill>
                  <a:schemeClr val="accent4"/>
                </a:solidFill>
              </a:rPr>
              <a:t>Q7</a:t>
            </a:r>
            <a:endParaRPr lang="en-US" sz="2200" dirty="0"/>
          </a:p>
        </p:txBody>
      </p:sp>
      <p:sp>
        <p:nvSpPr>
          <p:cNvPr id="5" name="Text 3"/>
          <p:cNvSpPr txBox="1"/>
          <p:nvPr/>
        </p:nvSpPr>
        <p:spPr>
          <a:xfrm>
            <a:off x="685800" y="2057400"/>
            <a:ext cx="2606040" cy="160020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XE LHA Peel 可以改善痘印吗？</a:t>
            </a:r>
            <a:endParaRPr lang="en-US" sz="1600" dirty="0"/>
          </a:p>
          <a:p>
            <a:pPr indent="0" marL="0">
              <a:spcAft>
                <a:spcPts val="400"/>
              </a:spcAft>
              <a:buNone/>
            </a:pPr>
            <a:r>
              <a:rPr lang="en-US" sz="1300" dirty="0">
                <a:solidFill>
                  <a:srgbClr val="CFE0D2"/>
                </a:solidFill>
              </a:rPr>
              <a:t>Can it improve acne marks?</a:t>
            </a:r>
            <a:endParaRPr lang="en-US" sz="1600" dirty="0"/>
          </a:p>
        </p:txBody>
      </p:sp>
      <p:sp>
        <p:nvSpPr>
          <p:cNvPr id="6" name="faq say 7"/>
          <p:cNvSpPr/>
          <p:nvPr/>
        </p:nvSpPr>
        <p:spPr>
          <a:xfrm>
            <a:off x="3611880" y="1417320"/>
            <a:ext cx="4937760" cy="2286000"/>
          </a:xfrm>
          <a:prstGeom prst="roundRect">
            <a:avLst>
              <a:gd name="adj" fmla="val 4800"/>
            </a:avLst>
          </a:prstGeom>
          <a:solidFill>
            <a:schemeClr val="bg2"/>
          </a:solidFill>
          <a:ln/>
        </p:spPr>
      </p:sp>
      <p:sp>
        <p:nvSpPr>
          <p:cNvPr id="7" name="Text 5"/>
          <p:cNvSpPr txBox="1"/>
          <p:nvPr/>
        </p:nvSpPr>
        <p:spPr>
          <a:xfrm>
            <a:off x="3840480" y="1527048"/>
            <a:ext cx="3200400" cy="292608"/>
          </a:xfrm>
          <a:prstGeom prst="rect">
            <a:avLst/>
          </a:prstGeom>
          <a:noFill/>
          <a:ln/>
        </p:spPr>
        <p:txBody>
          <a:bodyPr wrap="square" lIns="0" tIns="0" rIns="0" bIns="0" rtlCol="0" anchor="ctr"/>
          <a:lstStyle/>
          <a:p>
            <a:pPr indent="0" marL="0">
              <a:buNone/>
            </a:pPr>
            <a:r>
              <a:rPr lang="en-US" sz="1200" b="1" dirty="0">
                <a:solidFill>
                  <a:schemeClr val="accent1"/>
                </a:solidFill>
              </a:rPr>
              <a:t>员工回答 Say this</a:t>
            </a:r>
            <a:endParaRPr lang="en-US" sz="1200" dirty="0"/>
          </a:p>
        </p:txBody>
      </p:sp>
      <p:sp>
        <p:nvSpPr>
          <p:cNvPr id="8" name="Text 6"/>
          <p:cNvSpPr txBox="1"/>
          <p:nvPr/>
        </p:nvSpPr>
        <p:spPr>
          <a:xfrm>
            <a:off x="3840480" y="1874520"/>
            <a:ext cx="4480560" cy="1783080"/>
          </a:xfrm>
          <a:prstGeom prst="rect">
            <a:avLst/>
          </a:prstGeom>
          <a:noFill/>
          <a:ln/>
        </p:spPr>
        <p:txBody>
          <a:bodyPr wrap="square" lIns="0" tIns="0" rIns="0" bIns="0" rtlCol="0" anchor="t"/>
          <a:lstStyle/>
          <a:p>
            <a:pPr indent="0" marL="0">
              <a:spcAft>
                <a:spcPts val="400"/>
              </a:spcAft>
              <a:buNone/>
            </a:pPr>
            <a:r>
              <a:rPr lang="en-US" sz="1450" dirty="0">
                <a:solidFill>
                  <a:schemeClr val="tx1"/>
                </a:solidFill>
              </a:rPr>
              <a:t>如果是痘痘后留下的浅层暗沉或色素沉着，适当的焕肤护理可能有助于逐渐改善。但如果是凹洞型痘疤，就不是单靠焕肤能够解决的。</a:t>
            </a:r>
            <a:endParaRPr lang="en-US" sz="1450" dirty="0"/>
          </a:p>
          <a:p>
            <a:pPr indent="0" marL="0">
              <a:spcAft>
                <a:spcPts val="400"/>
              </a:spcAft>
              <a:buNone/>
            </a:pPr>
            <a:r>
              <a:rPr lang="en-US" sz="1250" dirty="0">
                <a:solidFill>
                  <a:schemeClr val="accent6"/>
                </a:solidFill>
              </a:rPr>
              <a:t>For superficial dullness or pigmentation left after pimples, suitable peeling may help gradually. Pitted (depressed) acne scars cannot be solved by peeling alone.</a:t>
            </a:r>
            <a:endParaRPr lang="en-US" sz="1450" dirty="0"/>
          </a:p>
        </p:txBody>
      </p:sp>
      <p:sp>
        <p:nvSpPr>
          <p:cNvPr id="9" name="faq knowledge 7"/>
          <p:cNvSpPr/>
          <p:nvPr/>
        </p:nvSpPr>
        <p:spPr>
          <a:xfrm>
            <a:off x="8686800" y="1417320"/>
            <a:ext cx="3017520" cy="2286000"/>
          </a:xfrm>
          <a:prstGeom prst="roundRect">
            <a:avLst>
              <a:gd name="adj" fmla="val 4800"/>
            </a:avLst>
          </a:prstGeom>
          <a:solidFill>
            <a:srgbClr val="FBF1D6"/>
          </a:solidFill>
          <a:ln/>
        </p:spPr>
      </p:sp>
      <p:sp>
        <p:nvSpPr>
          <p:cNvPr id="10" name="Text 8"/>
          <p:cNvSpPr txBox="1"/>
          <p:nvPr/>
        </p:nvSpPr>
        <p:spPr>
          <a:xfrm>
            <a:off x="8915400" y="1527048"/>
            <a:ext cx="2743200" cy="292608"/>
          </a:xfrm>
          <a:prstGeom prst="rect">
            <a:avLst/>
          </a:prstGeom>
          <a:noFill/>
          <a:ln/>
        </p:spPr>
        <p:txBody>
          <a:bodyPr wrap="square" lIns="0" tIns="0" rIns="0" bIns="0" rtlCol="0" anchor="ctr"/>
          <a:lstStyle/>
          <a:p>
            <a:pPr indent="0" marL="0">
              <a:buNone/>
            </a:pPr>
            <a:r>
              <a:rPr lang="en-US" sz="1200" b="1" dirty="0">
                <a:solidFill>
                  <a:schemeClr val="accent2"/>
                </a:solidFill>
              </a:rPr>
              <a:t>员工知识 Staff knowledge</a:t>
            </a:r>
            <a:endParaRPr lang="en-US" sz="1200" dirty="0"/>
          </a:p>
        </p:txBody>
      </p:sp>
      <p:sp>
        <p:nvSpPr>
          <p:cNvPr id="11" name="Text 9"/>
          <p:cNvSpPr txBox="1"/>
          <p:nvPr/>
        </p:nvSpPr>
        <p:spPr>
          <a:xfrm>
            <a:off x="8915400" y="1874520"/>
            <a:ext cx="2560320" cy="1783080"/>
          </a:xfrm>
          <a:prstGeom prst="rect">
            <a:avLst/>
          </a:prstGeom>
          <a:noFill/>
          <a:ln/>
        </p:spPr>
        <p:txBody>
          <a:bodyPr wrap="square" lIns="0" tIns="0" rIns="0" bIns="0" rtlCol="0" anchor="t"/>
          <a:lstStyle/>
          <a:p>
            <a:pPr indent="0" marL="0">
              <a:spcAft>
                <a:spcPts val="400"/>
              </a:spcAft>
              <a:buNone/>
            </a:pPr>
            <a:r>
              <a:rPr lang="en-US" sz="1350" b="1" dirty="0">
                <a:solidFill>
                  <a:schemeClr val="tx1"/>
                </a:solidFill>
              </a:rPr>
              <a:t>要分清色素型痘印、红色痘印和凹陷型痘疤，不能承诺全部都能改善。</a:t>
            </a:r>
            <a:endParaRPr lang="en-US" sz="1350" dirty="0"/>
          </a:p>
          <a:p>
            <a:pPr indent="0" marL="0">
              <a:spcAft>
                <a:spcPts val="400"/>
              </a:spcAft>
              <a:buNone/>
            </a:pPr>
            <a:r>
              <a:rPr lang="en-US" sz="1150" dirty="0">
                <a:solidFill>
                  <a:schemeClr val="accent6"/>
                </a:solidFill>
              </a:rPr>
              <a:t>Distinguish pigmented marks, red marks and depressed scars — never promise that all will improve.</a:t>
            </a:r>
            <a:endParaRPr lang="en-US" sz="1350" dirty="0"/>
          </a:p>
        </p:txBody>
      </p:sp>
      <p:sp>
        <p:nvSpPr>
          <p:cNvPr id="12" name="faq question 8"/>
          <p:cNvSpPr/>
          <p:nvPr/>
        </p:nvSpPr>
        <p:spPr>
          <a:xfrm>
            <a:off x="457200" y="3886200"/>
            <a:ext cx="3017520" cy="2286000"/>
          </a:xfrm>
          <a:prstGeom prst="roundRect">
            <a:avLst>
              <a:gd name="adj" fmla="val 4800"/>
            </a:avLst>
          </a:prstGeom>
          <a:solidFill>
            <a:schemeClr val="tx2"/>
          </a:solidFill>
          <a:ln/>
        </p:spPr>
      </p:sp>
      <p:sp>
        <p:nvSpPr>
          <p:cNvPr id="13" name="Text 11"/>
          <p:cNvSpPr txBox="1"/>
          <p:nvPr/>
        </p:nvSpPr>
        <p:spPr>
          <a:xfrm>
            <a:off x="685800" y="4023360"/>
            <a:ext cx="1097280" cy="411480"/>
          </a:xfrm>
          <a:prstGeom prst="rect">
            <a:avLst/>
          </a:prstGeom>
          <a:noFill/>
          <a:ln/>
        </p:spPr>
        <p:txBody>
          <a:bodyPr wrap="square" lIns="0" tIns="0" rIns="0" bIns="0" rtlCol="0" anchor="ctr"/>
          <a:lstStyle/>
          <a:p>
            <a:pPr indent="0" marL="0">
              <a:buNone/>
            </a:pPr>
            <a:r>
              <a:rPr lang="en-US" sz="2200" b="1" dirty="0">
                <a:solidFill>
                  <a:schemeClr val="accent4"/>
                </a:solidFill>
              </a:rPr>
              <a:t>Q8</a:t>
            </a:r>
            <a:endParaRPr lang="en-US" sz="2200" dirty="0"/>
          </a:p>
        </p:txBody>
      </p:sp>
      <p:sp>
        <p:nvSpPr>
          <p:cNvPr id="14" name="Text 12"/>
          <p:cNvSpPr txBox="1"/>
          <p:nvPr/>
        </p:nvSpPr>
        <p:spPr>
          <a:xfrm>
            <a:off x="685800" y="4526280"/>
            <a:ext cx="2606040" cy="160020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做一次就会有效果吗？</a:t>
            </a:r>
            <a:endParaRPr lang="en-US" sz="1600" dirty="0"/>
          </a:p>
          <a:p>
            <a:pPr indent="0" marL="0">
              <a:spcAft>
                <a:spcPts val="400"/>
              </a:spcAft>
              <a:buNone/>
            </a:pPr>
            <a:r>
              <a:rPr lang="en-US" sz="1300" dirty="0">
                <a:solidFill>
                  <a:srgbClr val="CFE0D2"/>
                </a:solidFill>
              </a:rPr>
              <a:t>Will one session work?</a:t>
            </a:r>
            <a:endParaRPr lang="en-US" sz="1600" dirty="0"/>
          </a:p>
        </p:txBody>
      </p:sp>
      <p:sp>
        <p:nvSpPr>
          <p:cNvPr id="15" name="faq say 8"/>
          <p:cNvSpPr/>
          <p:nvPr/>
        </p:nvSpPr>
        <p:spPr>
          <a:xfrm>
            <a:off x="3611880" y="3886200"/>
            <a:ext cx="8046720" cy="2286000"/>
          </a:xfrm>
          <a:prstGeom prst="roundRect">
            <a:avLst>
              <a:gd name="adj" fmla="val 4800"/>
            </a:avLst>
          </a:prstGeom>
          <a:solidFill>
            <a:schemeClr val="bg2"/>
          </a:solidFill>
          <a:ln/>
        </p:spPr>
      </p:sp>
      <p:sp>
        <p:nvSpPr>
          <p:cNvPr id="16" name="Text 14"/>
          <p:cNvSpPr txBox="1"/>
          <p:nvPr/>
        </p:nvSpPr>
        <p:spPr>
          <a:xfrm>
            <a:off x="3840480" y="3995928"/>
            <a:ext cx="3200400" cy="292608"/>
          </a:xfrm>
          <a:prstGeom prst="rect">
            <a:avLst/>
          </a:prstGeom>
          <a:noFill/>
          <a:ln/>
        </p:spPr>
        <p:txBody>
          <a:bodyPr wrap="square" lIns="0" tIns="0" rIns="0" bIns="0" rtlCol="0" anchor="ctr"/>
          <a:lstStyle/>
          <a:p>
            <a:pPr indent="0" marL="0">
              <a:buNone/>
            </a:pPr>
            <a:r>
              <a:rPr lang="en-US" sz="1200" b="1" dirty="0">
                <a:solidFill>
                  <a:schemeClr val="accent1"/>
                </a:solidFill>
              </a:rPr>
              <a:t>员工回答 Say this</a:t>
            </a:r>
            <a:endParaRPr lang="en-US" sz="1200" dirty="0"/>
          </a:p>
        </p:txBody>
      </p:sp>
      <p:sp>
        <p:nvSpPr>
          <p:cNvPr id="17" name="Text 15"/>
          <p:cNvSpPr txBox="1"/>
          <p:nvPr/>
        </p:nvSpPr>
        <p:spPr>
          <a:xfrm>
            <a:off x="3840480" y="4343400"/>
            <a:ext cx="7589520" cy="1783080"/>
          </a:xfrm>
          <a:prstGeom prst="rect">
            <a:avLst/>
          </a:prstGeom>
          <a:noFill/>
          <a:ln/>
        </p:spPr>
        <p:txBody>
          <a:bodyPr wrap="square" lIns="0" tIns="0" rIns="0" bIns="0" rtlCol="0" anchor="t"/>
          <a:lstStyle/>
          <a:p>
            <a:pPr indent="0" marL="0">
              <a:spcAft>
                <a:spcPts val="400"/>
              </a:spcAft>
              <a:buNone/>
            </a:pPr>
            <a:r>
              <a:rPr lang="en-US" sz="1450" dirty="0">
                <a:solidFill>
                  <a:schemeClr val="tx1"/>
                </a:solidFill>
              </a:rPr>
              <a:t>有些顾客做完一次就会觉得皮肤比较平滑、细腻，但实际改善程度因人而异。如果是长期的粉刺、暗沉或肤质问题，通常需要持续观察和适当护理。</a:t>
            </a:r>
            <a:endParaRPr lang="en-US" sz="1450" dirty="0"/>
          </a:p>
          <a:p>
            <a:pPr indent="0" marL="0">
              <a:spcAft>
                <a:spcPts val="400"/>
              </a:spcAft>
              <a:buNone/>
            </a:pPr>
            <a:r>
              <a:rPr lang="en-US" sz="1250" dirty="0">
                <a:solidFill>
                  <a:schemeClr val="accent6"/>
                </a:solidFill>
              </a:rPr>
              <a:t>Some clients feel smoother, finer skin after one session, but results vary. Long‑term comedones, dullness or texture concerns usually need ongoing observation and suitable care.</a:t>
            </a:r>
            <a:endParaRPr lang="en-US" sz="14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顾客常见问题 (5/6)</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Customer FAQ · what clients ask most, with standard answers 标准回答话术</a:t>
            </a:r>
            <a:endParaRPr lang="en-US" sz="3000" dirty="0"/>
          </a:p>
        </p:txBody>
      </p:sp>
      <p:sp>
        <p:nvSpPr>
          <p:cNvPr id="3" name="faq question 9"/>
          <p:cNvSpPr/>
          <p:nvPr/>
        </p:nvSpPr>
        <p:spPr>
          <a:xfrm>
            <a:off x="457200" y="1417320"/>
            <a:ext cx="3017520" cy="2286000"/>
          </a:xfrm>
          <a:prstGeom prst="roundRect">
            <a:avLst>
              <a:gd name="adj" fmla="val 4800"/>
            </a:avLst>
          </a:prstGeom>
          <a:solidFill>
            <a:schemeClr val="tx2"/>
          </a:solidFill>
          <a:ln/>
        </p:spPr>
      </p:sp>
      <p:sp>
        <p:nvSpPr>
          <p:cNvPr id="4" name="Text 2"/>
          <p:cNvSpPr txBox="1"/>
          <p:nvPr/>
        </p:nvSpPr>
        <p:spPr>
          <a:xfrm>
            <a:off x="685800" y="1554480"/>
            <a:ext cx="1097280" cy="411480"/>
          </a:xfrm>
          <a:prstGeom prst="rect">
            <a:avLst/>
          </a:prstGeom>
          <a:noFill/>
          <a:ln/>
        </p:spPr>
        <p:txBody>
          <a:bodyPr wrap="square" lIns="0" tIns="0" rIns="0" bIns="0" rtlCol="0" anchor="ctr"/>
          <a:lstStyle/>
          <a:p>
            <a:pPr indent="0" marL="0">
              <a:buNone/>
            </a:pPr>
            <a:r>
              <a:rPr lang="en-US" sz="2200" b="1" dirty="0">
                <a:solidFill>
                  <a:schemeClr val="accent4"/>
                </a:solidFill>
              </a:rPr>
              <a:t>Q9</a:t>
            </a:r>
            <a:endParaRPr lang="en-US" sz="2200" dirty="0"/>
          </a:p>
        </p:txBody>
      </p:sp>
      <p:sp>
        <p:nvSpPr>
          <p:cNvPr id="5" name="Text 3"/>
          <p:cNvSpPr txBox="1"/>
          <p:nvPr/>
        </p:nvSpPr>
        <p:spPr>
          <a:xfrm>
            <a:off x="685800" y="2057400"/>
            <a:ext cx="2606040" cy="160020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多久需要做一次？</a:t>
            </a:r>
            <a:endParaRPr lang="en-US" sz="1600" dirty="0"/>
          </a:p>
          <a:p>
            <a:pPr indent="0" marL="0">
              <a:spcAft>
                <a:spcPts val="400"/>
              </a:spcAft>
              <a:buNone/>
            </a:pPr>
            <a:r>
              <a:rPr lang="en-US" sz="1300" dirty="0">
                <a:solidFill>
                  <a:srgbClr val="CFE0D2"/>
                </a:solidFill>
              </a:rPr>
              <a:t>How often should I have it?</a:t>
            </a:r>
            <a:endParaRPr lang="en-US" sz="1600" dirty="0"/>
          </a:p>
        </p:txBody>
      </p:sp>
      <p:sp>
        <p:nvSpPr>
          <p:cNvPr id="6" name="faq say 9"/>
          <p:cNvSpPr/>
          <p:nvPr/>
        </p:nvSpPr>
        <p:spPr>
          <a:xfrm>
            <a:off x="3611880" y="1417320"/>
            <a:ext cx="4937760" cy="2286000"/>
          </a:xfrm>
          <a:prstGeom prst="roundRect">
            <a:avLst>
              <a:gd name="adj" fmla="val 4800"/>
            </a:avLst>
          </a:prstGeom>
          <a:solidFill>
            <a:schemeClr val="bg2"/>
          </a:solidFill>
          <a:ln/>
        </p:spPr>
      </p:sp>
      <p:sp>
        <p:nvSpPr>
          <p:cNvPr id="7" name="Text 5"/>
          <p:cNvSpPr txBox="1"/>
          <p:nvPr/>
        </p:nvSpPr>
        <p:spPr>
          <a:xfrm>
            <a:off x="3840480" y="1527048"/>
            <a:ext cx="3200400" cy="292608"/>
          </a:xfrm>
          <a:prstGeom prst="rect">
            <a:avLst/>
          </a:prstGeom>
          <a:noFill/>
          <a:ln/>
        </p:spPr>
        <p:txBody>
          <a:bodyPr wrap="square" lIns="0" tIns="0" rIns="0" bIns="0" rtlCol="0" anchor="ctr"/>
          <a:lstStyle/>
          <a:p>
            <a:pPr indent="0" marL="0">
              <a:buNone/>
            </a:pPr>
            <a:r>
              <a:rPr lang="en-US" sz="1200" b="1" dirty="0">
                <a:solidFill>
                  <a:schemeClr val="accent1"/>
                </a:solidFill>
              </a:rPr>
              <a:t>员工回答 Say this</a:t>
            </a:r>
            <a:endParaRPr lang="en-US" sz="1200" dirty="0"/>
          </a:p>
        </p:txBody>
      </p:sp>
      <p:sp>
        <p:nvSpPr>
          <p:cNvPr id="8" name="Text 6"/>
          <p:cNvSpPr txBox="1"/>
          <p:nvPr/>
        </p:nvSpPr>
        <p:spPr>
          <a:xfrm>
            <a:off x="3840480" y="1874520"/>
            <a:ext cx="4480560" cy="1783080"/>
          </a:xfrm>
          <a:prstGeom prst="rect">
            <a:avLst/>
          </a:prstGeom>
          <a:noFill/>
          <a:ln/>
        </p:spPr>
        <p:txBody>
          <a:bodyPr wrap="square" lIns="0" tIns="0" rIns="0" bIns="0" rtlCol="0" anchor="t"/>
          <a:lstStyle/>
          <a:p>
            <a:pPr indent="0" marL="0">
              <a:spcAft>
                <a:spcPts val="400"/>
              </a:spcAft>
              <a:buNone/>
            </a:pPr>
            <a:r>
              <a:rPr lang="en-US" sz="1450" dirty="0">
                <a:solidFill>
                  <a:schemeClr val="tx1"/>
                </a:solidFill>
              </a:rPr>
              <a:t>需要根据您的皮肤状况、恢复情况和产品建议来安排，并不是做得越频繁越好。我们会先观察第一次护理后的反应，再建议合适的下一次护理时间。</a:t>
            </a:r>
            <a:endParaRPr lang="en-US" sz="1450" dirty="0"/>
          </a:p>
          <a:p>
            <a:pPr indent="0" marL="0">
              <a:spcAft>
                <a:spcPts val="400"/>
              </a:spcAft>
              <a:buNone/>
            </a:pPr>
            <a:r>
              <a:rPr lang="en-US" sz="1250" dirty="0">
                <a:solidFill>
                  <a:schemeClr val="accent6"/>
                </a:solidFill>
              </a:rPr>
              <a:t>It depends on your skin condition, recovery and product guidance — more often is not better. We observe your reaction after the first session, then suggest a suitable next visit.</a:t>
            </a:r>
            <a:endParaRPr lang="en-US" sz="1450" dirty="0"/>
          </a:p>
        </p:txBody>
      </p:sp>
      <p:sp>
        <p:nvSpPr>
          <p:cNvPr id="9" name="faq knowledge 9"/>
          <p:cNvSpPr/>
          <p:nvPr/>
        </p:nvSpPr>
        <p:spPr>
          <a:xfrm>
            <a:off x="8686800" y="1417320"/>
            <a:ext cx="3017520" cy="2286000"/>
          </a:xfrm>
          <a:prstGeom prst="roundRect">
            <a:avLst>
              <a:gd name="adj" fmla="val 4800"/>
            </a:avLst>
          </a:prstGeom>
          <a:solidFill>
            <a:srgbClr val="FBF1D6"/>
          </a:solidFill>
          <a:ln/>
        </p:spPr>
      </p:sp>
      <p:sp>
        <p:nvSpPr>
          <p:cNvPr id="10" name="Text 8"/>
          <p:cNvSpPr txBox="1"/>
          <p:nvPr/>
        </p:nvSpPr>
        <p:spPr>
          <a:xfrm>
            <a:off x="8915400" y="1527048"/>
            <a:ext cx="2743200" cy="292608"/>
          </a:xfrm>
          <a:prstGeom prst="rect">
            <a:avLst/>
          </a:prstGeom>
          <a:noFill/>
          <a:ln/>
        </p:spPr>
        <p:txBody>
          <a:bodyPr wrap="square" lIns="0" tIns="0" rIns="0" bIns="0" rtlCol="0" anchor="ctr"/>
          <a:lstStyle/>
          <a:p>
            <a:pPr indent="0" marL="0">
              <a:buNone/>
            </a:pPr>
            <a:r>
              <a:rPr lang="en-US" sz="1200" b="1" dirty="0">
                <a:solidFill>
                  <a:schemeClr val="accent2"/>
                </a:solidFill>
              </a:rPr>
              <a:t>员工知识 Staff knowledge</a:t>
            </a:r>
            <a:endParaRPr lang="en-US" sz="1200" dirty="0"/>
          </a:p>
        </p:txBody>
      </p:sp>
      <p:sp>
        <p:nvSpPr>
          <p:cNvPr id="11" name="Text 9"/>
          <p:cNvSpPr txBox="1"/>
          <p:nvPr/>
        </p:nvSpPr>
        <p:spPr>
          <a:xfrm>
            <a:off x="8915400" y="1874520"/>
            <a:ext cx="2560320" cy="1783080"/>
          </a:xfrm>
          <a:prstGeom prst="rect">
            <a:avLst/>
          </a:prstGeom>
          <a:noFill/>
          <a:ln/>
        </p:spPr>
        <p:txBody>
          <a:bodyPr wrap="square" lIns="0" tIns="0" rIns="0" bIns="0" rtlCol="0" anchor="t"/>
          <a:lstStyle/>
          <a:p>
            <a:pPr indent="0" marL="0">
              <a:spcAft>
                <a:spcPts val="400"/>
              </a:spcAft>
              <a:buNone/>
            </a:pPr>
            <a:r>
              <a:rPr lang="en-US" sz="1350" b="1" dirty="0">
                <a:solidFill>
                  <a:schemeClr val="tx1"/>
                </a:solidFill>
              </a:rPr>
              <a:t>具体间隔必须按照 XE LHA Peel 官方操作说明确定，不能直接套用其他酸类产品的护理频率。</a:t>
            </a:r>
            <a:endParaRPr lang="en-US" sz="1350" dirty="0"/>
          </a:p>
          <a:p>
            <a:pPr indent="0" marL="0">
              <a:spcAft>
                <a:spcPts val="400"/>
              </a:spcAft>
              <a:buNone/>
            </a:pPr>
            <a:r>
              <a:rPr lang="en-US" sz="1150" dirty="0">
                <a:solidFill>
                  <a:schemeClr val="accent6"/>
                </a:solidFill>
              </a:rPr>
              <a:t>The interval must follow the official XE LHA Peel protocol — never copy the schedule of other acid products.</a:t>
            </a:r>
            <a:endParaRPr lang="en-US" sz="1350" dirty="0"/>
          </a:p>
        </p:txBody>
      </p:sp>
      <p:sp>
        <p:nvSpPr>
          <p:cNvPr id="12" name="faq question 10"/>
          <p:cNvSpPr/>
          <p:nvPr/>
        </p:nvSpPr>
        <p:spPr>
          <a:xfrm>
            <a:off x="457200" y="3886200"/>
            <a:ext cx="3017520" cy="2286000"/>
          </a:xfrm>
          <a:prstGeom prst="roundRect">
            <a:avLst>
              <a:gd name="adj" fmla="val 4800"/>
            </a:avLst>
          </a:prstGeom>
          <a:solidFill>
            <a:schemeClr val="tx2"/>
          </a:solidFill>
          <a:ln/>
        </p:spPr>
      </p:sp>
      <p:sp>
        <p:nvSpPr>
          <p:cNvPr id="13" name="Text 11"/>
          <p:cNvSpPr txBox="1"/>
          <p:nvPr/>
        </p:nvSpPr>
        <p:spPr>
          <a:xfrm>
            <a:off x="685800" y="4023360"/>
            <a:ext cx="1097280" cy="411480"/>
          </a:xfrm>
          <a:prstGeom prst="rect">
            <a:avLst/>
          </a:prstGeom>
          <a:noFill/>
          <a:ln/>
        </p:spPr>
        <p:txBody>
          <a:bodyPr wrap="square" lIns="0" tIns="0" rIns="0" bIns="0" rtlCol="0" anchor="ctr"/>
          <a:lstStyle/>
          <a:p>
            <a:pPr indent="0" marL="0">
              <a:buNone/>
            </a:pPr>
            <a:r>
              <a:rPr lang="en-US" sz="2200" b="1" dirty="0">
                <a:solidFill>
                  <a:schemeClr val="accent4"/>
                </a:solidFill>
              </a:rPr>
              <a:t>Q10</a:t>
            </a:r>
            <a:endParaRPr lang="en-US" sz="2200" dirty="0"/>
          </a:p>
        </p:txBody>
      </p:sp>
      <p:sp>
        <p:nvSpPr>
          <p:cNvPr id="14" name="Text 12"/>
          <p:cNvSpPr txBox="1"/>
          <p:nvPr/>
        </p:nvSpPr>
        <p:spPr>
          <a:xfrm>
            <a:off x="685800" y="4526280"/>
            <a:ext cx="2606040" cy="160020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做完可以马上化妆吗？</a:t>
            </a:r>
            <a:endParaRPr lang="en-US" sz="1600" dirty="0"/>
          </a:p>
          <a:p>
            <a:pPr indent="0" marL="0">
              <a:spcAft>
                <a:spcPts val="400"/>
              </a:spcAft>
              <a:buNone/>
            </a:pPr>
            <a:r>
              <a:rPr lang="en-US" sz="1300" dirty="0">
                <a:solidFill>
                  <a:srgbClr val="CFE0D2"/>
                </a:solidFill>
              </a:rPr>
              <a:t>Can I wear makeup right after?</a:t>
            </a:r>
            <a:endParaRPr lang="en-US" sz="1600" dirty="0"/>
          </a:p>
        </p:txBody>
      </p:sp>
      <p:sp>
        <p:nvSpPr>
          <p:cNvPr id="15" name="faq say 10"/>
          <p:cNvSpPr/>
          <p:nvPr/>
        </p:nvSpPr>
        <p:spPr>
          <a:xfrm>
            <a:off x="3611880" y="3886200"/>
            <a:ext cx="4937760" cy="2286000"/>
          </a:xfrm>
          <a:prstGeom prst="roundRect">
            <a:avLst>
              <a:gd name="adj" fmla="val 4800"/>
            </a:avLst>
          </a:prstGeom>
          <a:solidFill>
            <a:schemeClr val="bg2"/>
          </a:solidFill>
          <a:ln/>
        </p:spPr>
      </p:sp>
      <p:sp>
        <p:nvSpPr>
          <p:cNvPr id="16" name="Text 14"/>
          <p:cNvSpPr txBox="1"/>
          <p:nvPr/>
        </p:nvSpPr>
        <p:spPr>
          <a:xfrm>
            <a:off x="3840480" y="3995928"/>
            <a:ext cx="3200400" cy="292608"/>
          </a:xfrm>
          <a:prstGeom prst="rect">
            <a:avLst/>
          </a:prstGeom>
          <a:noFill/>
          <a:ln/>
        </p:spPr>
        <p:txBody>
          <a:bodyPr wrap="square" lIns="0" tIns="0" rIns="0" bIns="0" rtlCol="0" anchor="ctr"/>
          <a:lstStyle/>
          <a:p>
            <a:pPr indent="0" marL="0">
              <a:buNone/>
            </a:pPr>
            <a:r>
              <a:rPr lang="en-US" sz="1200" b="1" dirty="0">
                <a:solidFill>
                  <a:schemeClr val="accent1"/>
                </a:solidFill>
              </a:rPr>
              <a:t>员工回答 Say this</a:t>
            </a:r>
            <a:endParaRPr lang="en-US" sz="1200" dirty="0"/>
          </a:p>
        </p:txBody>
      </p:sp>
      <p:sp>
        <p:nvSpPr>
          <p:cNvPr id="17" name="Text 15"/>
          <p:cNvSpPr txBox="1"/>
          <p:nvPr/>
        </p:nvSpPr>
        <p:spPr>
          <a:xfrm>
            <a:off x="3840480" y="4343400"/>
            <a:ext cx="4480560" cy="1783080"/>
          </a:xfrm>
          <a:prstGeom prst="rect">
            <a:avLst/>
          </a:prstGeom>
          <a:noFill/>
          <a:ln/>
        </p:spPr>
        <p:txBody>
          <a:bodyPr wrap="square" lIns="0" tIns="0" rIns="0" bIns="0" rtlCol="0" anchor="t"/>
          <a:lstStyle/>
          <a:p>
            <a:pPr indent="0" marL="0">
              <a:spcAft>
                <a:spcPts val="400"/>
              </a:spcAft>
              <a:buNone/>
            </a:pPr>
            <a:r>
              <a:rPr lang="en-US" sz="1450" dirty="0">
                <a:solidFill>
                  <a:schemeClr val="tx1"/>
                </a:solidFill>
              </a:rPr>
              <a:t>我们建议护理后先让皮肤休息，尤其是当天出现泛红或敏感时，尽量避免化妆。如果皮肤状况稳定，也需要遵循产品的护理后指引。</a:t>
            </a:r>
            <a:endParaRPr lang="en-US" sz="1450" dirty="0"/>
          </a:p>
          <a:p>
            <a:pPr indent="0" marL="0">
              <a:spcAft>
                <a:spcPts val="400"/>
              </a:spcAft>
              <a:buNone/>
            </a:pPr>
            <a:r>
              <a:rPr lang="en-US" sz="1250" dirty="0">
                <a:solidFill>
                  <a:schemeClr val="accent6"/>
                </a:solidFill>
              </a:rPr>
              <a:t>We suggest letting the skin rest after treatment — avoid makeup if you have redness or sensitivity that day. If skin is stable, still follow the after‑care guidance.</a:t>
            </a:r>
            <a:endParaRPr lang="en-US" sz="1450" dirty="0"/>
          </a:p>
        </p:txBody>
      </p:sp>
      <p:sp>
        <p:nvSpPr>
          <p:cNvPr id="18" name="faq knowledge 10"/>
          <p:cNvSpPr/>
          <p:nvPr/>
        </p:nvSpPr>
        <p:spPr>
          <a:xfrm>
            <a:off x="8686800" y="3886200"/>
            <a:ext cx="3017520" cy="2286000"/>
          </a:xfrm>
          <a:prstGeom prst="roundRect">
            <a:avLst>
              <a:gd name="adj" fmla="val 4800"/>
            </a:avLst>
          </a:prstGeom>
          <a:solidFill>
            <a:srgbClr val="FBF1D6"/>
          </a:solidFill>
          <a:ln/>
        </p:spPr>
      </p:sp>
      <p:sp>
        <p:nvSpPr>
          <p:cNvPr id="19" name="Text 17"/>
          <p:cNvSpPr txBox="1"/>
          <p:nvPr/>
        </p:nvSpPr>
        <p:spPr>
          <a:xfrm>
            <a:off x="8915400" y="3995928"/>
            <a:ext cx="2743200" cy="292608"/>
          </a:xfrm>
          <a:prstGeom prst="rect">
            <a:avLst/>
          </a:prstGeom>
          <a:noFill/>
          <a:ln/>
        </p:spPr>
        <p:txBody>
          <a:bodyPr wrap="square" lIns="0" tIns="0" rIns="0" bIns="0" rtlCol="0" anchor="ctr"/>
          <a:lstStyle/>
          <a:p>
            <a:pPr indent="0" marL="0">
              <a:buNone/>
            </a:pPr>
            <a:r>
              <a:rPr lang="en-US" sz="1200" b="1" dirty="0">
                <a:solidFill>
                  <a:schemeClr val="accent2"/>
                </a:solidFill>
              </a:rPr>
              <a:t>员工知识 Staff knowledge</a:t>
            </a:r>
            <a:endParaRPr lang="en-US" sz="1200" dirty="0"/>
          </a:p>
        </p:txBody>
      </p:sp>
      <p:sp>
        <p:nvSpPr>
          <p:cNvPr id="20" name="Text 18"/>
          <p:cNvSpPr txBox="1"/>
          <p:nvPr/>
        </p:nvSpPr>
        <p:spPr>
          <a:xfrm>
            <a:off x="8915400" y="4343400"/>
            <a:ext cx="2560320" cy="1783080"/>
          </a:xfrm>
          <a:prstGeom prst="rect">
            <a:avLst/>
          </a:prstGeom>
          <a:noFill/>
          <a:ln/>
        </p:spPr>
        <p:txBody>
          <a:bodyPr wrap="square" lIns="0" tIns="0" rIns="0" bIns="0" rtlCol="0" anchor="t"/>
          <a:lstStyle/>
          <a:p>
            <a:pPr indent="0" marL="0">
              <a:spcAft>
                <a:spcPts val="400"/>
              </a:spcAft>
              <a:buNone/>
            </a:pPr>
            <a:r>
              <a:rPr lang="en-US" sz="1350" b="1" dirty="0">
                <a:solidFill>
                  <a:schemeClr val="tx1"/>
                </a:solidFill>
              </a:rPr>
              <a:t>不要保证所有顾客都能立即化妆。具体时间以官方护理后要求为准。</a:t>
            </a:r>
            <a:endParaRPr lang="en-US" sz="1350" dirty="0"/>
          </a:p>
          <a:p>
            <a:pPr indent="0" marL="0">
              <a:spcAft>
                <a:spcPts val="400"/>
              </a:spcAft>
              <a:buNone/>
            </a:pPr>
            <a:r>
              <a:rPr lang="en-US" sz="1150" dirty="0">
                <a:solidFill>
                  <a:schemeClr val="accent6"/>
                </a:solidFill>
              </a:rPr>
              <a:t>Never guarantee clients can wear makeup immediately. Timing follows the official after‑care requirements.</a:t>
            </a:r>
            <a:endParaRPr lang="en-US" sz="13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顾客常见问题 (6/6)</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Customer FAQ · what clients ask most, with standard answers 标准回答话术</a:t>
            </a:r>
            <a:endParaRPr lang="en-US" sz="3000" dirty="0"/>
          </a:p>
        </p:txBody>
      </p:sp>
      <p:sp>
        <p:nvSpPr>
          <p:cNvPr id="3" name="faq question 11"/>
          <p:cNvSpPr/>
          <p:nvPr/>
        </p:nvSpPr>
        <p:spPr>
          <a:xfrm>
            <a:off x="457200" y="1417320"/>
            <a:ext cx="3017520" cy="2286000"/>
          </a:xfrm>
          <a:prstGeom prst="roundRect">
            <a:avLst>
              <a:gd name="adj" fmla="val 4800"/>
            </a:avLst>
          </a:prstGeom>
          <a:solidFill>
            <a:schemeClr val="tx2"/>
          </a:solidFill>
          <a:ln/>
        </p:spPr>
      </p:sp>
      <p:sp>
        <p:nvSpPr>
          <p:cNvPr id="4" name="Text 2"/>
          <p:cNvSpPr txBox="1"/>
          <p:nvPr/>
        </p:nvSpPr>
        <p:spPr>
          <a:xfrm>
            <a:off x="685800" y="1554480"/>
            <a:ext cx="1097280" cy="411480"/>
          </a:xfrm>
          <a:prstGeom prst="rect">
            <a:avLst/>
          </a:prstGeom>
          <a:noFill/>
          <a:ln/>
        </p:spPr>
        <p:txBody>
          <a:bodyPr wrap="square" lIns="0" tIns="0" rIns="0" bIns="0" rtlCol="0" anchor="ctr"/>
          <a:lstStyle/>
          <a:p>
            <a:pPr indent="0" marL="0">
              <a:buNone/>
            </a:pPr>
            <a:r>
              <a:rPr lang="en-US" sz="2200" b="1" dirty="0">
                <a:solidFill>
                  <a:schemeClr val="accent4"/>
                </a:solidFill>
              </a:rPr>
              <a:t>Q11</a:t>
            </a:r>
            <a:endParaRPr lang="en-US" sz="2200" dirty="0"/>
          </a:p>
        </p:txBody>
      </p:sp>
      <p:sp>
        <p:nvSpPr>
          <p:cNvPr id="5" name="Text 3"/>
          <p:cNvSpPr txBox="1"/>
          <p:nvPr/>
        </p:nvSpPr>
        <p:spPr>
          <a:xfrm>
            <a:off x="685800" y="2057400"/>
            <a:ext cx="2606040" cy="160020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做完需要特别防晒吗？</a:t>
            </a:r>
            <a:endParaRPr lang="en-US" sz="1600" dirty="0"/>
          </a:p>
          <a:p>
            <a:pPr indent="0" marL="0">
              <a:spcAft>
                <a:spcPts val="400"/>
              </a:spcAft>
              <a:buNone/>
            </a:pPr>
            <a:r>
              <a:rPr lang="en-US" sz="1300" dirty="0">
                <a:solidFill>
                  <a:srgbClr val="CFE0D2"/>
                </a:solidFill>
              </a:rPr>
              <a:t>Do I need extra sun protection?</a:t>
            </a:r>
            <a:endParaRPr lang="en-US" sz="1600" dirty="0"/>
          </a:p>
        </p:txBody>
      </p:sp>
      <p:sp>
        <p:nvSpPr>
          <p:cNvPr id="6" name="faq say 11"/>
          <p:cNvSpPr/>
          <p:nvPr/>
        </p:nvSpPr>
        <p:spPr>
          <a:xfrm>
            <a:off x="3611880" y="1417320"/>
            <a:ext cx="4937760" cy="2286000"/>
          </a:xfrm>
          <a:prstGeom prst="roundRect">
            <a:avLst>
              <a:gd name="adj" fmla="val 4800"/>
            </a:avLst>
          </a:prstGeom>
          <a:solidFill>
            <a:schemeClr val="bg2"/>
          </a:solidFill>
          <a:ln/>
        </p:spPr>
      </p:sp>
      <p:sp>
        <p:nvSpPr>
          <p:cNvPr id="7" name="Text 5"/>
          <p:cNvSpPr txBox="1"/>
          <p:nvPr/>
        </p:nvSpPr>
        <p:spPr>
          <a:xfrm>
            <a:off x="3840480" y="1527048"/>
            <a:ext cx="3200400" cy="292608"/>
          </a:xfrm>
          <a:prstGeom prst="rect">
            <a:avLst/>
          </a:prstGeom>
          <a:noFill/>
          <a:ln/>
        </p:spPr>
        <p:txBody>
          <a:bodyPr wrap="square" lIns="0" tIns="0" rIns="0" bIns="0" rtlCol="0" anchor="ctr"/>
          <a:lstStyle/>
          <a:p>
            <a:pPr indent="0" marL="0">
              <a:buNone/>
            </a:pPr>
            <a:r>
              <a:rPr lang="en-US" sz="1200" b="1" dirty="0">
                <a:solidFill>
                  <a:schemeClr val="accent1"/>
                </a:solidFill>
              </a:rPr>
              <a:t>员工回答 Say this</a:t>
            </a:r>
            <a:endParaRPr lang="en-US" sz="1200" dirty="0"/>
          </a:p>
        </p:txBody>
      </p:sp>
      <p:sp>
        <p:nvSpPr>
          <p:cNvPr id="8" name="Text 6"/>
          <p:cNvSpPr txBox="1"/>
          <p:nvPr/>
        </p:nvSpPr>
        <p:spPr>
          <a:xfrm>
            <a:off x="3840480" y="1874520"/>
            <a:ext cx="4480560" cy="1783080"/>
          </a:xfrm>
          <a:prstGeom prst="rect">
            <a:avLst/>
          </a:prstGeom>
          <a:noFill/>
          <a:ln/>
        </p:spPr>
        <p:txBody>
          <a:bodyPr wrap="square" lIns="0" tIns="0" rIns="0" bIns="0" rtlCol="0" anchor="t"/>
          <a:lstStyle/>
          <a:p>
            <a:pPr indent="0" marL="0">
              <a:spcAft>
                <a:spcPts val="400"/>
              </a:spcAft>
              <a:buNone/>
            </a:pPr>
            <a:r>
              <a:rPr lang="en-US" sz="1450" dirty="0">
                <a:solidFill>
                  <a:schemeClr val="tx1"/>
                </a:solidFill>
              </a:rPr>
              <a:t>需要哦。焕肤后皮肤可能比较容易受到紫外线刺激，所以我们建议每天使用 SPF 30 或以上的广谱防晒，并避免长时间直接曝晒。</a:t>
            </a:r>
            <a:endParaRPr lang="en-US" sz="1450" dirty="0"/>
          </a:p>
          <a:p>
            <a:pPr indent="0" marL="0">
              <a:spcAft>
                <a:spcPts val="400"/>
              </a:spcAft>
              <a:buNone/>
            </a:pPr>
            <a:r>
              <a:rPr lang="en-US" sz="1250" dirty="0">
                <a:solidFill>
                  <a:schemeClr val="accent6"/>
                </a:solidFill>
              </a:rPr>
              <a:t>Yes. After a peel the skin can be more sensitive to UV, so we recommend broad‑spectrum SPF 30 or higher daily and avoiding long direct sun exposure.</a:t>
            </a:r>
            <a:endParaRPr lang="en-US" sz="1450" dirty="0"/>
          </a:p>
        </p:txBody>
      </p:sp>
      <p:sp>
        <p:nvSpPr>
          <p:cNvPr id="9" name="faq knowledge 11"/>
          <p:cNvSpPr/>
          <p:nvPr/>
        </p:nvSpPr>
        <p:spPr>
          <a:xfrm>
            <a:off x="8686800" y="1417320"/>
            <a:ext cx="3017520" cy="2286000"/>
          </a:xfrm>
          <a:prstGeom prst="roundRect">
            <a:avLst>
              <a:gd name="adj" fmla="val 4800"/>
            </a:avLst>
          </a:prstGeom>
          <a:solidFill>
            <a:srgbClr val="FBF1D6"/>
          </a:solidFill>
          <a:ln/>
        </p:spPr>
      </p:sp>
      <p:sp>
        <p:nvSpPr>
          <p:cNvPr id="10" name="Text 8"/>
          <p:cNvSpPr txBox="1"/>
          <p:nvPr/>
        </p:nvSpPr>
        <p:spPr>
          <a:xfrm>
            <a:off x="8915400" y="1527048"/>
            <a:ext cx="2743200" cy="292608"/>
          </a:xfrm>
          <a:prstGeom prst="rect">
            <a:avLst/>
          </a:prstGeom>
          <a:noFill/>
          <a:ln/>
        </p:spPr>
        <p:txBody>
          <a:bodyPr wrap="square" lIns="0" tIns="0" rIns="0" bIns="0" rtlCol="0" anchor="ctr"/>
          <a:lstStyle/>
          <a:p>
            <a:pPr indent="0" marL="0">
              <a:buNone/>
            </a:pPr>
            <a:r>
              <a:rPr lang="en-US" sz="1200" b="1" dirty="0">
                <a:solidFill>
                  <a:schemeClr val="accent2"/>
                </a:solidFill>
              </a:rPr>
              <a:t>员工知识 Staff knowledge</a:t>
            </a:r>
            <a:endParaRPr lang="en-US" sz="1200" dirty="0"/>
          </a:p>
        </p:txBody>
      </p:sp>
      <p:sp>
        <p:nvSpPr>
          <p:cNvPr id="11" name="Text 9"/>
          <p:cNvSpPr txBox="1"/>
          <p:nvPr/>
        </p:nvSpPr>
        <p:spPr>
          <a:xfrm>
            <a:off x="8915400" y="1874520"/>
            <a:ext cx="2560320" cy="1783080"/>
          </a:xfrm>
          <a:prstGeom prst="rect">
            <a:avLst/>
          </a:prstGeom>
          <a:noFill/>
          <a:ln/>
        </p:spPr>
        <p:txBody>
          <a:bodyPr wrap="square" lIns="0" tIns="0" rIns="0" bIns="0" rtlCol="0" anchor="t"/>
          <a:lstStyle/>
          <a:p>
            <a:pPr indent="0" marL="0">
              <a:spcAft>
                <a:spcPts val="400"/>
              </a:spcAft>
              <a:buNone/>
            </a:pPr>
            <a:r>
              <a:rPr lang="en-US" sz="1350" b="1" dirty="0">
                <a:solidFill>
                  <a:schemeClr val="tx1"/>
                </a:solidFill>
              </a:rPr>
              <a:t>防晒是酸类焕肤后非常重要的护理步骤，尤其对容易出现色素沉着的顾客。本店标准：SPF50+（见术后护理页）。</a:t>
            </a:r>
            <a:endParaRPr lang="en-US" sz="1350" dirty="0"/>
          </a:p>
          <a:p>
            <a:pPr indent="0" marL="0">
              <a:spcAft>
                <a:spcPts val="400"/>
              </a:spcAft>
              <a:buNone/>
            </a:pPr>
            <a:r>
              <a:rPr lang="en-US" sz="1150" dirty="0">
                <a:solidFill>
                  <a:schemeClr val="accent6"/>
                </a:solidFill>
              </a:rPr>
              <a:t>Sun protection is vital after acid peels, especially for pigmentation‑prone clients. Our salon standard: SPF50+ (see the After‑care slide).</a:t>
            </a:r>
            <a:endParaRPr lang="en-US" sz="1350" dirty="0"/>
          </a:p>
        </p:txBody>
      </p:sp>
      <p:sp>
        <p:nvSpPr>
          <p:cNvPr id="12" name="faq question 12"/>
          <p:cNvSpPr/>
          <p:nvPr/>
        </p:nvSpPr>
        <p:spPr>
          <a:xfrm>
            <a:off x="457200" y="3886200"/>
            <a:ext cx="3017520" cy="2286000"/>
          </a:xfrm>
          <a:prstGeom prst="roundRect">
            <a:avLst>
              <a:gd name="adj" fmla="val 4800"/>
            </a:avLst>
          </a:prstGeom>
          <a:solidFill>
            <a:schemeClr val="tx2"/>
          </a:solidFill>
          <a:ln/>
        </p:spPr>
      </p:sp>
      <p:sp>
        <p:nvSpPr>
          <p:cNvPr id="13" name="Text 11"/>
          <p:cNvSpPr txBox="1"/>
          <p:nvPr/>
        </p:nvSpPr>
        <p:spPr>
          <a:xfrm>
            <a:off x="685800" y="4023360"/>
            <a:ext cx="1097280" cy="411480"/>
          </a:xfrm>
          <a:prstGeom prst="rect">
            <a:avLst/>
          </a:prstGeom>
          <a:noFill/>
          <a:ln/>
        </p:spPr>
        <p:txBody>
          <a:bodyPr wrap="square" lIns="0" tIns="0" rIns="0" bIns="0" rtlCol="0" anchor="ctr"/>
          <a:lstStyle/>
          <a:p>
            <a:pPr indent="0" marL="0">
              <a:buNone/>
            </a:pPr>
            <a:r>
              <a:rPr lang="en-US" sz="2200" b="1" dirty="0">
                <a:solidFill>
                  <a:schemeClr val="accent4"/>
                </a:solidFill>
              </a:rPr>
              <a:t>Q12</a:t>
            </a:r>
            <a:endParaRPr lang="en-US" sz="2200" dirty="0"/>
          </a:p>
        </p:txBody>
      </p:sp>
      <p:sp>
        <p:nvSpPr>
          <p:cNvPr id="14" name="Text 12"/>
          <p:cNvSpPr txBox="1"/>
          <p:nvPr/>
        </p:nvSpPr>
        <p:spPr>
          <a:xfrm>
            <a:off x="685800" y="4526280"/>
            <a:ext cx="2606040" cy="160020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为什么我平时都有做 Facial，还需要 XE LHA Peel？</a:t>
            </a:r>
            <a:endParaRPr lang="en-US" sz="1600" dirty="0"/>
          </a:p>
          <a:p>
            <a:pPr indent="0" marL="0">
              <a:spcAft>
                <a:spcPts val="400"/>
              </a:spcAft>
              <a:buNone/>
            </a:pPr>
            <a:r>
              <a:rPr lang="en-US" sz="1300" dirty="0">
                <a:solidFill>
                  <a:srgbClr val="CFE0D2"/>
                </a:solidFill>
              </a:rPr>
              <a:t>I already get facials — why do I need XE LHA Peel?</a:t>
            </a:r>
            <a:endParaRPr lang="en-US" sz="1600" dirty="0"/>
          </a:p>
        </p:txBody>
      </p:sp>
      <p:sp>
        <p:nvSpPr>
          <p:cNvPr id="15" name="faq say 12"/>
          <p:cNvSpPr/>
          <p:nvPr/>
        </p:nvSpPr>
        <p:spPr>
          <a:xfrm>
            <a:off x="3611880" y="3886200"/>
            <a:ext cx="8046720" cy="2286000"/>
          </a:xfrm>
          <a:prstGeom prst="roundRect">
            <a:avLst>
              <a:gd name="adj" fmla="val 4800"/>
            </a:avLst>
          </a:prstGeom>
          <a:solidFill>
            <a:schemeClr val="bg2"/>
          </a:solidFill>
          <a:ln/>
        </p:spPr>
      </p:sp>
      <p:sp>
        <p:nvSpPr>
          <p:cNvPr id="16" name="Text 14"/>
          <p:cNvSpPr txBox="1"/>
          <p:nvPr/>
        </p:nvSpPr>
        <p:spPr>
          <a:xfrm>
            <a:off x="3840480" y="3995928"/>
            <a:ext cx="3200400" cy="292608"/>
          </a:xfrm>
          <a:prstGeom prst="rect">
            <a:avLst/>
          </a:prstGeom>
          <a:noFill/>
          <a:ln/>
        </p:spPr>
        <p:txBody>
          <a:bodyPr wrap="square" lIns="0" tIns="0" rIns="0" bIns="0" rtlCol="0" anchor="ctr"/>
          <a:lstStyle/>
          <a:p>
            <a:pPr indent="0" marL="0">
              <a:buNone/>
            </a:pPr>
            <a:r>
              <a:rPr lang="en-US" sz="1200" b="1" dirty="0">
                <a:solidFill>
                  <a:schemeClr val="accent1"/>
                </a:solidFill>
              </a:rPr>
              <a:t>员工回答 Say this</a:t>
            </a:r>
            <a:endParaRPr lang="en-US" sz="1200" dirty="0"/>
          </a:p>
        </p:txBody>
      </p:sp>
      <p:sp>
        <p:nvSpPr>
          <p:cNvPr id="17" name="Text 15"/>
          <p:cNvSpPr txBox="1"/>
          <p:nvPr/>
        </p:nvSpPr>
        <p:spPr>
          <a:xfrm>
            <a:off x="3840480" y="4343400"/>
            <a:ext cx="7589520" cy="1783080"/>
          </a:xfrm>
          <a:prstGeom prst="rect">
            <a:avLst/>
          </a:prstGeom>
          <a:noFill/>
          <a:ln/>
        </p:spPr>
        <p:txBody>
          <a:bodyPr wrap="square" lIns="0" tIns="0" rIns="0" bIns="0" rtlCol="0" anchor="t"/>
          <a:lstStyle/>
          <a:p>
            <a:pPr indent="0" marL="0">
              <a:spcAft>
                <a:spcPts val="400"/>
              </a:spcAft>
              <a:buNone/>
            </a:pPr>
            <a:r>
              <a:rPr lang="en-US" sz="1450" dirty="0">
                <a:solidFill>
                  <a:schemeClr val="tx1"/>
                </a:solidFill>
              </a:rPr>
              <a:t>普通 Facial 通常比较着重清洁、补水和日常保养。XE LHA Peel 则更着重角质调理。如果您经常有暗沉、粗糙、闭口或毛孔堵塞的问题，这类焕肤护理可以提供更有针对性的改善。</a:t>
            </a:r>
            <a:endParaRPr lang="en-US" sz="1450" dirty="0"/>
          </a:p>
          <a:p>
            <a:pPr indent="0" marL="0">
              <a:spcAft>
                <a:spcPts val="400"/>
              </a:spcAft>
              <a:buNone/>
            </a:pPr>
            <a:r>
              <a:rPr lang="en-US" sz="1250" dirty="0">
                <a:solidFill>
                  <a:schemeClr val="accent6"/>
                </a:solidFill>
              </a:rPr>
              <a:t>A regular facial focuses on cleansing, hydration and daily maintenance. XE LHA Peel focuses on keratin conditioning. If you often have dullness, roughness, closed comedones or clogged pores, this kind of peel offers more targeted improvement.</a:t>
            </a:r>
            <a:endParaRPr lang="en-US" sz="14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员工必须知道的专业知识 (1/2)</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Professional FAQ · staff must understand these — not all need to be told to clients</a:t>
            </a:r>
            <a:endParaRPr lang="en-US" sz="3000" dirty="0"/>
          </a:p>
        </p:txBody>
      </p:sp>
      <p:graphicFrame>
        <p:nvGraphicFramePr>
          <p:cNvPr id="37" name="data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47120" cy="914400"/>
        </p:xfrm>
        <a:graphic>
          <a:graphicData uri="http://schemas.openxmlformats.org/drawingml/2006/table">
            <a:tbl>
              <a:tblPr/>
              <a:tblGrid>
                <a:gridCol w="3931920"/>
                <a:gridCol w="7315200"/>
              </a:tblGrid>
              <a:tr h="411480">
                <a:tc>
                  <a:txBody>
                    <a:bodyPr/>
                    <a:lstStyle/>
                    <a:p>
                      <a:pPr algn="l" indent="0" marL="0">
                        <a:buNone/>
                      </a:pPr>
                      <a:r>
                        <a:rPr lang="en-US" sz="1400" b="1" dirty="0">
                          <a:solidFill>
                            <a:srgbClr val="FFFFFF"/>
                          </a:solidFill>
                        </a:rPr>
                        <a:t>问题 · Question</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2F4A3A"/>
                    </a:solidFill>
                  </a:tcPr>
                </a:tc>
                <a:tc>
                  <a:txBody>
                    <a:bodyPr/>
                    <a:lstStyle/>
                    <a:p>
                      <a:pPr algn="l" indent="0" marL="0">
                        <a:buNone/>
                      </a:pPr>
                      <a:r>
                        <a:rPr lang="en-US" sz="1400" b="1" dirty="0">
                          <a:solidFill>
                            <a:srgbClr val="FFFFFF"/>
                          </a:solidFill>
                        </a:rPr>
                        <a:t>员工必须知道的答案 · What staff must know</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2F4A3A"/>
                    </a:solidFill>
                  </a:tcPr>
                </a:tc>
              </a:tr>
              <a:tr h="694944">
                <a:tc>
                  <a:txBody>
                    <a:bodyPr/>
                    <a:lstStyle/>
                    <a:p>
                      <a:pPr indent="0" marL="0">
                        <a:buNone/>
                      </a:pPr>
                      <a:r>
                        <a:rPr lang="en-US" sz="1300" b="1" dirty="0">
                          <a:solidFill>
                            <a:srgbClr val="1F2D26"/>
                          </a:solidFill>
                        </a:rPr>
                        <a:t>LHA 是什么？</a:t>
                      </a:r>
                      <a:endParaRPr lang="en-US" sz="1200" dirty="0"/>
                    </a:p>
                    <a:p>
                      <a:pPr indent="0" marL="0">
                        <a:buNone/>
                      </a:pPr>
                      <a:r>
                        <a:rPr lang="en-US" sz="1150" dirty="0">
                          <a:solidFill>
                            <a:srgbClr val="55665C"/>
                          </a:solidFill>
                        </a:rPr>
                        <a:t>What is LHA?</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c>
                  <a:txBody>
                    <a:bodyPr/>
                    <a:lstStyle/>
                    <a:p>
                      <a:pPr indent="0" marL="0">
                        <a:buNone/>
                      </a:pPr>
                      <a:r>
                        <a:rPr lang="en-US" sz="1300" b="1" dirty="0">
                          <a:solidFill>
                            <a:srgbClr val="1F2D26"/>
                          </a:solidFill>
                        </a:rPr>
                        <a:t>辛酰水杨酸，一种脂溶性的角质调理成分</a:t>
                      </a:r>
                      <a:endParaRPr lang="en-US" sz="1200" dirty="0"/>
                    </a:p>
                    <a:p>
                      <a:pPr indent="0" marL="0">
                        <a:buNone/>
                      </a:pPr>
                      <a:r>
                        <a:rPr lang="en-US" sz="1150" dirty="0">
                          <a:solidFill>
                            <a:srgbClr val="55665C"/>
                          </a:solidFill>
                        </a:rPr>
                        <a:t>Capryloyl salicylic acid — an oil‑soluble keratin‑conditioning ingredient</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r>
              <a:tr h="694944">
                <a:tc>
                  <a:txBody>
                    <a:bodyPr/>
                    <a:lstStyle/>
                    <a:p>
                      <a:pPr indent="0" marL="0">
                        <a:buNone/>
                      </a:pPr>
                      <a:r>
                        <a:rPr lang="en-US" sz="1300" b="1" dirty="0">
                          <a:solidFill>
                            <a:srgbClr val="1F2D26"/>
                          </a:solidFill>
                        </a:rPr>
                        <a:t>LHA 是不是比 AHA 温和？</a:t>
                      </a:r>
                      <a:endParaRPr lang="en-US" sz="1200" dirty="0"/>
                    </a:p>
                    <a:p>
                      <a:pPr indent="0" marL="0">
                        <a:buNone/>
                      </a:pPr>
                      <a:r>
                        <a:rPr lang="en-US" sz="1150" dirty="0">
                          <a:solidFill>
                            <a:srgbClr val="55665C"/>
                          </a:solidFill>
                        </a:rPr>
                        <a:t>Is LHA milder than AHA?</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1F2D26"/>
                          </a:solidFill>
                        </a:rPr>
                        <a:t>某些配方可能较温和，但取决于浓度、pH 和整体配方</a:t>
                      </a:r>
                      <a:endParaRPr lang="en-US" sz="1200" dirty="0"/>
                    </a:p>
                    <a:p>
                      <a:pPr indent="0" marL="0">
                        <a:buNone/>
                      </a:pPr>
                      <a:r>
                        <a:rPr lang="en-US" sz="1150" dirty="0">
                          <a:solidFill>
                            <a:srgbClr val="55665C"/>
                          </a:solidFill>
                        </a:rPr>
                        <a:t>Some formulas may be milder, but it depends on concentration, pH and the overall formula</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94944">
                <a:tc>
                  <a:txBody>
                    <a:bodyPr/>
                    <a:lstStyle/>
                    <a:p>
                      <a:pPr indent="0" marL="0">
                        <a:buNone/>
                      </a:pPr>
                      <a:r>
                        <a:rPr lang="en-US" sz="1300" b="1" dirty="0">
                          <a:solidFill>
                            <a:srgbClr val="1F2D26"/>
                          </a:solidFill>
                        </a:rPr>
                        <a:t>LHA 可以深入真皮层吗？</a:t>
                      </a:r>
                      <a:endParaRPr lang="en-US" sz="1200" dirty="0"/>
                    </a:p>
                    <a:p>
                      <a:pPr indent="0" marL="0">
                        <a:buNone/>
                      </a:pPr>
                      <a:r>
                        <a:rPr lang="en-US" sz="1150" dirty="0">
                          <a:solidFill>
                            <a:srgbClr val="55665C"/>
                          </a:solidFill>
                        </a:rPr>
                        <a:t>Does LHA reach the dermis?</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c>
                  <a:txBody>
                    <a:bodyPr/>
                    <a:lstStyle/>
                    <a:p>
                      <a:pPr indent="0" marL="0">
                        <a:buNone/>
                      </a:pPr>
                      <a:r>
                        <a:rPr lang="en-US" sz="1300" b="1" dirty="0">
                          <a:solidFill>
                            <a:srgbClr val="1F2D26"/>
                          </a:solidFill>
                        </a:rPr>
                        <a:t>不应这样宣称，主要用于角质调理</a:t>
                      </a:r>
                      <a:endParaRPr lang="en-US" sz="1200" dirty="0"/>
                    </a:p>
                    <a:p>
                      <a:pPr indent="0" marL="0">
                        <a:buNone/>
                      </a:pPr>
                      <a:r>
                        <a:rPr lang="en-US" sz="1150" dirty="0">
                          <a:solidFill>
                            <a:srgbClr val="55665C"/>
                          </a:solidFill>
                        </a:rPr>
                        <a:t>Do not claim this — it is mainly used for keratin conditioning</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r>
              <a:tr h="694944">
                <a:tc>
                  <a:txBody>
                    <a:bodyPr/>
                    <a:lstStyle/>
                    <a:p>
                      <a:pPr indent="0" marL="0">
                        <a:buNone/>
                      </a:pPr>
                      <a:r>
                        <a:rPr lang="en-US" sz="1300" b="1" dirty="0">
                          <a:solidFill>
                            <a:srgbClr val="1F2D26"/>
                          </a:solidFill>
                        </a:rPr>
                        <a:t>可以促进胶原蛋白吗？</a:t>
                      </a:r>
                      <a:endParaRPr lang="en-US" sz="1200" dirty="0"/>
                    </a:p>
                    <a:p>
                      <a:pPr indent="0" marL="0">
                        <a:buNone/>
                      </a:pPr>
                      <a:r>
                        <a:rPr lang="en-US" sz="1150" dirty="0">
                          <a:solidFill>
                            <a:srgbClr val="55665C"/>
                          </a:solidFill>
                        </a:rPr>
                        <a:t>Does it boost collagen?</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1F2D26"/>
                          </a:solidFill>
                        </a:rPr>
                        <a:t>不能仅凭含有 LHA 就保证促进胶原蛋白</a:t>
                      </a:r>
                      <a:endParaRPr lang="en-US" sz="1200" dirty="0"/>
                    </a:p>
                    <a:p>
                      <a:pPr indent="0" marL="0">
                        <a:buNone/>
                      </a:pPr>
                      <a:r>
                        <a:rPr lang="en-US" sz="1150" dirty="0">
                          <a:solidFill>
                            <a:srgbClr val="55665C"/>
                          </a:solidFill>
                        </a:rPr>
                        <a:t>Never guarantee collagen stimulation just because a product contains LHA</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94944">
                <a:tc>
                  <a:txBody>
                    <a:bodyPr/>
                    <a:lstStyle/>
                    <a:p>
                      <a:pPr indent="0" marL="0">
                        <a:buNone/>
                      </a:pPr>
                      <a:r>
                        <a:rPr lang="en-US" sz="1300" b="1" dirty="0">
                          <a:solidFill>
                            <a:srgbClr val="1F2D26"/>
                          </a:solidFill>
                        </a:rPr>
                        <a:t>可以治疗痘痘吗？</a:t>
                      </a:r>
                      <a:endParaRPr lang="en-US" sz="1200" dirty="0"/>
                    </a:p>
                    <a:p>
                      <a:pPr indent="0" marL="0">
                        <a:buNone/>
                      </a:pPr>
                      <a:r>
                        <a:rPr lang="en-US" sz="1150" dirty="0">
                          <a:solidFill>
                            <a:srgbClr val="55665C"/>
                          </a:solidFill>
                        </a:rPr>
                        <a:t>Can it treat acne?</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c>
                  <a:txBody>
                    <a:bodyPr/>
                    <a:lstStyle/>
                    <a:p>
                      <a:pPr indent="0" marL="0">
                        <a:buNone/>
                      </a:pPr>
                      <a:r>
                        <a:rPr lang="en-US" sz="1300" b="1" dirty="0">
                          <a:solidFill>
                            <a:srgbClr val="1F2D26"/>
                          </a:solidFill>
                        </a:rPr>
                        <a:t>可辅助改善角质堵塞，但不能代替痤疮治疗</a:t>
                      </a:r>
                      <a:endParaRPr lang="en-US" sz="1200" dirty="0"/>
                    </a:p>
                    <a:p>
                      <a:pPr indent="0" marL="0">
                        <a:buNone/>
                      </a:pPr>
                      <a:r>
                        <a:rPr lang="en-US" sz="1150" dirty="0">
                          <a:solidFill>
                            <a:srgbClr val="55665C"/>
                          </a:solidFill>
                        </a:rPr>
                        <a:t>It can help ease keratin clogging but does not replace acne treatment</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r>
              <a:tr h="694944">
                <a:tc>
                  <a:txBody>
                    <a:bodyPr/>
                    <a:lstStyle/>
                    <a:p>
                      <a:pPr indent="0" marL="0">
                        <a:buNone/>
                      </a:pPr>
                      <a:r>
                        <a:rPr lang="en-US" sz="1300" b="1" dirty="0">
                          <a:solidFill>
                            <a:srgbClr val="1F2D26"/>
                          </a:solidFill>
                        </a:rPr>
                        <a:t>可以每天做吗？</a:t>
                      </a:r>
                      <a:endParaRPr lang="en-US" sz="1200" dirty="0"/>
                    </a:p>
                    <a:p>
                      <a:pPr indent="0" marL="0">
                        <a:buNone/>
                      </a:pPr>
                      <a:r>
                        <a:rPr lang="en-US" sz="1150" dirty="0">
                          <a:solidFill>
                            <a:srgbClr val="55665C"/>
                          </a:solidFill>
                        </a:rPr>
                        <a:t>Can it be done daily?</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1F2D26"/>
                          </a:solidFill>
                        </a:rPr>
                        <a:t>专业焕肤不能自行安排每日使用，须遵循品牌操作指引</a:t>
                      </a:r>
                      <a:endParaRPr lang="en-US" sz="1200" dirty="0"/>
                    </a:p>
                    <a:p>
                      <a:pPr indent="0" marL="0">
                        <a:buNone/>
                      </a:pPr>
                      <a:r>
                        <a:rPr lang="en-US" sz="1150" dirty="0">
                          <a:solidFill>
                            <a:srgbClr val="55665C"/>
                          </a:solidFill>
                        </a:rPr>
                        <a:t>Professional peels must never be scheduled daily — follow the brand protocol</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tx2"/>
                </a:solidFill>
                <a:latin typeface="Calibri" pitchFamily="34" charset="0"/>
                <a:ea typeface="Calibri" pitchFamily="34" charset="-122"/>
                <a:cs typeface="Calibri" pitchFamily="34" charset="-120"/>
              </a:rPr>
              <a:t>员工必须知道的专业知识 (2/2)</a:t>
            </a:r>
            <a:endParaRPr lang="en-US" sz="3000" dirty="0"/>
          </a:p>
          <a:p>
            <a:pPr algn="l" indent="0" marL="0">
              <a:buNone/>
            </a:pPr>
            <a:r>
              <a:rPr lang="en-US" sz="1600" dirty="0">
                <a:solidFill>
                  <a:schemeClr val="accent6"/>
                </a:solidFill>
                <a:latin typeface="Calibri" pitchFamily="34" charset="0"/>
                <a:ea typeface="Calibri" pitchFamily="34" charset="-122"/>
                <a:cs typeface="Calibri" pitchFamily="34" charset="-120"/>
              </a:rPr>
              <a:t>Professional FAQ · staff must understand these — not all need to be told to clients</a:t>
            </a:r>
            <a:endParaRPr lang="en-US" sz="3000" dirty="0"/>
          </a:p>
        </p:txBody>
      </p:sp>
      <p:graphicFrame>
        <p:nvGraphicFramePr>
          <p:cNvPr id="38" name="data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47120" cy="914400"/>
        </p:xfrm>
        <a:graphic>
          <a:graphicData uri="http://schemas.openxmlformats.org/drawingml/2006/table">
            <a:tbl>
              <a:tblPr/>
              <a:tblGrid>
                <a:gridCol w="3931920"/>
                <a:gridCol w="7315200"/>
              </a:tblGrid>
              <a:tr h="411480">
                <a:tc>
                  <a:txBody>
                    <a:bodyPr/>
                    <a:lstStyle/>
                    <a:p>
                      <a:pPr algn="l" indent="0" marL="0">
                        <a:buNone/>
                      </a:pPr>
                      <a:r>
                        <a:rPr lang="en-US" sz="1400" b="1" dirty="0">
                          <a:solidFill>
                            <a:srgbClr val="FFFFFF"/>
                          </a:solidFill>
                        </a:rPr>
                        <a:t>问题 · Question</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2F4A3A"/>
                    </a:solidFill>
                  </a:tcPr>
                </a:tc>
                <a:tc>
                  <a:txBody>
                    <a:bodyPr/>
                    <a:lstStyle/>
                    <a:p>
                      <a:pPr algn="l" indent="0" marL="0">
                        <a:buNone/>
                      </a:pPr>
                      <a:r>
                        <a:rPr lang="en-US" sz="1400" b="1" dirty="0">
                          <a:solidFill>
                            <a:srgbClr val="FFFFFF"/>
                          </a:solidFill>
                        </a:rPr>
                        <a:t>员工必须知道的答案 · What staff must know</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2F4A3A"/>
                    </a:solidFill>
                  </a:tcPr>
                </a:tc>
              </a:tr>
              <a:tr h="804672">
                <a:tc>
                  <a:txBody>
                    <a:bodyPr/>
                    <a:lstStyle/>
                    <a:p>
                      <a:pPr indent="0" marL="0">
                        <a:buNone/>
                      </a:pPr>
                      <a:r>
                        <a:rPr lang="en-US" sz="1300" b="1" dirty="0">
                          <a:solidFill>
                            <a:srgbClr val="1F2D26"/>
                          </a:solidFill>
                        </a:rPr>
                        <a:t>孕妇可以做吗？</a:t>
                      </a:r>
                      <a:endParaRPr lang="en-US" sz="1200" dirty="0"/>
                    </a:p>
                    <a:p>
                      <a:pPr indent="0" marL="0">
                        <a:buNone/>
                      </a:pPr>
                      <a:r>
                        <a:rPr lang="en-US" sz="1150" dirty="0">
                          <a:solidFill>
                            <a:srgbClr val="55665C"/>
                          </a:solidFill>
                        </a:rPr>
                        <a:t>Can pregnant clients have it?</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c>
                  <a:txBody>
                    <a:bodyPr/>
                    <a:lstStyle/>
                    <a:p>
                      <a:pPr indent="0" marL="0">
                        <a:buNone/>
                      </a:pPr>
                      <a:r>
                        <a:rPr lang="en-US" sz="1300" b="1" dirty="0">
                          <a:solidFill>
                            <a:srgbClr val="1F2D26"/>
                          </a:solidFill>
                        </a:rPr>
                        <a:t>需要先核对官方禁忌，并建议顾客咨询医生</a:t>
                      </a:r>
                      <a:endParaRPr lang="en-US" sz="1200" dirty="0"/>
                    </a:p>
                    <a:p>
                      <a:pPr indent="0" marL="0">
                        <a:buNone/>
                      </a:pPr>
                      <a:r>
                        <a:rPr lang="en-US" sz="1150" dirty="0">
                          <a:solidFill>
                            <a:srgbClr val="55665C"/>
                          </a:solidFill>
                        </a:rPr>
                        <a:t>Check the official contraindications first and advise the client to consult a doctor</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r>
              <a:tr h="804672">
                <a:tc>
                  <a:txBody>
                    <a:bodyPr/>
                    <a:lstStyle/>
                    <a:p>
                      <a:pPr indent="0" marL="0">
                        <a:buNone/>
                      </a:pPr>
                      <a:r>
                        <a:rPr lang="en-US" sz="1300" b="1" dirty="0">
                          <a:solidFill>
                            <a:srgbClr val="1F2D26"/>
                          </a:solidFill>
                        </a:rPr>
                        <a:t>可以跟 Retinol 一起用吗？</a:t>
                      </a:r>
                      <a:endParaRPr lang="en-US" sz="1200" dirty="0"/>
                    </a:p>
                    <a:p>
                      <a:pPr indent="0" marL="0">
                        <a:buNone/>
                      </a:pPr>
                      <a:r>
                        <a:rPr lang="en-US" sz="1150" dirty="0">
                          <a:solidFill>
                            <a:srgbClr val="55665C"/>
                          </a:solidFill>
                        </a:rPr>
                        <a:t>Can it be used with retinol?</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1F2D26"/>
                          </a:solidFill>
                        </a:rPr>
                        <a:t>不建议在未经评估时叠加，以免增加刺激</a:t>
                      </a:r>
                      <a:endParaRPr lang="en-US" sz="1200" dirty="0"/>
                    </a:p>
                    <a:p>
                      <a:pPr indent="0" marL="0">
                        <a:buNone/>
                      </a:pPr>
                      <a:r>
                        <a:rPr lang="en-US" sz="1150" dirty="0">
                          <a:solidFill>
                            <a:srgbClr val="55665C"/>
                          </a:solidFill>
                        </a:rPr>
                        <a:t>Not without assessment — stacking can increase irritation</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804672">
                <a:tc>
                  <a:txBody>
                    <a:bodyPr/>
                    <a:lstStyle/>
                    <a:p>
                      <a:pPr indent="0" marL="0">
                        <a:buNone/>
                      </a:pPr>
                      <a:r>
                        <a:rPr lang="en-US" sz="1300" b="1" dirty="0">
                          <a:solidFill>
                            <a:srgbClr val="1F2D26"/>
                          </a:solidFill>
                        </a:rPr>
                        <a:t>皮肤越刺痛效果越好吗？</a:t>
                      </a:r>
                      <a:endParaRPr lang="en-US" sz="1200" dirty="0"/>
                    </a:p>
                    <a:p>
                      <a:pPr indent="0" marL="0">
                        <a:buNone/>
                      </a:pPr>
                      <a:r>
                        <a:rPr lang="en-US" sz="1150" dirty="0">
                          <a:solidFill>
                            <a:srgbClr val="55665C"/>
                          </a:solidFill>
                        </a:rPr>
                        <a:t>Does more stinging mean better results?</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c>
                  <a:txBody>
                    <a:bodyPr/>
                    <a:lstStyle/>
                    <a:p>
                      <a:pPr indent="0" marL="0">
                        <a:buNone/>
                      </a:pPr>
                      <a:r>
                        <a:rPr lang="en-US" sz="1300" b="1" dirty="0">
                          <a:solidFill>
                            <a:srgbClr val="1F2D26"/>
                          </a:solidFill>
                        </a:rPr>
                        <a:t>不是，刺激强不代表效果好</a:t>
                      </a:r>
                      <a:endParaRPr lang="en-US" sz="1200" dirty="0"/>
                    </a:p>
                    <a:p>
                      <a:pPr indent="0" marL="0">
                        <a:buNone/>
                      </a:pPr>
                      <a:r>
                        <a:rPr lang="en-US" sz="1150" dirty="0">
                          <a:solidFill>
                            <a:srgbClr val="55665C"/>
                          </a:solidFill>
                        </a:rPr>
                        <a:t>No — stronger irritation does not mean better results</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r>
              <a:tr h="804672">
                <a:tc>
                  <a:txBody>
                    <a:bodyPr/>
                    <a:lstStyle/>
                    <a:p>
                      <a:pPr indent="0" marL="0">
                        <a:buNone/>
                      </a:pPr>
                      <a:r>
                        <a:rPr lang="en-US" sz="1300" b="1" dirty="0">
                          <a:solidFill>
                            <a:srgbClr val="1F2D26"/>
                          </a:solidFill>
                        </a:rPr>
                        <a:t>可以改善所有类型的色斑吗？</a:t>
                      </a:r>
                      <a:endParaRPr lang="en-US" sz="1200" dirty="0"/>
                    </a:p>
                    <a:p>
                      <a:pPr indent="0" marL="0">
                        <a:buNone/>
                      </a:pPr>
                      <a:r>
                        <a:rPr lang="en-US" sz="1150" dirty="0">
                          <a:solidFill>
                            <a:srgbClr val="55665C"/>
                          </a:solidFill>
                        </a:rPr>
                        <a:t>Can it improve all types of pigmentation?</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1F2D26"/>
                          </a:solidFill>
                        </a:rPr>
                        <a:t>不可以，不同色素问题需要不同治疗方式</a:t>
                      </a:r>
                      <a:endParaRPr lang="en-US" sz="1200" dirty="0"/>
                    </a:p>
                    <a:p>
                      <a:pPr indent="0" marL="0">
                        <a:buNone/>
                      </a:pPr>
                      <a:r>
                        <a:rPr lang="en-US" sz="1150" dirty="0">
                          <a:solidFill>
                            <a:srgbClr val="55665C"/>
                          </a:solidFill>
                        </a:rPr>
                        <a:t>No — different pigment problems need different treatments</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804672">
                <a:tc>
                  <a:txBody>
                    <a:bodyPr/>
                    <a:lstStyle/>
                    <a:p>
                      <a:pPr indent="0" marL="0">
                        <a:buNone/>
                      </a:pPr>
                      <a:r>
                        <a:rPr lang="en-US" sz="1300" b="1" dirty="0">
                          <a:solidFill>
                            <a:srgbClr val="1F2D26"/>
                          </a:solidFill>
                        </a:rPr>
                        <a:t>可以搭配其他项目吗？</a:t>
                      </a:r>
                      <a:endParaRPr lang="en-US" sz="1200" dirty="0"/>
                    </a:p>
                    <a:p>
                      <a:pPr indent="0" marL="0">
                        <a:buNone/>
                      </a:pPr>
                      <a:r>
                        <a:rPr lang="en-US" sz="1150" dirty="0">
                          <a:solidFill>
                            <a:srgbClr val="55665C"/>
                          </a:solidFill>
                        </a:rPr>
                        <a:t>Can it be combined with other treatments?</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c>
                  <a:txBody>
                    <a:bodyPr/>
                    <a:lstStyle/>
                    <a:p>
                      <a:pPr indent="0" marL="0">
                        <a:buNone/>
                      </a:pPr>
                      <a:r>
                        <a:rPr lang="en-US" sz="1300" b="1" dirty="0">
                          <a:solidFill>
                            <a:srgbClr val="1F2D26"/>
                          </a:solidFill>
                        </a:rPr>
                        <a:t>补水导入、LED 光疗可搭配；2 周内避免针刺、激光等有创项目</a:t>
                      </a:r>
                      <a:endParaRPr lang="en-US" sz="1200" dirty="0"/>
                    </a:p>
                    <a:p>
                      <a:pPr indent="0" marL="0">
                        <a:buNone/>
                      </a:pPr>
                      <a:r>
                        <a:rPr lang="en-US" sz="1150" dirty="0">
                          <a:solidFill>
                            <a:srgbClr val="55665C"/>
                          </a:solidFill>
                        </a:rPr>
                        <a:t>Hydration infusion and LED can be combined; avoid needling, laser and other invasive treatments within 2 weeks</a:t>
                      </a:r>
                      <a:endParaRPr lang="en-US" sz="12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4EC"/>
                    </a:solidFill>
                  </a:tcPr>
                </a:tc>
              </a:tr>
            </a:tbl>
          </a:graphicData>
        </a:graphic>
      </p:graphicFrame>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665C"/>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1005840"/>
          </a:xfrm>
          <a:prstGeom prst="rect">
            <a:avLst/>
          </a:prstGeom>
          <a:noFill/>
          <a:ln/>
        </p:spPr>
        <p:txBody>
          <a:bodyPr wrap="square" lIns="0" tIns="0" rIns="0" bIns="0" rtlCol="0" anchor="t"/>
          <a:lstStyle/>
          <a:p>
            <a:pPr algn="l" indent="0" marL="0">
              <a:buNone/>
            </a:pPr>
            <a:r>
              <a:rPr lang="en-US" sz="3000" b="1" dirty="0">
                <a:solidFill>
                  <a:schemeClr val="bg1"/>
                </a:solidFill>
                <a:latin typeface="Calibri" pitchFamily="34" charset="0"/>
                <a:ea typeface="Calibri" pitchFamily="34" charset="-122"/>
                <a:cs typeface="Calibri" pitchFamily="34" charset="-120"/>
              </a:rPr>
              <a:t>重点回顾</a:t>
            </a:r>
            <a:endParaRPr lang="en-US" sz="3000" dirty="0"/>
          </a:p>
          <a:p>
            <a:pPr algn="l" indent="0" marL="0">
              <a:buNone/>
            </a:pPr>
            <a:r>
              <a:rPr lang="en-US" sz="1600" dirty="0">
                <a:solidFill>
                  <a:srgbClr val="CFE0D2"/>
                </a:solidFill>
                <a:latin typeface="Calibri" pitchFamily="34" charset="0"/>
                <a:ea typeface="Calibri" pitchFamily="34" charset="-122"/>
                <a:cs typeface="Calibri" pitchFamily="34" charset="-120"/>
              </a:rPr>
              <a:t>Key Takeaways for Every Therapist</a:t>
            </a:r>
            <a:endParaRPr lang="en-US" sz="3000" dirty="0"/>
          </a:p>
        </p:txBody>
      </p:sp>
      <p:sp>
        <p:nvSpPr>
          <p:cNvPr id="3" name="takeaway card 1"/>
          <p:cNvSpPr/>
          <p:nvPr/>
        </p:nvSpPr>
        <p:spPr>
          <a:xfrm>
            <a:off x="457200" y="1645920"/>
            <a:ext cx="3566160" cy="2011680"/>
          </a:xfrm>
          <a:prstGeom prst="roundRect">
            <a:avLst>
              <a:gd name="adj" fmla="val 5455"/>
            </a:avLst>
          </a:prstGeom>
          <a:solidFill>
            <a:srgbClr val="3D5F4A"/>
          </a:solidFill>
          <a:ln/>
        </p:spPr>
      </p:sp>
      <p:sp>
        <p:nvSpPr>
          <p:cNvPr id="4" name="takeaway icon 1 bg"/>
          <p:cNvSpPr/>
          <p:nvPr/>
        </p:nvSpPr>
        <p:spPr>
          <a:xfrm>
            <a:off x="731520" y="1920240"/>
            <a:ext cx="731520" cy="731520"/>
          </a:xfrm>
          <a:prstGeom prst="ellipse">
            <a:avLst/>
          </a:prstGeom>
          <a:solidFill>
            <a:schemeClr val="accent1"/>
          </a:solidFill>
          <a:ln/>
        </p:spPr>
      </p:sp>
      <p:pic>
        <p:nvPicPr>
          <p:cNvPr id="5" name="takeaway icon 1" descr="takeaway icon 1">    </p:cNvPr>
          <p:cNvPicPr>
            <a:picLocks noChangeAspect="1"/>
          </p:cNvPicPr>
          <p:nvPr/>
        </p:nvPicPr>
        <p:blipFill>
          <a:blip r:embed="rId1"/>
          <a:stretch>
            <a:fillRect/>
          </a:stretch>
        </p:blipFill>
        <p:spPr>
          <a:xfrm>
            <a:off x="921715" y="2110435"/>
            <a:ext cx="351130" cy="351130"/>
          </a:xfrm>
          <a:prstGeom prst="rect">
            <a:avLst/>
          </a:prstGeom>
        </p:spPr>
      </p:pic>
      <p:sp>
        <p:nvSpPr>
          <p:cNvPr id="6" name="Text 3"/>
          <p:cNvSpPr txBox="1"/>
          <p:nvPr/>
        </p:nvSpPr>
        <p:spPr>
          <a:xfrm>
            <a:off x="731520" y="2834640"/>
            <a:ext cx="3108960" cy="77724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rPr>
              <a:t>先评估，再操作</a:t>
            </a:r>
            <a:endParaRPr lang="en-US" sz="1800" dirty="0"/>
          </a:p>
          <a:p>
            <a:pPr indent="0" marL="0">
              <a:spcAft>
                <a:spcPts val="300"/>
              </a:spcAft>
              <a:buNone/>
            </a:pPr>
            <a:r>
              <a:rPr lang="en-US" sz="1300" dirty="0">
                <a:solidFill>
                  <a:srgbClr val="CFE0D2"/>
                </a:solidFill>
              </a:rPr>
              <a:t>Assess skin &amp; check contraindications first</a:t>
            </a:r>
            <a:endParaRPr lang="en-US" sz="1800" dirty="0"/>
          </a:p>
        </p:txBody>
      </p:sp>
      <p:sp>
        <p:nvSpPr>
          <p:cNvPr id="7" name="takeaway card 2"/>
          <p:cNvSpPr/>
          <p:nvPr/>
        </p:nvSpPr>
        <p:spPr>
          <a:xfrm>
            <a:off x="4297680" y="1645920"/>
            <a:ext cx="3566160" cy="2011680"/>
          </a:xfrm>
          <a:prstGeom prst="roundRect">
            <a:avLst>
              <a:gd name="adj" fmla="val 5455"/>
            </a:avLst>
          </a:prstGeom>
          <a:solidFill>
            <a:srgbClr val="3D5F4A"/>
          </a:solidFill>
          <a:ln/>
        </p:spPr>
      </p:sp>
      <p:sp>
        <p:nvSpPr>
          <p:cNvPr id="8" name="takeaway icon 2 bg"/>
          <p:cNvSpPr/>
          <p:nvPr/>
        </p:nvSpPr>
        <p:spPr>
          <a:xfrm>
            <a:off x="4572000" y="1920240"/>
            <a:ext cx="731520" cy="731520"/>
          </a:xfrm>
          <a:prstGeom prst="ellipse">
            <a:avLst/>
          </a:prstGeom>
          <a:solidFill>
            <a:schemeClr val="accent1"/>
          </a:solidFill>
          <a:ln/>
        </p:spPr>
      </p:sp>
      <p:pic>
        <p:nvPicPr>
          <p:cNvPr id="9" name="takeaway icon 2" descr="takeaway icon 2">    </p:cNvPr>
          <p:cNvPicPr>
            <a:picLocks noChangeAspect="1"/>
          </p:cNvPicPr>
          <p:nvPr/>
        </p:nvPicPr>
        <p:blipFill>
          <a:blip r:embed="rId2"/>
          <a:stretch>
            <a:fillRect/>
          </a:stretch>
        </p:blipFill>
        <p:spPr>
          <a:xfrm>
            <a:off x="4762195" y="2110435"/>
            <a:ext cx="351130" cy="351130"/>
          </a:xfrm>
          <a:prstGeom prst="rect">
            <a:avLst/>
          </a:prstGeom>
        </p:spPr>
      </p:pic>
      <p:sp>
        <p:nvSpPr>
          <p:cNvPr id="10" name="Text 6"/>
          <p:cNvSpPr txBox="1"/>
          <p:nvPr/>
        </p:nvSpPr>
        <p:spPr>
          <a:xfrm>
            <a:off x="4572000" y="2834640"/>
            <a:ext cx="3108960" cy="77724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rPr>
              <a:t>避开眼周、嘴唇</a:t>
            </a:r>
            <a:endParaRPr lang="en-US" sz="1800" dirty="0"/>
          </a:p>
          <a:p>
            <a:pPr indent="0" marL="0">
              <a:spcAft>
                <a:spcPts val="300"/>
              </a:spcAft>
              <a:buNone/>
            </a:pPr>
            <a:r>
              <a:rPr lang="en-US" sz="1300" dirty="0">
                <a:solidFill>
                  <a:srgbClr val="CFE0D2"/>
                </a:solidFill>
              </a:rPr>
              <a:t>Avoid the eye &amp; lip area</a:t>
            </a:r>
            <a:endParaRPr lang="en-US" sz="1800" dirty="0"/>
          </a:p>
        </p:txBody>
      </p:sp>
      <p:sp>
        <p:nvSpPr>
          <p:cNvPr id="11" name="takeaway card 3"/>
          <p:cNvSpPr/>
          <p:nvPr/>
        </p:nvSpPr>
        <p:spPr>
          <a:xfrm>
            <a:off x="8138160" y="1645920"/>
            <a:ext cx="3566160" cy="2011680"/>
          </a:xfrm>
          <a:prstGeom prst="roundRect">
            <a:avLst>
              <a:gd name="adj" fmla="val 5455"/>
            </a:avLst>
          </a:prstGeom>
          <a:solidFill>
            <a:srgbClr val="3D5F4A"/>
          </a:solidFill>
          <a:ln/>
        </p:spPr>
      </p:sp>
      <p:sp>
        <p:nvSpPr>
          <p:cNvPr id="12" name="takeaway icon 3 bg"/>
          <p:cNvSpPr/>
          <p:nvPr/>
        </p:nvSpPr>
        <p:spPr>
          <a:xfrm>
            <a:off x="8412480" y="1920240"/>
            <a:ext cx="731520" cy="731520"/>
          </a:xfrm>
          <a:prstGeom prst="ellipse">
            <a:avLst/>
          </a:prstGeom>
          <a:solidFill>
            <a:schemeClr val="accent1"/>
          </a:solidFill>
          <a:ln/>
        </p:spPr>
      </p:sp>
      <p:pic>
        <p:nvPicPr>
          <p:cNvPr id="13" name="takeaway icon 3" descr="takeaway icon 3">    </p:cNvPr>
          <p:cNvPicPr>
            <a:picLocks noChangeAspect="1"/>
          </p:cNvPicPr>
          <p:nvPr/>
        </p:nvPicPr>
        <p:blipFill>
          <a:blip r:embed="rId3"/>
          <a:stretch>
            <a:fillRect/>
          </a:stretch>
        </p:blipFill>
        <p:spPr>
          <a:xfrm>
            <a:off x="8602675" y="2110435"/>
            <a:ext cx="351130" cy="351130"/>
          </a:xfrm>
          <a:prstGeom prst="rect">
            <a:avLst/>
          </a:prstGeom>
        </p:spPr>
      </p:pic>
      <p:sp>
        <p:nvSpPr>
          <p:cNvPr id="14" name="Text 9"/>
          <p:cNvSpPr txBox="1"/>
          <p:nvPr/>
        </p:nvSpPr>
        <p:spPr>
          <a:xfrm>
            <a:off x="8412480" y="2834640"/>
            <a:ext cx="3108960" cy="77724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rPr>
              <a:t>控制停留时间</a:t>
            </a:r>
            <a:endParaRPr lang="en-US" sz="1800" dirty="0"/>
          </a:p>
          <a:p>
            <a:pPr indent="0" marL="0">
              <a:spcAft>
                <a:spcPts val="300"/>
              </a:spcAft>
              <a:buNone/>
            </a:pPr>
            <a:r>
              <a:rPr lang="en-US" sz="1300" dirty="0">
                <a:solidFill>
                  <a:srgbClr val="CFE0D2"/>
                </a:solidFill>
              </a:rPr>
              <a:t>Watch dwell time — sensitive skin max 6 mins in total</a:t>
            </a:r>
            <a:endParaRPr lang="en-US" sz="1800" dirty="0"/>
          </a:p>
        </p:txBody>
      </p:sp>
      <p:sp>
        <p:nvSpPr>
          <p:cNvPr id="15" name="takeaway card 4"/>
          <p:cNvSpPr/>
          <p:nvPr/>
        </p:nvSpPr>
        <p:spPr>
          <a:xfrm>
            <a:off x="457200" y="3886200"/>
            <a:ext cx="3566160" cy="2011680"/>
          </a:xfrm>
          <a:prstGeom prst="roundRect">
            <a:avLst>
              <a:gd name="adj" fmla="val 5455"/>
            </a:avLst>
          </a:prstGeom>
          <a:solidFill>
            <a:srgbClr val="3D5F4A"/>
          </a:solidFill>
          <a:ln/>
        </p:spPr>
      </p:sp>
      <p:sp>
        <p:nvSpPr>
          <p:cNvPr id="16" name="takeaway icon 4 bg"/>
          <p:cNvSpPr/>
          <p:nvPr/>
        </p:nvSpPr>
        <p:spPr>
          <a:xfrm>
            <a:off x="731520" y="4160520"/>
            <a:ext cx="731520" cy="731520"/>
          </a:xfrm>
          <a:prstGeom prst="ellipse">
            <a:avLst/>
          </a:prstGeom>
          <a:solidFill>
            <a:schemeClr val="accent1"/>
          </a:solidFill>
          <a:ln/>
        </p:spPr>
      </p:sp>
      <p:pic>
        <p:nvPicPr>
          <p:cNvPr id="17" name="takeaway icon 4" descr="takeaway icon 4">    </p:cNvPr>
          <p:cNvPicPr>
            <a:picLocks noChangeAspect="1"/>
          </p:cNvPicPr>
          <p:nvPr/>
        </p:nvPicPr>
        <p:blipFill>
          <a:blip r:embed="rId4"/>
          <a:stretch>
            <a:fillRect/>
          </a:stretch>
        </p:blipFill>
        <p:spPr>
          <a:xfrm>
            <a:off x="921715" y="4350715"/>
            <a:ext cx="351130" cy="351130"/>
          </a:xfrm>
          <a:prstGeom prst="rect">
            <a:avLst/>
          </a:prstGeom>
        </p:spPr>
      </p:pic>
      <p:sp>
        <p:nvSpPr>
          <p:cNvPr id="18" name="Text 12"/>
          <p:cNvSpPr txBox="1"/>
          <p:nvPr/>
        </p:nvSpPr>
        <p:spPr>
          <a:xfrm>
            <a:off x="731520" y="5074920"/>
            <a:ext cx="3108960" cy="77724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rPr>
              <a:t>只用凉水擦拭</a:t>
            </a:r>
            <a:endParaRPr lang="en-US" sz="1800" dirty="0"/>
          </a:p>
          <a:p>
            <a:pPr indent="0" marL="0">
              <a:spcAft>
                <a:spcPts val="300"/>
              </a:spcAft>
              <a:buNone/>
            </a:pPr>
            <a:r>
              <a:rPr lang="en-US" sz="1300" dirty="0">
                <a:solidFill>
                  <a:srgbClr val="CFE0D2"/>
                </a:solidFill>
              </a:rPr>
              <a:t>Cool water only — never hot</a:t>
            </a:r>
            <a:endParaRPr lang="en-US" sz="1800" dirty="0"/>
          </a:p>
        </p:txBody>
      </p:sp>
      <p:sp>
        <p:nvSpPr>
          <p:cNvPr id="19" name="takeaway card 5"/>
          <p:cNvSpPr/>
          <p:nvPr/>
        </p:nvSpPr>
        <p:spPr>
          <a:xfrm>
            <a:off x="4297680" y="3886200"/>
            <a:ext cx="3566160" cy="2011680"/>
          </a:xfrm>
          <a:prstGeom prst="roundRect">
            <a:avLst>
              <a:gd name="adj" fmla="val 5455"/>
            </a:avLst>
          </a:prstGeom>
          <a:solidFill>
            <a:srgbClr val="3D5F4A"/>
          </a:solidFill>
          <a:ln/>
        </p:spPr>
      </p:sp>
      <p:sp>
        <p:nvSpPr>
          <p:cNvPr id="20" name="takeaway icon 5 bg"/>
          <p:cNvSpPr/>
          <p:nvPr/>
        </p:nvSpPr>
        <p:spPr>
          <a:xfrm>
            <a:off x="4572000" y="4160520"/>
            <a:ext cx="731520" cy="731520"/>
          </a:xfrm>
          <a:prstGeom prst="ellipse">
            <a:avLst/>
          </a:prstGeom>
          <a:solidFill>
            <a:schemeClr val="accent1"/>
          </a:solidFill>
          <a:ln/>
        </p:spPr>
      </p:sp>
      <p:pic>
        <p:nvPicPr>
          <p:cNvPr id="21" name="takeaway icon 5" descr="takeaway icon 5">    </p:cNvPr>
          <p:cNvPicPr>
            <a:picLocks noChangeAspect="1"/>
          </p:cNvPicPr>
          <p:nvPr/>
        </p:nvPicPr>
        <p:blipFill>
          <a:blip r:embed="rId5"/>
          <a:stretch>
            <a:fillRect/>
          </a:stretch>
        </p:blipFill>
        <p:spPr>
          <a:xfrm>
            <a:off x="4762195" y="4350715"/>
            <a:ext cx="351130" cy="351130"/>
          </a:xfrm>
          <a:prstGeom prst="rect">
            <a:avLst/>
          </a:prstGeom>
        </p:spPr>
      </p:pic>
      <p:sp>
        <p:nvSpPr>
          <p:cNvPr id="22" name="Text 15"/>
          <p:cNvSpPr txBox="1"/>
          <p:nvPr/>
        </p:nvSpPr>
        <p:spPr>
          <a:xfrm>
            <a:off x="4572000" y="5074920"/>
            <a:ext cx="3108960" cy="77724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rPr>
              <a:t>不应大面积脱皮</a:t>
            </a:r>
            <a:endParaRPr lang="en-US" sz="1800" dirty="0"/>
          </a:p>
          <a:p>
            <a:pPr indent="0" marL="0">
              <a:spcAft>
                <a:spcPts val="300"/>
              </a:spcAft>
              <a:buNone/>
            </a:pPr>
            <a:r>
              <a:rPr lang="en-US" sz="1300" dirty="0">
                <a:solidFill>
                  <a:srgbClr val="CFE0D2"/>
                </a:solidFill>
              </a:rPr>
              <a:t>Heavy peeling = technique error, review it</a:t>
            </a:r>
            <a:endParaRPr lang="en-US" sz="1800" dirty="0"/>
          </a:p>
        </p:txBody>
      </p:sp>
      <p:sp>
        <p:nvSpPr>
          <p:cNvPr id="23" name="takeaway card 6"/>
          <p:cNvSpPr/>
          <p:nvPr/>
        </p:nvSpPr>
        <p:spPr>
          <a:xfrm>
            <a:off x="8138160" y="3886200"/>
            <a:ext cx="3566160" cy="2011680"/>
          </a:xfrm>
          <a:prstGeom prst="roundRect">
            <a:avLst>
              <a:gd name="adj" fmla="val 5455"/>
            </a:avLst>
          </a:prstGeom>
          <a:solidFill>
            <a:srgbClr val="3D5F4A"/>
          </a:solidFill>
          <a:ln/>
        </p:spPr>
      </p:sp>
      <p:sp>
        <p:nvSpPr>
          <p:cNvPr id="24" name="takeaway icon 6 bg"/>
          <p:cNvSpPr/>
          <p:nvPr/>
        </p:nvSpPr>
        <p:spPr>
          <a:xfrm>
            <a:off x="8412480" y="4160520"/>
            <a:ext cx="731520" cy="731520"/>
          </a:xfrm>
          <a:prstGeom prst="ellipse">
            <a:avLst/>
          </a:prstGeom>
          <a:solidFill>
            <a:schemeClr val="accent1"/>
          </a:solidFill>
          <a:ln/>
        </p:spPr>
      </p:sp>
      <p:pic>
        <p:nvPicPr>
          <p:cNvPr id="25" name="takeaway icon 6" descr="takeaway icon 6">    </p:cNvPr>
          <p:cNvPicPr>
            <a:picLocks noChangeAspect="1"/>
          </p:cNvPicPr>
          <p:nvPr/>
        </p:nvPicPr>
        <p:blipFill>
          <a:blip r:embed="rId6"/>
          <a:stretch>
            <a:fillRect/>
          </a:stretch>
        </p:blipFill>
        <p:spPr>
          <a:xfrm>
            <a:off x="8602675" y="4350715"/>
            <a:ext cx="351130" cy="351130"/>
          </a:xfrm>
          <a:prstGeom prst="rect">
            <a:avLst/>
          </a:prstGeom>
        </p:spPr>
      </p:pic>
      <p:sp>
        <p:nvSpPr>
          <p:cNvPr id="26" name="Text 18"/>
          <p:cNvSpPr txBox="1"/>
          <p:nvPr/>
        </p:nvSpPr>
        <p:spPr>
          <a:xfrm>
            <a:off x="8412480" y="5074920"/>
            <a:ext cx="3108960" cy="77724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rPr>
              <a:t>严格防晒 SPF50+</a:t>
            </a:r>
            <a:endParaRPr lang="en-US" sz="1800" dirty="0"/>
          </a:p>
          <a:p>
            <a:pPr indent="0" marL="0">
              <a:spcAft>
                <a:spcPts val="300"/>
              </a:spcAft>
              <a:buNone/>
            </a:pPr>
            <a:r>
              <a:rPr lang="en-US" sz="1300" dirty="0">
                <a:solidFill>
                  <a:srgbClr val="CFE0D2"/>
                </a:solidFill>
              </a:rPr>
              <a:t>Strict sun protection &amp; hydration at home</a:t>
            </a:r>
            <a:endParaRPr lang="en-US" sz="18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0D2"/>
                </a:solidFill>
              </a:defRPr>
            </a:lvl1pPr>
          </a:lstStyle>
          <a:p>
            <a:pPr algn="r"/>
            <a:fld id="{F7021451-1387-4CA6-816F-3879F97B5CBC}" type="slidenum">
              <a:rPr b="0" lang="en-US"/>
              <a:t>38</a:t>
            </a:fld>
            <a:endParaRPr lang="en-US"/>
          </a:p>
        </p:txBody>
      </p:sp>
    </p:spTree>
  </p:cSld>
  <p:clrMapOvr>
    <a:masterClrMapping/>
  </p:clrMapOvr>
</p:sld>
</file>

<file path=ppt/theme/theme1.xml><?xml version="1.0" encoding="utf-8"?>
<a:theme xmlns:a="http://schemas.openxmlformats.org/drawingml/2006/main" name="XE-LHA Training">
  <a:themeElements>
    <a:clrScheme name="XE-LHA Training">
      <a:dk1>
        <a:srgbClr val="1F2D26"/>
      </a:dk1>
      <a:lt1>
        <a:srgbClr val="FFFFFF"/>
      </a:lt1>
      <a:dk2>
        <a:srgbClr val="2F4A3A"/>
      </a:dk2>
      <a:lt2>
        <a:srgbClr val="EEF4EC"/>
      </a:lt2>
      <a:accent1>
        <a:srgbClr val="4F8559"/>
      </a:accent1>
      <a:accent2>
        <a:srgbClr val="B8923A"/>
      </a:accent2>
      <a:accent3>
        <a:srgbClr val="D9694B"/>
      </a:accent3>
      <a:accent4>
        <a:srgbClr val="8FB996"/>
      </a:accent4>
      <a:accent5>
        <a:srgbClr val="F4E6C3"/>
      </a:accent5>
      <a:accent6>
        <a:srgbClr val="55665C"/>
      </a:accent6>
      <a:hlink>
        <a:srgbClr val="4F8559"/>
      </a:hlink>
      <a:folHlink>
        <a:srgbClr val="55665C"/>
      </a:folHlink>
    </a:clrScheme>
    <a:fontScheme name="XE-LHA Trainin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XE-LHA Peel Staff Training</dc:title>
  <dc:subject>PptxGenJS Presentation</dc:subject>
  <dc:creator>Salon Training</dc:creator>
  <cp:lastModifiedBy>Salon Training</cp:lastModifiedBy>
  <cp:revision>1</cp:revision>
  <dcterms:created xsi:type="dcterms:W3CDTF">2026-10-10T08:00:51Z</dcterms:created>
  <dcterms:modified xsi:type="dcterms:W3CDTF">2026-10-10T08:00:51Z</dcterms:modified>
</cp:coreProperties>
</file>