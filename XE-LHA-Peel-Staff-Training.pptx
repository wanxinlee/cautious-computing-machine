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 简介" id="{391060b3-8a09-05f3-f93e-f4c63d3759cc}">
          <p14:sldIdLst>
            <p14:sldId id="256"/>
            <p14:sldId id="257"/>
            <p14:sldId id="258"/>
          </p14:sldIdLst>
        </p14:section>
        <p14:section name="Product 产品" id="{442cb7a5-de1d-4922-dc64-0c646d01d483}">
          <p14:sldIdLst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</p14:sldIdLst>
        </p14:section>
        <p14:section name="Procedure 操作流程" id="{8e429718-b172-d67e-06b9-c80a8d87f53a}">
          <p14:sldIdLst>
            <p14:sldId id="268"/>
            <p14:sldId id="269"/>
            <p14:sldId id="270"/>
          </p14:sldIdLst>
        </p14:section>
        <p14:section name="Safety 安全" id="{980e233d-8bc7-eb0c-83c0-53ca08b674e4}">
          <p14:sldIdLst>
            <p14:sldId id="271"/>
            <p14:sldId id="272"/>
            <p14:sldId id="273"/>
          </p14:sldIdLst>
        </p14:section>
        <p14:section name="Reference 参考" id="{7c4b470d-f989-5282-9e39-c1d67cfb1e35}">
          <p14:sldIdLst>
            <p14:sldId id="274"/>
            <p14:sldId id="275"/>
            <p14:sldId id="276"/>
            <p14:sldId id="27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665C"/>
                </a:solidFill>
              </a:rPr>
              <a:t>XE‑LHA Peel  ·  员工培训 Staff Training  ·  Internal use 内部资料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457200" y="274320"/>
            <a:ext cx="1124712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65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2F4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4712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0D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65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image" Target="../media/image-11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image" Target="../media/image-16-6.png"/><Relationship Id="rId7" Type="http://schemas.openxmlformats.org/officeDocument/2006/relationships/image" Target="../media/image-16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image" Target="../media/image-19-5.png"/><Relationship Id="rId6" Type="http://schemas.openxmlformats.org/officeDocument/2006/relationships/image" Target="../media/image-19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image" Target="../media/image-22-5.png"/><Relationship Id="rId6" Type="http://schemas.openxmlformats.org/officeDocument/2006/relationships/image" Target="../media/image-22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circle 1"/>
          <p:cNvSpPr/>
          <p:nvPr/>
        </p:nvSpPr>
        <p:spPr>
          <a:xfrm>
            <a:off x="7498080" y="-1463040"/>
            <a:ext cx="5852160" cy="5852160"/>
          </a:xfrm>
          <a:prstGeom prst="ellipse">
            <a:avLst/>
          </a:prstGeom>
          <a:solidFill>
            <a:srgbClr val="3D5F4A"/>
          </a:solidFill>
          <a:ln/>
        </p:spPr>
      </p:sp>
      <p:sp>
        <p:nvSpPr>
          <p:cNvPr id="3" name="deco circle 2"/>
          <p:cNvSpPr/>
          <p:nvPr/>
        </p:nvSpPr>
        <p:spPr>
          <a:xfrm>
            <a:off x="5394960" y="4206240"/>
            <a:ext cx="3291840" cy="3291840"/>
          </a:xfrm>
          <a:prstGeom prst="ellipse">
            <a:avLst/>
          </a:prstGeom>
          <a:solidFill>
            <a:srgbClr val="3A584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8229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A9D3B0"/>
                </a:solidFill>
              </a:rPr>
              <a:t>INTERNAL TRAINING  内部培训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37160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chemeClr val="bg1"/>
                </a:solidFill>
              </a:rPr>
              <a:t>XE‑LHA PEEL</a:t>
            </a:r>
            <a:endParaRPr lang="en-US" sz="56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331720"/>
            <a:ext cx="6583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韩国温和焕肤疗程</a:t>
            </a:r>
            <a:endParaRPr lang="en-US" sz="36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306324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CFE0D2"/>
                </a:solidFill>
              </a:rPr>
              <a:t>Korean Gentle Skin Peel Treatment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3931920"/>
            <a:ext cx="6400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800" b="1" dirty="0">
                <a:solidFill>
                  <a:schemeClr val="bg1"/>
                </a:solidFill>
              </a:rPr>
              <a:t>员工实操 &amp; 销售话术培训</a:t>
            </a:r>
            <a:endParaRPr lang="en-US" sz="18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600" dirty="0">
                <a:solidFill>
                  <a:srgbClr val="CFE0D2"/>
                </a:solidFill>
              </a:rPr>
              <a:t>Therapist Practical &amp; Sales Training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5303520"/>
            <a:ext cx="5486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CFE0D2"/>
                </a:solidFill>
              </a:rPr>
              <a:t>门店 Salon: 新加坡 Singapore ‑ ______________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CFE0D2"/>
                </a:solidFill>
              </a:rPr>
              <a:t>培训日期 Date: ____________________</a:t>
            </a:r>
            <a:endParaRPr lang="en-US" sz="1400" dirty="0"/>
          </a:p>
        </p:txBody>
      </p:sp>
      <p:sp>
        <p:nvSpPr>
          <p:cNvPr id="10" name="product photo card"/>
          <p:cNvSpPr/>
          <p:nvPr/>
        </p:nvSpPr>
        <p:spPr>
          <a:xfrm>
            <a:off x="7772400" y="1280160"/>
            <a:ext cx="3840480" cy="457200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/>
        </p:spPr>
      </p:sp>
      <p:pic>
        <p:nvPicPr>
          <p:cNvPr id="11" name="XE-LHA Peel Basic and Ultra bottles" descr="XE-LHA Peel Basic and Ultra bottl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38774" y="1417320"/>
            <a:ext cx="3307732" cy="4297680"/>
          </a:xfrm>
          <a:prstGeom prst="rect">
            <a:avLst/>
          </a:prstGeom>
        </p:spPr>
      </p:pic>
      <p:sp>
        <p:nvSpPr>
          <p:cNvPr id="12" name="Text 0"/>
          <p:cNvSpPr/>
          <p:nvPr>
            <p:ph idx="100" type="title" hasCustomPrompt="1"/>
          </p:nvPr>
        </p:nvSpPr>
        <p:spPr>
          <a:xfrm>
            <a:off x="457200" y="274320"/>
            <a:ext cx="11247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0D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11247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目录</a:t>
            </a:r>
            <a:endParaRPr lang="en-US" sz="3000" dirty="0"/>
          </a:p>
          <a:p>
            <a:pPr algn="l" indent="0" marL="0">
              <a:buNone/>
            </a:pPr>
            <a:r>
              <a:rPr lang="en-US" sz="160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 of Contents</a:t>
            </a:r>
            <a:endParaRPr lang="en-US" sz="3000" dirty="0"/>
          </a:p>
        </p:txBody>
      </p:sp>
      <p:sp>
        <p:nvSpPr>
          <p:cNvPr id="3" name="toc card 1"/>
          <p:cNvSpPr/>
          <p:nvPr/>
        </p:nvSpPr>
        <p:spPr>
          <a:xfrm>
            <a:off x="457200" y="1463040"/>
            <a:ext cx="5486400" cy="676656"/>
          </a:xfrm>
          <a:prstGeom prst="roundRect">
            <a:avLst>
              <a:gd name="adj" fmla="val 16216"/>
            </a:avLst>
          </a:prstGeom>
          <a:solidFill>
            <a:schemeClr val="bg2"/>
          </a:solidFill>
          <a:ln/>
        </p:spPr>
      </p:sp>
      <p:sp>
        <p:nvSpPr>
          <p:cNvPr id="4" name="num 1"/>
          <p:cNvSpPr txBox="1"/>
          <p:nvPr/>
        </p:nvSpPr>
        <p:spPr>
          <a:xfrm>
            <a:off x="640080" y="1572768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80160" y="1508760"/>
            <a:ext cx="4480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品牌简介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About the XE‑LHA Brand</a:t>
            </a:r>
            <a:endParaRPr lang="en-US" sz="1500" dirty="0"/>
          </a:p>
        </p:txBody>
      </p:sp>
      <p:sp>
        <p:nvSpPr>
          <p:cNvPr id="6" name="toc card 2"/>
          <p:cNvSpPr/>
          <p:nvPr/>
        </p:nvSpPr>
        <p:spPr>
          <a:xfrm>
            <a:off x="457200" y="2249424"/>
            <a:ext cx="5486400" cy="676656"/>
          </a:xfrm>
          <a:prstGeom prst="roundRect">
            <a:avLst>
              <a:gd name="adj" fmla="val 16216"/>
            </a:avLst>
          </a:prstGeom>
          <a:solidFill>
            <a:schemeClr val="bg2"/>
          </a:solidFill>
          <a:ln/>
        </p:spPr>
      </p:sp>
      <p:sp>
        <p:nvSpPr>
          <p:cNvPr id="7" name="num 2"/>
          <p:cNvSpPr txBox="1"/>
          <p:nvPr/>
        </p:nvSpPr>
        <p:spPr>
          <a:xfrm>
            <a:off x="640080" y="2359152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2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2295144"/>
            <a:ext cx="4480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项目简介与产品组合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What is XE‑LHA Peel &amp; Product Line‑up</a:t>
            </a:r>
            <a:endParaRPr lang="en-US" sz="1500" dirty="0"/>
          </a:p>
        </p:txBody>
      </p:sp>
      <p:sp>
        <p:nvSpPr>
          <p:cNvPr id="9" name="toc card 3"/>
          <p:cNvSpPr/>
          <p:nvPr/>
        </p:nvSpPr>
        <p:spPr>
          <a:xfrm>
            <a:off x="457200" y="3035808"/>
            <a:ext cx="5486400" cy="676656"/>
          </a:xfrm>
          <a:prstGeom prst="roundRect">
            <a:avLst>
              <a:gd name="adj" fmla="val 16216"/>
            </a:avLst>
          </a:prstGeom>
          <a:solidFill>
            <a:schemeClr val="bg2"/>
          </a:solidFill>
          <a:ln/>
        </p:spPr>
      </p:sp>
      <p:sp>
        <p:nvSpPr>
          <p:cNvPr id="10" name="num 3"/>
          <p:cNvSpPr txBox="1"/>
          <p:nvPr/>
        </p:nvSpPr>
        <p:spPr>
          <a:xfrm>
            <a:off x="640080" y="3145536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280160" y="3081528"/>
            <a:ext cx="4480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核心成分与焕肤原理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Key Ingredients &amp; Working Principle</a:t>
            </a:r>
            <a:endParaRPr lang="en-US" sz="1500" dirty="0"/>
          </a:p>
        </p:txBody>
      </p:sp>
      <p:sp>
        <p:nvSpPr>
          <p:cNvPr id="12" name="toc card 4"/>
          <p:cNvSpPr/>
          <p:nvPr/>
        </p:nvSpPr>
        <p:spPr>
          <a:xfrm>
            <a:off x="457200" y="3822192"/>
            <a:ext cx="5486400" cy="676656"/>
          </a:xfrm>
          <a:prstGeom prst="roundRect">
            <a:avLst>
              <a:gd name="adj" fmla="val 16216"/>
            </a:avLst>
          </a:prstGeom>
          <a:solidFill>
            <a:schemeClr val="bg2"/>
          </a:solidFill>
          <a:ln/>
        </p:spPr>
      </p:sp>
      <p:sp>
        <p:nvSpPr>
          <p:cNvPr id="13" name="num 4"/>
          <p:cNvSpPr txBox="1"/>
          <p:nvPr/>
        </p:nvSpPr>
        <p:spPr>
          <a:xfrm>
            <a:off x="640080" y="393192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4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3867912"/>
            <a:ext cx="4480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功效与临床数据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Skin Benefits &amp; Clinical Evidence</a:t>
            </a:r>
            <a:endParaRPr lang="en-US" sz="1500" dirty="0"/>
          </a:p>
        </p:txBody>
      </p:sp>
      <p:sp>
        <p:nvSpPr>
          <p:cNvPr id="15" name="toc card 5"/>
          <p:cNvSpPr/>
          <p:nvPr/>
        </p:nvSpPr>
        <p:spPr>
          <a:xfrm>
            <a:off x="457200" y="4608576"/>
            <a:ext cx="5486400" cy="676656"/>
          </a:xfrm>
          <a:prstGeom prst="roundRect">
            <a:avLst>
              <a:gd name="adj" fmla="val 16216"/>
            </a:avLst>
          </a:prstGeom>
          <a:solidFill>
            <a:schemeClr val="bg2"/>
          </a:solidFill>
          <a:ln/>
        </p:spPr>
      </p:sp>
      <p:sp>
        <p:nvSpPr>
          <p:cNvPr id="16" name="num 5"/>
          <p:cNvSpPr txBox="1"/>
          <p:nvPr/>
        </p:nvSpPr>
        <p:spPr>
          <a:xfrm>
            <a:off x="640080" y="4718304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5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1280160" y="4654296"/>
            <a:ext cx="4480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标准操作流程（SOP）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Standard Operating Procedure</a:t>
            </a:r>
            <a:endParaRPr lang="en-US" sz="1500" dirty="0"/>
          </a:p>
        </p:txBody>
      </p:sp>
      <p:sp>
        <p:nvSpPr>
          <p:cNvPr id="18" name="toc card 6"/>
          <p:cNvSpPr/>
          <p:nvPr/>
        </p:nvSpPr>
        <p:spPr>
          <a:xfrm>
            <a:off x="457200" y="5394960"/>
            <a:ext cx="5486400" cy="676656"/>
          </a:xfrm>
          <a:prstGeom prst="roundRect">
            <a:avLst>
              <a:gd name="adj" fmla="val 16216"/>
            </a:avLst>
          </a:prstGeom>
          <a:solidFill>
            <a:schemeClr val="bg2"/>
          </a:solidFill>
          <a:ln/>
        </p:spPr>
      </p:sp>
      <p:sp>
        <p:nvSpPr>
          <p:cNvPr id="19" name="num 6"/>
          <p:cNvSpPr txBox="1"/>
          <p:nvPr/>
        </p:nvSpPr>
        <p:spPr>
          <a:xfrm>
            <a:off x="640080" y="5504688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6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1280160" y="5440680"/>
            <a:ext cx="4480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疗程周期与维护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Treatment Cycle &amp; Maintenance</a:t>
            </a:r>
            <a:endParaRPr lang="en-US" sz="1500" dirty="0"/>
          </a:p>
        </p:txBody>
      </p:sp>
      <p:sp>
        <p:nvSpPr>
          <p:cNvPr id="21" name="toc card 7"/>
          <p:cNvSpPr/>
          <p:nvPr/>
        </p:nvSpPr>
        <p:spPr>
          <a:xfrm>
            <a:off x="6217920" y="1463040"/>
            <a:ext cx="5486400" cy="676656"/>
          </a:xfrm>
          <a:prstGeom prst="roundRect">
            <a:avLst>
              <a:gd name="adj" fmla="val 16216"/>
            </a:avLst>
          </a:prstGeom>
          <a:solidFill>
            <a:schemeClr val="bg2"/>
          </a:solidFill>
          <a:ln/>
        </p:spPr>
      </p:sp>
      <p:sp>
        <p:nvSpPr>
          <p:cNvPr id="22" name="num 7"/>
          <p:cNvSpPr txBox="1"/>
          <p:nvPr/>
        </p:nvSpPr>
        <p:spPr>
          <a:xfrm>
            <a:off x="6400800" y="1572768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7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7040880" y="1508760"/>
            <a:ext cx="4480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术前咨询与禁忌症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Consultation &amp; Contraindications</a:t>
            </a:r>
            <a:endParaRPr lang="en-US" sz="1500" dirty="0"/>
          </a:p>
        </p:txBody>
      </p:sp>
      <p:sp>
        <p:nvSpPr>
          <p:cNvPr id="24" name="toc card 8"/>
          <p:cNvSpPr/>
          <p:nvPr/>
        </p:nvSpPr>
        <p:spPr>
          <a:xfrm>
            <a:off x="6217920" y="2249424"/>
            <a:ext cx="5486400" cy="676656"/>
          </a:xfrm>
          <a:prstGeom prst="roundRect">
            <a:avLst>
              <a:gd name="adj" fmla="val 16216"/>
            </a:avLst>
          </a:prstGeom>
          <a:solidFill>
            <a:schemeClr val="bg2"/>
          </a:solidFill>
          <a:ln/>
        </p:spPr>
      </p:sp>
      <p:sp>
        <p:nvSpPr>
          <p:cNvPr id="25" name="num 8"/>
          <p:cNvSpPr txBox="1"/>
          <p:nvPr/>
        </p:nvSpPr>
        <p:spPr>
          <a:xfrm>
            <a:off x="6400800" y="2359152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8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7040880" y="2295144"/>
            <a:ext cx="4480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术后护理与居家建议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After‑care &amp; Home Advice</a:t>
            </a:r>
            <a:endParaRPr lang="en-US" sz="1500" dirty="0"/>
          </a:p>
        </p:txBody>
      </p:sp>
      <p:sp>
        <p:nvSpPr>
          <p:cNvPr id="27" name="toc card 9"/>
          <p:cNvSpPr/>
          <p:nvPr/>
        </p:nvSpPr>
        <p:spPr>
          <a:xfrm>
            <a:off x="6217920" y="3035808"/>
            <a:ext cx="5486400" cy="676656"/>
          </a:xfrm>
          <a:prstGeom prst="roundRect">
            <a:avLst>
              <a:gd name="adj" fmla="val 16216"/>
            </a:avLst>
          </a:prstGeom>
          <a:solidFill>
            <a:schemeClr val="bg2"/>
          </a:solidFill>
          <a:ln/>
        </p:spPr>
      </p:sp>
      <p:sp>
        <p:nvSpPr>
          <p:cNvPr id="28" name="num 9"/>
          <p:cNvSpPr txBox="1"/>
          <p:nvPr/>
        </p:nvSpPr>
        <p:spPr>
          <a:xfrm>
            <a:off x="6400800" y="3145536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9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7040880" y="3081528"/>
            <a:ext cx="4480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异常状况处理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Side Effects &amp; Emergency Handling</a:t>
            </a:r>
            <a:endParaRPr lang="en-US" sz="1500" dirty="0"/>
          </a:p>
        </p:txBody>
      </p:sp>
      <p:sp>
        <p:nvSpPr>
          <p:cNvPr id="30" name="toc card 10"/>
          <p:cNvSpPr/>
          <p:nvPr/>
        </p:nvSpPr>
        <p:spPr>
          <a:xfrm>
            <a:off x="6217920" y="3822192"/>
            <a:ext cx="5486400" cy="676656"/>
          </a:xfrm>
          <a:prstGeom prst="roundRect">
            <a:avLst>
              <a:gd name="adj" fmla="val 16216"/>
            </a:avLst>
          </a:prstGeom>
          <a:solidFill>
            <a:schemeClr val="bg2"/>
          </a:solidFill>
          <a:ln/>
        </p:spPr>
      </p:sp>
      <p:sp>
        <p:nvSpPr>
          <p:cNvPr id="31" name="num 10"/>
          <p:cNvSpPr txBox="1"/>
          <p:nvPr/>
        </p:nvSpPr>
        <p:spPr>
          <a:xfrm>
            <a:off x="6400800" y="393192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10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7040880" y="3867912"/>
            <a:ext cx="4480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客户前后案例对比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Before &amp; After Gallery</a:t>
            </a:r>
            <a:endParaRPr lang="en-US" sz="1500" dirty="0"/>
          </a:p>
        </p:txBody>
      </p:sp>
      <p:sp>
        <p:nvSpPr>
          <p:cNvPr id="33" name="toc card 11"/>
          <p:cNvSpPr/>
          <p:nvPr/>
        </p:nvSpPr>
        <p:spPr>
          <a:xfrm>
            <a:off x="6217920" y="4608576"/>
            <a:ext cx="5486400" cy="676656"/>
          </a:xfrm>
          <a:prstGeom prst="roundRect">
            <a:avLst>
              <a:gd name="adj" fmla="val 16216"/>
            </a:avLst>
          </a:prstGeom>
          <a:solidFill>
            <a:schemeClr val="bg2"/>
          </a:solidFill>
          <a:ln/>
        </p:spPr>
      </p:sp>
      <p:sp>
        <p:nvSpPr>
          <p:cNvPr id="34" name="num 11"/>
          <p:cNvSpPr txBox="1"/>
          <p:nvPr/>
        </p:nvSpPr>
        <p:spPr>
          <a:xfrm>
            <a:off x="6400800" y="4718304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11</a:t>
            </a:r>
            <a:endParaRPr lang="en-US" sz="1500" dirty="0"/>
          </a:p>
        </p:txBody>
      </p:sp>
      <p:sp>
        <p:nvSpPr>
          <p:cNvPr id="35" name="Text 33"/>
          <p:cNvSpPr txBox="1"/>
          <p:nvPr/>
        </p:nvSpPr>
        <p:spPr>
          <a:xfrm>
            <a:off x="7040880" y="4654296"/>
            <a:ext cx="4480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美疗师常见问答 FAQ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Frequently Asked Questions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65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11247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品牌简介｜XE‑LHA by YSmedi</a:t>
            </a:r>
            <a:endParaRPr lang="en-US" sz="3000" dirty="0"/>
          </a:p>
          <a:p>
            <a:pPr algn="l" indent="0" marL="0">
              <a:buNone/>
            </a:pPr>
            <a:r>
              <a:rPr lang="en-US" sz="160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the Brand · Korean medical‑beauty brand developed with dermatologists</a:t>
            </a:r>
            <a:endParaRPr lang="en-US" sz="3000" dirty="0"/>
          </a:p>
        </p:txBody>
      </p:sp>
      <p:sp>
        <p:nvSpPr>
          <p:cNvPr id="3" name="philosophy banner"/>
          <p:cNvSpPr/>
          <p:nvPr/>
        </p:nvSpPr>
        <p:spPr>
          <a:xfrm>
            <a:off x="457200" y="1417320"/>
            <a:ext cx="11247120" cy="1417320"/>
          </a:xfrm>
          <a:prstGeom prst="roundRect">
            <a:avLst>
              <a:gd name="adj" fmla="val 7742"/>
            </a:avLst>
          </a:prstGeom>
          <a:solidFill>
            <a:schemeClr val="tx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77240" y="1463040"/>
            <a:ext cx="106070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2200" b="1" dirty="0">
                <a:solidFill>
                  <a:schemeClr val="bg1"/>
                </a:solidFill>
              </a:rPr>
              <a:t>True Beauty begins where Skin is Understood Best</a:t>
            </a:r>
            <a:endParaRPr lang="en-US" sz="2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真正的美，始于对肌肤最深的理解 — XE‑LHA 以皮肤科医生的临床经验与医学专业打造，不只改善肌肤，更追求长期健康。</a:t>
            </a:r>
            <a:endParaRPr lang="en-US" sz="2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CFE0D2"/>
                </a:solidFill>
              </a:rPr>
              <a:t>A medical beauty brand built on dermatologists' clinical experience — scientifically validated technology and clinically proven results.</a:t>
            </a:r>
            <a:endParaRPr lang="en-US" sz="2200" dirty="0"/>
          </a:p>
        </p:txBody>
      </p:sp>
      <p:sp>
        <p:nvSpPr>
          <p:cNvPr id="5" name="value card 1"/>
          <p:cNvSpPr/>
          <p:nvPr/>
        </p:nvSpPr>
        <p:spPr>
          <a:xfrm>
            <a:off x="457200" y="3017520"/>
            <a:ext cx="3566160" cy="178308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/>
        </p:spPr>
      </p:sp>
      <p:sp>
        <p:nvSpPr>
          <p:cNvPr id="6" name="value icon 1 bg"/>
          <p:cNvSpPr/>
          <p:nvPr/>
        </p:nvSpPr>
        <p:spPr>
          <a:xfrm>
            <a:off x="640080" y="3200400"/>
            <a:ext cx="566928" cy="56692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7" name="value icon 1" descr="value icon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3347801"/>
            <a:ext cx="272125" cy="272125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371600" y="3200400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700" b="1" dirty="0">
                <a:solidFill>
                  <a:schemeClr val="tx2"/>
                </a:solidFill>
              </a:rPr>
              <a:t>信赖 Trust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640080" y="3840480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与皮肤科医生合作研发，品质获医疗专业人士信赖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accent6"/>
                </a:solidFill>
              </a:rPr>
              <a:t>Developed with dermatologists; quality trusted by medical professionals</a:t>
            </a:r>
            <a:endParaRPr lang="en-US" sz="1400" dirty="0"/>
          </a:p>
        </p:txBody>
      </p:sp>
      <p:sp>
        <p:nvSpPr>
          <p:cNvPr id="10" name="value card 2"/>
          <p:cNvSpPr/>
          <p:nvPr/>
        </p:nvSpPr>
        <p:spPr>
          <a:xfrm>
            <a:off x="4297680" y="3017520"/>
            <a:ext cx="3566160" cy="178308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/>
        </p:spPr>
      </p:sp>
      <p:sp>
        <p:nvSpPr>
          <p:cNvPr id="11" name="value icon 2 bg"/>
          <p:cNvSpPr/>
          <p:nvPr/>
        </p:nvSpPr>
        <p:spPr>
          <a:xfrm>
            <a:off x="4480560" y="3200400"/>
            <a:ext cx="566928" cy="56692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2" name="value icon 2" descr="value icon 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27961" y="3347801"/>
            <a:ext cx="272125" cy="272125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5212080" y="3200400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700" b="1" dirty="0">
                <a:solidFill>
                  <a:schemeClr val="tx2"/>
                </a:solidFill>
              </a:rPr>
              <a:t>创新 Innovation</a:t>
            </a:r>
            <a:endParaRPr lang="en-US" sz="1700" dirty="0"/>
          </a:p>
        </p:txBody>
      </p:sp>
      <p:sp>
        <p:nvSpPr>
          <p:cNvPr id="14" name="Text 10"/>
          <p:cNvSpPr txBox="1"/>
          <p:nvPr/>
        </p:nvSpPr>
        <p:spPr>
          <a:xfrm>
            <a:off x="4480560" y="3840480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以最新皮肤科学启发的创新成分研发产品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accent6"/>
                </a:solidFill>
              </a:rPr>
              <a:t>Innovative ingredients inspired by the latest skin science</a:t>
            </a:r>
            <a:endParaRPr lang="en-US" sz="1400" dirty="0"/>
          </a:p>
        </p:txBody>
      </p:sp>
      <p:sp>
        <p:nvSpPr>
          <p:cNvPr id="15" name="value card 3"/>
          <p:cNvSpPr/>
          <p:nvPr/>
        </p:nvSpPr>
        <p:spPr>
          <a:xfrm>
            <a:off x="8138160" y="3017520"/>
            <a:ext cx="3566160" cy="178308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/>
        </p:spPr>
      </p:sp>
      <p:sp>
        <p:nvSpPr>
          <p:cNvPr id="16" name="value icon 3 bg"/>
          <p:cNvSpPr/>
          <p:nvPr/>
        </p:nvSpPr>
        <p:spPr>
          <a:xfrm>
            <a:off x="8321040" y="3200400"/>
            <a:ext cx="566928" cy="56692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7" name="value icon 3" descr="value icon 3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68441" y="3347801"/>
            <a:ext cx="272125" cy="272125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9052560" y="3200400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700" b="1" dirty="0">
                <a:solidFill>
                  <a:schemeClr val="tx2"/>
                </a:solidFill>
              </a:rPr>
              <a:t>科学 Science</a:t>
            </a:r>
            <a:endParaRPr lang="en-US" sz="1700" dirty="0"/>
          </a:p>
        </p:txBody>
      </p:sp>
      <p:sp>
        <p:nvSpPr>
          <p:cNvPr id="19" name="Text 14"/>
          <p:cNvSpPr txBox="1"/>
          <p:nvPr/>
        </p:nvSpPr>
        <p:spPr>
          <a:xfrm>
            <a:off x="8321040" y="3840480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所有产品以严格标准测试，验证安全性与功效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accent6"/>
                </a:solidFill>
              </a:rPr>
              <a:t>Every product is rigorously tested for safety and efficacy</a:t>
            </a:r>
            <a:endParaRPr lang="en-US" sz="1400" dirty="0"/>
          </a:p>
        </p:txBody>
      </p:sp>
      <p:sp>
        <p:nvSpPr>
          <p:cNvPr id="20" name="brand stat 1"/>
          <p:cNvSpPr/>
          <p:nvPr/>
        </p:nvSpPr>
        <p:spPr>
          <a:xfrm>
            <a:off x="457200" y="4983480"/>
            <a:ext cx="3566160" cy="1097280"/>
          </a:xfrm>
          <a:prstGeom prst="roundRect">
            <a:avLst>
              <a:gd name="adj" fmla="val 10000"/>
            </a:avLst>
          </a:prstGeom>
          <a:solidFill>
            <a:schemeClr val="accent5"/>
          </a:solidFill>
          <a:ln/>
        </p:spPr>
      </p:sp>
      <p:sp>
        <p:nvSpPr>
          <p:cNvPr id="21" name="Text 16"/>
          <p:cNvSpPr txBox="1"/>
          <p:nvPr/>
        </p:nvSpPr>
        <p:spPr>
          <a:xfrm>
            <a:off x="548640" y="4983480"/>
            <a:ext cx="1600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400+</a:t>
            </a:r>
            <a:endParaRPr lang="en-US" sz="3400" dirty="0"/>
          </a:p>
        </p:txBody>
      </p:sp>
      <p:sp>
        <p:nvSpPr>
          <p:cNvPr id="22" name="Text 17"/>
          <p:cNvSpPr txBox="1"/>
          <p:nvPr/>
        </p:nvSpPr>
        <p:spPr>
          <a:xfrm>
            <a:off x="2240280" y="5029200"/>
            <a:ext cx="1691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韩国诊所已采用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200" dirty="0">
                <a:solidFill>
                  <a:schemeClr val="accent6"/>
                </a:solidFill>
              </a:rPr>
              <a:t>Domestic clinics using XE‑LHA</a:t>
            </a:r>
            <a:endParaRPr lang="en-US" sz="1400" dirty="0"/>
          </a:p>
        </p:txBody>
      </p:sp>
      <p:sp>
        <p:nvSpPr>
          <p:cNvPr id="23" name="brand stat 2"/>
          <p:cNvSpPr/>
          <p:nvPr/>
        </p:nvSpPr>
        <p:spPr>
          <a:xfrm>
            <a:off x="4297680" y="4983480"/>
            <a:ext cx="3566160" cy="1097280"/>
          </a:xfrm>
          <a:prstGeom prst="roundRect">
            <a:avLst>
              <a:gd name="adj" fmla="val 10000"/>
            </a:avLst>
          </a:prstGeom>
          <a:solidFill>
            <a:schemeClr val="accent5"/>
          </a:solidFill>
          <a:ln/>
        </p:spPr>
      </p:sp>
      <p:sp>
        <p:nvSpPr>
          <p:cNvPr id="24" name="Text 19"/>
          <p:cNvSpPr txBox="1"/>
          <p:nvPr/>
        </p:nvSpPr>
        <p:spPr>
          <a:xfrm>
            <a:off x="4389120" y="4983480"/>
            <a:ext cx="1600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10</a:t>
            </a:r>
            <a:endParaRPr lang="en-US" sz="3400" dirty="0"/>
          </a:p>
        </p:txBody>
      </p:sp>
      <p:sp>
        <p:nvSpPr>
          <p:cNvPr id="25" name="Text 20"/>
          <p:cNvSpPr txBox="1"/>
          <p:nvPr/>
        </p:nvSpPr>
        <p:spPr>
          <a:xfrm>
            <a:off x="6080760" y="5029200"/>
            <a:ext cx="1691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个国家已出口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200" dirty="0">
                <a:solidFill>
                  <a:schemeClr val="accent6"/>
                </a:solidFill>
              </a:rPr>
              <a:t>Countries exported to</a:t>
            </a:r>
            <a:endParaRPr lang="en-US" sz="1400" dirty="0"/>
          </a:p>
        </p:txBody>
      </p:sp>
      <p:sp>
        <p:nvSpPr>
          <p:cNvPr id="26" name="brand stat 3"/>
          <p:cNvSpPr/>
          <p:nvPr/>
        </p:nvSpPr>
        <p:spPr>
          <a:xfrm>
            <a:off x="8138160" y="4983480"/>
            <a:ext cx="3566160" cy="1097280"/>
          </a:xfrm>
          <a:prstGeom prst="roundRect">
            <a:avLst>
              <a:gd name="adj" fmla="val 10000"/>
            </a:avLst>
          </a:prstGeom>
          <a:solidFill>
            <a:schemeClr val="accent5"/>
          </a:solidFill>
          <a:ln/>
        </p:spPr>
      </p:sp>
      <p:sp>
        <p:nvSpPr>
          <p:cNvPr id="27" name="Text 22"/>
          <p:cNvSpPr txBox="1"/>
          <p:nvPr/>
        </p:nvSpPr>
        <p:spPr>
          <a:xfrm>
            <a:off x="8229600" y="4983480"/>
            <a:ext cx="1600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FDA · CPNP</a:t>
            </a:r>
            <a:endParaRPr lang="en-US" sz="2000" dirty="0"/>
          </a:p>
        </p:txBody>
      </p:sp>
      <p:sp>
        <p:nvSpPr>
          <p:cNvPr id="28" name="Text 23"/>
          <p:cNvSpPr txBox="1"/>
          <p:nvPr/>
        </p:nvSpPr>
        <p:spPr>
          <a:xfrm>
            <a:off x="9921240" y="5029200"/>
            <a:ext cx="1691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2024年获得认证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200" dirty="0">
                <a:solidFill>
                  <a:schemeClr val="accent6"/>
                </a:solidFill>
              </a:rPr>
              <a:t>Approvals obtained in 2024</a:t>
            </a:r>
            <a:endParaRPr lang="en-US" sz="1400" dirty="0"/>
          </a:p>
        </p:txBody>
      </p:sp>
      <p:sp>
        <p:nvSpPr>
          <p:cNvPr id="29" name="Text 24"/>
          <p:cNvSpPr txBox="1"/>
          <p:nvPr/>
        </p:nvSpPr>
        <p:spPr>
          <a:xfrm>
            <a:off x="457200" y="614476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chemeClr val="accent6"/>
                </a:solidFill>
              </a:rPr>
              <a:t>资料来源 Source: XE‑LHA Brand Introduction (YSmedi, 2026)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65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11247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项目简介｜什么是 XE‑LHA Peel</a:t>
            </a:r>
            <a:endParaRPr lang="en-US" sz="3000" dirty="0"/>
          </a:p>
          <a:p>
            <a:pPr algn="l" indent="0" marL="0">
              <a:buNone/>
            </a:pPr>
            <a:r>
              <a:rPr lang="en-US" sz="160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XE‑LHA Peel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371600"/>
            <a:ext cx="11247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XE‑LHA Peel 来自韩国，是第四代无脱皮温和焕肤，区别于传统果酸、水杨酸焕肤</a:t>
            </a:r>
            <a:endParaRPr lang="en-US" sz="16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chemeClr val="accent6"/>
                </a:solidFill>
              </a:rPr>
              <a:t>A 4th‑generation gentle peeling solution developed in Korea — different from traditional AHA / BHA chemical peels.</a:t>
            </a:r>
            <a:endParaRPr lang="en-US" sz="1600" dirty="0"/>
          </a:p>
        </p:txBody>
      </p:sp>
      <p:sp>
        <p:nvSpPr>
          <p:cNvPr id="4" name="feature card 1"/>
          <p:cNvSpPr/>
          <p:nvPr/>
        </p:nvSpPr>
        <p:spPr>
          <a:xfrm>
            <a:off x="457200" y="2423160"/>
            <a:ext cx="3566160" cy="2377440"/>
          </a:xfrm>
          <a:prstGeom prst="roundRect">
            <a:avLst>
              <a:gd name="adj" fmla="val 4615"/>
            </a:avLst>
          </a:prstGeom>
          <a:solidFill>
            <a:schemeClr val="bg2"/>
          </a:solidFill>
          <a:ln/>
        </p:spPr>
      </p:sp>
      <p:sp>
        <p:nvSpPr>
          <p:cNvPr id="5" name="feature icon 1 bg"/>
          <p:cNvSpPr/>
          <p:nvPr/>
        </p:nvSpPr>
        <p:spPr>
          <a:xfrm>
            <a:off x="685800" y="265176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" name="feature icon 1" descr="feature icon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4108" y="2830068"/>
            <a:ext cx="329184" cy="32918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08760" y="269748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低刺激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Low irritation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3520440"/>
            <a:ext cx="31089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几乎无结痂、无明显脱皮、几乎没有恢复期</a:t>
            </a:r>
            <a:endParaRPr lang="en-US" sz="14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chemeClr val="accent6"/>
                </a:solidFill>
              </a:rPr>
              <a:t>Minimal peeling, little‑to‑zero downtime</a:t>
            </a:r>
            <a:endParaRPr lang="en-US" sz="1400" dirty="0"/>
          </a:p>
        </p:txBody>
      </p:sp>
      <p:sp>
        <p:nvSpPr>
          <p:cNvPr id="9" name="feature card 2"/>
          <p:cNvSpPr/>
          <p:nvPr/>
        </p:nvSpPr>
        <p:spPr>
          <a:xfrm>
            <a:off x="4297680" y="2423160"/>
            <a:ext cx="3566160" cy="2377440"/>
          </a:xfrm>
          <a:prstGeom prst="roundRect">
            <a:avLst>
              <a:gd name="adj" fmla="val 4615"/>
            </a:avLst>
          </a:prstGeom>
          <a:solidFill>
            <a:schemeClr val="bg2"/>
          </a:solidFill>
          <a:ln/>
        </p:spPr>
      </p:sp>
      <p:sp>
        <p:nvSpPr>
          <p:cNvPr id="10" name="feature icon 2 bg"/>
          <p:cNvSpPr/>
          <p:nvPr/>
        </p:nvSpPr>
        <p:spPr>
          <a:xfrm>
            <a:off x="4526280" y="265176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1" name="feature icon 2" descr="feature icon 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4588" y="2830068"/>
            <a:ext cx="329184" cy="32918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349240" y="269748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修护屏障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Repairs the barrier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4526280" y="3520440"/>
            <a:ext cx="31089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焕肤同时修护皮肤屏障，越做耐受度越好</a:t>
            </a:r>
            <a:endParaRPr lang="en-US" sz="14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chemeClr val="accent6"/>
                </a:solidFill>
              </a:rPr>
              <a:t>Exfoliates while repairing the barrier; skin gets healthier with regular sessions</a:t>
            </a:r>
            <a:endParaRPr lang="en-US" sz="1400" dirty="0"/>
          </a:p>
        </p:txBody>
      </p:sp>
      <p:sp>
        <p:nvSpPr>
          <p:cNvPr id="14" name="feature card 3"/>
          <p:cNvSpPr/>
          <p:nvPr/>
        </p:nvSpPr>
        <p:spPr>
          <a:xfrm>
            <a:off x="8138160" y="2423160"/>
            <a:ext cx="3566160" cy="2377440"/>
          </a:xfrm>
          <a:prstGeom prst="roundRect">
            <a:avLst>
              <a:gd name="adj" fmla="val 4615"/>
            </a:avLst>
          </a:prstGeom>
          <a:solidFill>
            <a:schemeClr val="bg2"/>
          </a:solidFill>
          <a:ln/>
        </p:spPr>
      </p:sp>
      <p:sp>
        <p:nvSpPr>
          <p:cNvPr id="15" name="feature icon 3 bg"/>
          <p:cNvSpPr/>
          <p:nvPr/>
        </p:nvSpPr>
        <p:spPr>
          <a:xfrm>
            <a:off x="8366760" y="265176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6" name="feature icon 3" descr="feature icon 3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5068" y="2830068"/>
            <a:ext cx="329184" cy="329184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9189720" y="269748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适合亚洲肤质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Suits Asian skin &amp; Singapore climate</a:t>
            </a:r>
            <a:endParaRPr lang="en-US" sz="1700" dirty="0"/>
          </a:p>
        </p:txBody>
      </p:sp>
      <p:sp>
        <p:nvSpPr>
          <p:cNvPr id="18" name="Text 13"/>
          <p:cNvSpPr txBox="1"/>
          <p:nvPr/>
        </p:nvSpPr>
        <p:spPr>
          <a:xfrm>
            <a:off x="8366760" y="3520440"/>
            <a:ext cx="31089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非常适合新加坡湿热气候，敏感肌经评估也可操作</a:t>
            </a:r>
            <a:endParaRPr lang="en-US" sz="14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chemeClr val="accent6"/>
                </a:solidFill>
              </a:rPr>
              <a:t>Ideal for Singapore's humid tropical weather; sensitive skin after skin assessment</a:t>
            </a:r>
            <a:endParaRPr lang="en-US" sz="1400" dirty="0"/>
          </a:p>
        </p:txBody>
      </p:sp>
      <p:sp>
        <p:nvSpPr>
          <p:cNvPr id="19" name="patent banner"/>
          <p:cNvSpPr/>
          <p:nvPr/>
        </p:nvSpPr>
        <p:spPr>
          <a:xfrm>
            <a:off x="457200" y="5029200"/>
            <a:ext cx="11247120" cy="1188720"/>
          </a:xfrm>
          <a:prstGeom prst="roundRect">
            <a:avLst>
              <a:gd name="adj" fmla="val 9231"/>
            </a:avLst>
          </a:prstGeom>
          <a:solidFill>
            <a:schemeClr val="tx2"/>
          </a:solidFill>
          <a:ln/>
        </p:spPr>
      </p:sp>
      <p:sp>
        <p:nvSpPr>
          <p:cNvPr id="20" name="patent icon bg"/>
          <p:cNvSpPr/>
          <p:nvPr/>
        </p:nvSpPr>
        <p:spPr>
          <a:xfrm>
            <a:off x="731520" y="5349240"/>
            <a:ext cx="548640" cy="54864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21" name="patent icon" descr="patent ic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4166" y="5491886"/>
            <a:ext cx="263347" cy="263347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508760" y="5166360"/>
            <a:ext cx="9966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bg1"/>
                </a:solidFill>
              </a:rPr>
              <a:t>核心专利：Youth P‑Sol™ 橄榄油天然焕肤系统 — 温和代谢老废角质，不伤健康表皮细胞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CFE0D2"/>
                </a:solidFill>
              </a:rPr>
              <a:t>Patented Youth P‑Sol™ natural peeling complex derived from olive oil — selectively removes dead keratin without harming healthy skin cells.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65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11247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焕肤 + 修护｜Peel &amp; Fill</a:t>
            </a:r>
            <a:endParaRPr lang="en-US" sz="3000" dirty="0"/>
          </a:p>
          <a:p>
            <a:pPr algn="l" indent="0" marL="0">
              <a:buNone/>
            </a:pPr>
            <a:r>
              <a:rPr lang="en-US" sz="160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we peel — and how XE‑LHA Peel removes, replenishes and supports recovery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3716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为什么需要焕肤？ Why peel?</a:t>
            </a:r>
            <a:endParaRPr lang="en-US" sz="1400" dirty="0"/>
          </a:p>
        </p:txBody>
      </p:sp>
      <p:sp>
        <p:nvSpPr>
          <p:cNvPr id="4" name="why chip 1"/>
          <p:cNvSpPr/>
          <p:nvPr/>
        </p:nvSpPr>
        <p:spPr>
          <a:xfrm>
            <a:off x="457200" y="1691640"/>
            <a:ext cx="2606040" cy="731520"/>
          </a:xfrm>
          <a:prstGeom prst="roundRect">
            <a:avLst>
              <a:gd name="adj" fmla="val 15000"/>
            </a:avLst>
          </a:prstGeom>
          <a:solidFill>
            <a:schemeClr val="bg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94360" y="1719072"/>
            <a:ext cx="2331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肌肤老化</a:t>
            </a:r>
            <a:endParaRPr lang="en-US" sz="14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Aging</a:t>
            </a:r>
            <a:endParaRPr lang="en-US" sz="1400" dirty="0"/>
          </a:p>
        </p:txBody>
      </p:sp>
      <p:sp>
        <p:nvSpPr>
          <p:cNvPr id="6" name="why chevron 1"/>
          <p:cNvSpPr/>
          <p:nvPr/>
        </p:nvSpPr>
        <p:spPr>
          <a:xfrm>
            <a:off x="3108960" y="1920240"/>
            <a:ext cx="182880" cy="274320"/>
          </a:xfrm>
          <a:prstGeom prst="chevron">
            <a:avLst/>
          </a:prstGeom>
          <a:solidFill>
            <a:schemeClr val="accent4"/>
          </a:solidFill>
          <a:ln/>
        </p:spPr>
      </p:sp>
      <p:sp>
        <p:nvSpPr>
          <p:cNvPr id="7" name="why chip 2"/>
          <p:cNvSpPr/>
          <p:nvPr/>
        </p:nvSpPr>
        <p:spPr>
          <a:xfrm>
            <a:off x="3337560" y="1691640"/>
            <a:ext cx="2606040" cy="731520"/>
          </a:xfrm>
          <a:prstGeom prst="roundRect">
            <a:avLst>
              <a:gd name="adj" fmla="val 15000"/>
            </a:avLst>
          </a:prstGeom>
          <a:solidFill>
            <a:schemeClr val="bg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474720" y="1719072"/>
            <a:ext cx="2331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老废角质堆积</a:t>
            </a:r>
            <a:endParaRPr lang="en-US" sz="14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Dead‑skin buildup</a:t>
            </a:r>
            <a:endParaRPr lang="en-US" sz="1400" dirty="0"/>
          </a:p>
        </p:txBody>
      </p:sp>
      <p:sp>
        <p:nvSpPr>
          <p:cNvPr id="9" name="why chevron 2"/>
          <p:cNvSpPr/>
          <p:nvPr/>
        </p:nvSpPr>
        <p:spPr>
          <a:xfrm>
            <a:off x="5989320" y="1920240"/>
            <a:ext cx="182880" cy="274320"/>
          </a:xfrm>
          <a:prstGeom prst="chevron">
            <a:avLst/>
          </a:prstGeom>
          <a:solidFill>
            <a:schemeClr val="accent4"/>
          </a:solidFill>
          <a:ln/>
        </p:spPr>
      </p:sp>
      <p:sp>
        <p:nvSpPr>
          <p:cNvPr id="10" name="why chip 3"/>
          <p:cNvSpPr/>
          <p:nvPr/>
        </p:nvSpPr>
        <p:spPr>
          <a:xfrm>
            <a:off x="6217920" y="1691640"/>
            <a:ext cx="2606040" cy="731520"/>
          </a:xfrm>
          <a:prstGeom prst="roundRect">
            <a:avLst>
              <a:gd name="adj" fmla="val 15000"/>
            </a:avLst>
          </a:prstGeom>
          <a:solidFill>
            <a:schemeClr val="bg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355080" y="1719072"/>
            <a:ext cx="2331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代谢变慢</a:t>
            </a:r>
            <a:endParaRPr lang="en-US" sz="14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Slower turnover</a:t>
            </a:r>
            <a:endParaRPr lang="en-US" sz="1400" dirty="0"/>
          </a:p>
        </p:txBody>
      </p:sp>
      <p:sp>
        <p:nvSpPr>
          <p:cNvPr id="12" name="why chevron 3"/>
          <p:cNvSpPr/>
          <p:nvPr/>
        </p:nvSpPr>
        <p:spPr>
          <a:xfrm>
            <a:off x="8869680" y="1920240"/>
            <a:ext cx="182880" cy="274320"/>
          </a:xfrm>
          <a:prstGeom prst="chevron">
            <a:avLst/>
          </a:prstGeom>
          <a:solidFill>
            <a:schemeClr val="accent4"/>
          </a:solidFill>
          <a:ln/>
        </p:spPr>
      </p:sp>
      <p:sp>
        <p:nvSpPr>
          <p:cNvPr id="13" name="why chip 4"/>
          <p:cNvSpPr/>
          <p:nvPr/>
        </p:nvSpPr>
        <p:spPr>
          <a:xfrm>
            <a:off x="9098280" y="1691640"/>
            <a:ext cx="2606040" cy="731520"/>
          </a:xfrm>
          <a:prstGeom prst="roundRect">
            <a:avLst>
              <a:gd name="adj" fmla="val 15000"/>
            </a:avLst>
          </a:prstGeom>
          <a:solidFill>
            <a:schemeClr val="bg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235440" y="1719072"/>
            <a:ext cx="2331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吸收下降</a:t>
            </a:r>
            <a:endParaRPr lang="en-US" sz="14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Reduced absorption</a:t>
            </a:r>
            <a:endParaRPr lang="en-US" sz="1400" dirty="0"/>
          </a:p>
        </p:txBody>
      </p:sp>
      <p:sp>
        <p:nvSpPr>
          <p:cNvPr id="15" name="pf panel 1"/>
          <p:cNvSpPr/>
          <p:nvPr/>
        </p:nvSpPr>
        <p:spPr>
          <a:xfrm>
            <a:off x="457200" y="2697480"/>
            <a:ext cx="5394960" cy="260604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/>
        </p:spPr>
      </p:sp>
      <p:sp>
        <p:nvSpPr>
          <p:cNvPr id="16" name="pf pill 1"/>
          <p:cNvSpPr txBox="1"/>
          <p:nvPr/>
        </p:nvSpPr>
        <p:spPr>
          <a:xfrm>
            <a:off x="685800" y="2834640"/>
            <a:ext cx="2011680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PEEL 焕肤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2834640" y="28346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700" b="1" dirty="0">
                <a:solidFill>
                  <a:schemeClr val="tx2"/>
                </a:solidFill>
              </a:rPr>
              <a:t>LHA + Youth P‑Sol™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685800" y="3474720"/>
            <a:ext cx="493776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第4代 LHA 缓慢渗透，以极低刺激均匀剥脱角质层；专利 Youth P‑Sol™ 使肌肤脂肪酸亲水化，帮助活性成分更深层导入。</a:t>
            </a:r>
            <a:endParaRPr lang="en-US" sz="14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chemeClr val="accent6"/>
                </a:solidFill>
              </a:rPr>
              <a:t>4th‑generation LHA penetrates gradually and exfoliates the stratum corneum evenly with minimal irritation; patented Youth P‑Sol™ hydrophilizes skin fatty acids to help carry actives deeper.</a:t>
            </a:r>
            <a:endParaRPr lang="en-US" sz="1400" dirty="0"/>
          </a:p>
        </p:txBody>
      </p:sp>
      <p:sp>
        <p:nvSpPr>
          <p:cNvPr id="19" name="pf panel 2"/>
          <p:cNvSpPr/>
          <p:nvPr/>
        </p:nvSpPr>
        <p:spPr>
          <a:xfrm>
            <a:off x="6336792" y="2697480"/>
            <a:ext cx="5394960" cy="260604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/>
        </p:spPr>
      </p:sp>
      <p:sp>
        <p:nvSpPr>
          <p:cNvPr id="20" name="pf pill 2"/>
          <p:cNvSpPr txBox="1"/>
          <p:nvPr/>
        </p:nvSpPr>
        <p:spPr>
          <a:xfrm>
            <a:off x="6565392" y="2834640"/>
            <a:ext cx="2011680" cy="45720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FILL 修护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8714232" y="28346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700" b="1" dirty="0">
                <a:solidFill>
                  <a:schemeClr val="tx2"/>
                </a:solidFill>
              </a:rPr>
              <a:t>DactorTec™ KIS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6565392" y="3474720"/>
            <a:ext cx="493776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益生菌（微生态）技术帮助修复皮肤屏障，让肌肤回到更健康的状态。</a:t>
            </a:r>
            <a:endParaRPr lang="en-US" sz="14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chemeClr val="accent6"/>
                </a:solidFill>
              </a:rPr>
              <a:t>Microbiome technology helps restore the skin barrier and bring the skin back to a healthier state.</a:t>
            </a:r>
            <a:endParaRPr lang="en-US" sz="1400" dirty="0"/>
          </a:p>
        </p:txBody>
      </p:sp>
      <p:sp>
        <p:nvSpPr>
          <p:cNvPr id="23" name="plus bg"/>
          <p:cNvSpPr/>
          <p:nvPr/>
        </p:nvSpPr>
        <p:spPr>
          <a:xfrm>
            <a:off x="5879592" y="3749040"/>
            <a:ext cx="457200" cy="457200"/>
          </a:xfrm>
          <a:prstGeom prst="ellipse">
            <a:avLst/>
          </a:prstGeom>
          <a:solidFill>
            <a:schemeClr val="tx2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879592" y="3749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+</a:t>
            </a:r>
            <a:endParaRPr lang="en-US" sz="2000" dirty="0"/>
          </a:p>
        </p:txBody>
      </p:sp>
      <p:sp>
        <p:nvSpPr>
          <p:cNvPr id="25" name="advantages banner"/>
          <p:cNvSpPr/>
          <p:nvPr/>
        </p:nvSpPr>
        <p:spPr>
          <a:xfrm>
            <a:off x="457200" y="5486400"/>
            <a:ext cx="11247120" cy="731520"/>
          </a:xfrm>
          <a:prstGeom prst="roundRect">
            <a:avLst>
              <a:gd name="adj" fmla="val 15000"/>
            </a:avLst>
          </a:prstGeom>
          <a:solidFill>
            <a:schemeClr val="tx2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1520" y="54864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500" b="1" dirty="0">
                <a:solidFill>
                  <a:schemeClr val="bg1"/>
                </a:solidFill>
              </a:rPr>
              <a:t>低刺激 · 缩短恢复期 · 可联合其他疗程 · 即时可见效果</a:t>
            </a:r>
            <a:endParaRPr lang="en-US" sz="15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200" dirty="0">
                <a:solidFill>
                  <a:srgbClr val="CFE0D2"/>
                </a:solidFill>
              </a:rPr>
              <a:t>Low irritation · Reduced downtime · Combination‑friendly · Immediate visible results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65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11247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产品组合与护理流程</a:t>
            </a:r>
            <a:endParaRPr lang="en-US" sz="3000" dirty="0"/>
          </a:p>
          <a:p>
            <a:pPr algn="l" indent="0" marL="0">
              <a:buNone/>
            </a:pPr>
            <a:r>
              <a:rPr lang="en-US" sz="160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Line‑up &amp; Treatment Protocol · Cleanse → Peel → Recover</a:t>
            </a:r>
            <a:endParaRPr lang="en-US" sz="3000" dirty="0"/>
          </a:p>
        </p:txBody>
      </p:sp>
      <p:sp>
        <p:nvSpPr>
          <p:cNvPr id="3" name="lineup card 1"/>
          <p:cNvSpPr/>
          <p:nvPr/>
        </p:nvSpPr>
        <p:spPr>
          <a:xfrm>
            <a:off x="457200" y="1417320"/>
            <a:ext cx="2697480" cy="4800600"/>
          </a:xfrm>
          <a:prstGeom prst="roundRect">
            <a:avLst>
              <a:gd name="adj" fmla="val 4068"/>
            </a:avLst>
          </a:prstGeom>
          <a:solidFill>
            <a:schemeClr val="bg2"/>
          </a:solidFill>
          <a:ln/>
        </p:spPr>
      </p:sp>
      <p:sp>
        <p:nvSpPr>
          <p:cNvPr id="4" name="step pill 1"/>
          <p:cNvSpPr txBox="1"/>
          <p:nvPr/>
        </p:nvSpPr>
        <p:spPr>
          <a:xfrm>
            <a:off x="594360" y="1536192"/>
            <a:ext cx="2423160" cy="32918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 清洁 Cleanse</a:t>
            </a:r>
            <a:endParaRPr lang="en-US" sz="1200" dirty="0"/>
          </a:p>
        </p:txBody>
      </p:sp>
      <p:sp>
        <p:nvSpPr>
          <p:cNvPr id="5" name="photo frame 1"/>
          <p:cNvSpPr/>
          <p:nvPr/>
        </p:nvSpPr>
        <p:spPr>
          <a:xfrm>
            <a:off x="640080" y="1965960"/>
            <a:ext cx="233172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/>
        </p:spPr>
      </p:sp>
      <p:pic>
        <p:nvPicPr>
          <p:cNvPr id="6" name="XE‑LHA Foam product photo" descr="XE‑LHA Foam product phot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54318" y="2011680"/>
            <a:ext cx="1103243" cy="169164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40080" y="38404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tx2"/>
                </a:solidFill>
              </a:rPr>
              <a:t>XE‑LHA Foam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4206240"/>
            <a:ext cx="23774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低敏植物配方洁面，pH 4.5–5.5；术前专用清洁，提升焕肤效果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accent6"/>
                </a:solidFill>
              </a:rPr>
              <a:t>Hypoallergenic plant‑derived cleanser; dedicated pre‑treatment cleanse to maximise the peel</a:t>
            </a:r>
            <a:endParaRPr lang="en-US" sz="1300" dirty="0"/>
          </a:p>
        </p:txBody>
      </p:sp>
      <p:sp>
        <p:nvSpPr>
          <p:cNvPr id="9" name="flow chevron 1"/>
          <p:cNvSpPr/>
          <p:nvPr/>
        </p:nvSpPr>
        <p:spPr>
          <a:xfrm>
            <a:off x="3172968" y="2743200"/>
            <a:ext cx="146304" cy="320040"/>
          </a:xfrm>
          <a:prstGeom prst="chevron">
            <a:avLst/>
          </a:prstGeom>
          <a:solidFill>
            <a:schemeClr val="accent1"/>
          </a:solidFill>
          <a:ln/>
        </p:spPr>
      </p:sp>
      <p:sp>
        <p:nvSpPr>
          <p:cNvPr id="10" name="lineup card 2"/>
          <p:cNvSpPr/>
          <p:nvPr/>
        </p:nvSpPr>
        <p:spPr>
          <a:xfrm>
            <a:off x="3310128" y="1417320"/>
            <a:ext cx="2697480" cy="4800600"/>
          </a:xfrm>
          <a:prstGeom prst="roundRect">
            <a:avLst>
              <a:gd name="adj" fmla="val 4068"/>
            </a:avLst>
          </a:prstGeom>
          <a:solidFill>
            <a:schemeClr val="bg2"/>
          </a:solidFill>
          <a:ln/>
        </p:spPr>
      </p:sp>
      <p:sp>
        <p:nvSpPr>
          <p:cNvPr id="11" name="step pill 2"/>
          <p:cNvSpPr txBox="1"/>
          <p:nvPr/>
        </p:nvSpPr>
        <p:spPr>
          <a:xfrm>
            <a:off x="3447288" y="1536192"/>
            <a:ext cx="2423160" cy="32918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 焕肤 Peel</a:t>
            </a:r>
            <a:endParaRPr lang="en-US" sz="1200" dirty="0"/>
          </a:p>
        </p:txBody>
      </p:sp>
      <p:sp>
        <p:nvSpPr>
          <p:cNvPr id="12" name="photo frame 2"/>
          <p:cNvSpPr/>
          <p:nvPr/>
        </p:nvSpPr>
        <p:spPr>
          <a:xfrm>
            <a:off x="3493008" y="1965960"/>
            <a:ext cx="233172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/>
        </p:spPr>
      </p:sp>
      <p:pic>
        <p:nvPicPr>
          <p:cNvPr id="13" name="XE‑LHA Peel product photo" descr="XE‑LHA Peel product phot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07878" y="2011680"/>
            <a:ext cx="1301979" cy="1691640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3493008" y="38404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tx2"/>
                </a:solidFill>
              </a:rPr>
              <a:t>XE‑LHA Peel</a:t>
            </a:r>
            <a:endParaRPr lang="en-US" sz="1500" dirty="0"/>
          </a:p>
        </p:txBody>
      </p:sp>
      <p:sp>
        <p:nvSpPr>
          <p:cNvPr id="15" name="Text 11"/>
          <p:cNvSpPr txBox="1"/>
          <p:nvPr/>
        </p:nvSpPr>
        <p:spPr>
          <a:xfrm>
            <a:off x="3493008" y="4206240"/>
            <a:ext cx="23774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Basic + Ultra 两步焕肤精华，均匀去除老废角质、改善肤质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accent6"/>
                </a:solidFill>
              </a:rPr>
              <a:t>Two‑step peel (Basic + Ultra): evenly removes dead skin cells &amp; smooths texture</a:t>
            </a:r>
            <a:endParaRPr lang="en-US" sz="1300" dirty="0"/>
          </a:p>
        </p:txBody>
      </p:sp>
      <p:sp>
        <p:nvSpPr>
          <p:cNvPr id="16" name="flow chevron 2"/>
          <p:cNvSpPr/>
          <p:nvPr/>
        </p:nvSpPr>
        <p:spPr>
          <a:xfrm>
            <a:off x="6025896" y="2743200"/>
            <a:ext cx="146304" cy="320040"/>
          </a:xfrm>
          <a:prstGeom prst="chevron">
            <a:avLst/>
          </a:prstGeom>
          <a:solidFill>
            <a:schemeClr val="accent1"/>
          </a:solidFill>
          <a:ln/>
        </p:spPr>
      </p:sp>
      <p:sp>
        <p:nvSpPr>
          <p:cNvPr id="17" name="lineup card 3"/>
          <p:cNvSpPr/>
          <p:nvPr/>
        </p:nvSpPr>
        <p:spPr>
          <a:xfrm>
            <a:off x="6163056" y="1417320"/>
            <a:ext cx="2697480" cy="4800600"/>
          </a:xfrm>
          <a:prstGeom prst="roundRect">
            <a:avLst>
              <a:gd name="adj" fmla="val 4068"/>
            </a:avLst>
          </a:prstGeom>
          <a:solidFill>
            <a:schemeClr val="bg2"/>
          </a:solidFill>
          <a:ln/>
        </p:spPr>
      </p:sp>
      <p:sp>
        <p:nvSpPr>
          <p:cNvPr id="18" name="step pill 3"/>
          <p:cNvSpPr txBox="1"/>
          <p:nvPr/>
        </p:nvSpPr>
        <p:spPr>
          <a:xfrm>
            <a:off x="6300216" y="1536192"/>
            <a:ext cx="2423160" cy="32918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 修护 Recover</a:t>
            </a:r>
            <a:endParaRPr lang="en-US" sz="1200" dirty="0"/>
          </a:p>
        </p:txBody>
      </p:sp>
      <p:sp>
        <p:nvSpPr>
          <p:cNvPr id="19" name="photo frame 3"/>
          <p:cNvSpPr/>
          <p:nvPr/>
        </p:nvSpPr>
        <p:spPr>
          <a:xfrm>
            <a:off x="6345936" y="1965960"/>
            <a:ext cx="233172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/>
        </p:spPr>
      </p:sp>
      <p:pic>
        <p:nvPicPr>
          <p:cNvPr id="20" name="XE‑LHA Mask product photo" descr="XE‑LHA Mask product photo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3477" y="2011680"/>
            <a:ext cx="1836638" cy="1691640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6345936" y="38404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tx2"/>
                </a:solidFill>
              </a:rPr>
              <a:t>XE‑LHA Mask</a:t>
            </a:r>
            <a:endParaRPr lang="en-US" sz="1500" dirty="0"/>
          </a:p>
        </p:txBody>
      </p:sp>
      <p:sp>
        <p:nvSpPr>
          <p:cNvPr id="22" name="Text 17"/>
          <p:cNvSpPr txBox="1"/>
          <p:nvPr/>
        </p:nvSpPr>
        <p:spPr>
          <a:xfrm>
            <a:off x="6345936" y="4206240"/>
            <a:ext cx="23774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微生态修护面膜，温感释放活性成分，快速舒缓术后肌肤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accent6"/>
                </a:solidFill>
              </a:rPr>
              <a:t>Microbiome recovery mask; temperature‑responsive release soothes post‑treatment skin</a:t>
            </a:r>
            <a:endParaRPr lang="en-US" sz="1300" dirty="0"/>
          </a:p>
        </p:txBody>
      </p:sp>
      <p:sp>
        <p:nvSpPr>
          <p:cNvPr id="23" name="lineup card 4"/>
          <p:cNvSpPr/>
          <p:nvPr/>
        </p:nvSpPr>
        <p:spPr>
          <a:xfrm>
            <a:off x="9015984" y="1417320"/>
            <a:ext cx="2697480" cy="4800600"/>
          </a:xfrm>
          <a:prstGeom prst="roundRect">
            <a:avLst>
              <a:gd name="adj" fmla="val 4068"/>
            </a:avLst>
          </a:prstGeom>
          <a:solidFill>
            <a:schemeClr val="bg2"/>
          </a:solidFill>
          <a:ln/>
        </p:spPr>
      </p:sp>
      <p:sp>
        <p:nvSpPr>
          <p:cNvPr id="24" name="step pill 4"/>
          <p:cNvSpPr txBox="1"/>
          <p:nvPr/>
        </p:nvSpPr>
        <p:spPr>
          <a:xfrm>
            <a:off x="9153144" y="1536192"/>
            <a:ext cx="2423160" cy="329184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必备工具 Required tool</a:t>
            </a:r>
            <a:endParaRPr lang="en-US" sz="1200" dirty="0"/>
          </a:p>
        </p:txBody>
      </p:sp>
      <p:sp>
        <p:nvSpPr>
          <p:cNvPr id="25" name="photo frame 4"/>
          <p:cNvSpPr/>
          <p:nvPr/>
        </p:nvSpPr>
        <p:spPr>
          <a:xfrm>
            <a:off x="9198864" y="1965960"/>
            <a:ext cx="233172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/>
        </p:spPr>
      </p:sp>
      <p:pic>
        <p:nvPicPr>
          <p:cNvPr id="26" name="XE‑LHA Brush product photo" descr="XE‑LHA Brush product photo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4643" y="2011680"/>
            <a:ext cx="1620162" cy="1691640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9198864" y="38404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tx2"/>
                </a:solidFill>
              </a:rPr>
              <a:t>XE‑LHA Brush</a:t>
            </a:r>
            <a:endParaRPr lang="en-US" sz="1500" dirty="0"/>
          </a:p>
        </p:txBody>
      </p:sp>
      <p:sp>
        <p:nvSpPr>
          <p:cNvPr id="28" name="Text 22"/>
          <p:cNvSpPr txBox="1"/>
          <p:nvPr/>
        </p:nvSpPr>
        <p:spPr>
          <a:xfrm>
            <a:off x="9198864" y="4206240"/>
            <a:ext cx="23774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专用细毛刷（洁面刷＋焕肤刷），必须使用；普通刷可能刮伤皮肤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accent6"/>
                </a:solidFill>
              </a:rPr>
              <a:t>Dedicated fine‑bristle brushes — required; ordinary brushes may scratch skin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65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11247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一号液与二号液｜Basic &amp; Ultra</a:t>
            </a:r>
            <a:endParaRPr lang="en-US" sz="3000" dirty="0"/>
          </a:p>
          <a:p>
            <a:pPr algn="l" indent="0" marL="0">
              <a:buNone/>
            </a:pPr>
            <a:r>
              <a:rPr lang="en-US" sz="160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Two‑step XE‑LHA Peel · same family, different concentration and depth</a:t>
            </a:r>
            <a:endParaRPr lang="en-US" sz="3000" dirty="0"/>
          </a:p>
        </p:txBody>
      </p:sp>
      <p:sp>
        <p:nvSpPr>
          <p:cNvPr id="3" name="bottle panel"/>
          <p:cNvSpPr/>
          <p:nvPr/>
        </p:nvSpPr>
        <p:spPr>
          <a:xfrm>
            <a:off x="457200" y="1417320"/>
            <a:ext cx="3657600" cy="4663440"/>
          </a:xfrm>
          <a:prstGeom prst="roundRect">
            <a:avLst>
              <a:gd name="adj" fmla="val 3000"/>
            </a:avLst>
          </a:prstGeom>
          <a:solidFill>
            <a:schemeClr val="bg2"/>
          </a:solidFill>
          <a:ln/>
        </p:spPr>
      </p:sp>
      <p:sp>
        <p:nvSpPr>
          <p:cNvPr id="4" name="bottle frame"/>
          <p:cNvSpPr/>
          <p:nvPr/>
        </p:nvSpPr>
        <p:spPr>
          <a:xfrm>
            <a:off x="640080" y="1600200"/>
            <a:ext cx="3291840" cy="429768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/>
        </p:spPr>
      </p:sp>
      <p:pic>
        <p:nvPicPr>
          <p:cNvPr id="5" name="XE-LHA Peel Basic and Ultra bottles" descr="XE-LHA Peel Basic and Ultra bottl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729330"/>
            <a:ext cx="3108960" cy="4039419"/>
          </a:xfrm>
          <a:prstGeom prst="rect">
            <a:avLst/>
          </a:prstGeom>
        </p:spPr>
      </p:pic>
      <p:sp>
        <p:nvSpPr>
          <p:cNvPr id="6" name="step panel 1"/>
          <p:cNvSpPr/>
          <p:nvPr/>
        </p:nvSpPr>
        <p:spPr>
          <a:xfrm>
            <a:off x="4389120" y="1417320"/>
            <a:ext cx="7315200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/>
        </p:spPr>
      </p:sp>
      <p:sp>
        <p:nvSpPr>
          <p:cNvPr id="7" name="num 1"/>
          <p:cNvSpPr txBox="1"/>
          <p:nvPr/>
        </p:nvSpPr>
        <p:spPr>
          <a:xfrm>
            <a:off x="4572000" y="1581912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5212080" y="1581912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700" b="1" dirty="0">
                <a:solidFill>
                  <a:schemeClr val="tx2"/>
                </a:solidFill>
              </a:rPr>
              <a:t>一号液 Basic Cell Wakener</a:t>
            </a:r>
            <a:endParaRPr lang="en-US" sz="1700" dirty="0"/>
          </a:p>
        </p:txBody>
      </p:sp>
      <p:sp>
        <p:nvSpPr>
          <p:cNvPr id="9" name="ppm pill 1"/>
          <p:cNvSpPr txBox="1"/>
          <p:nvPr/>
        </p:nvSpPr>
        <p:spPr>
          <a:xfrm>
            <a:off x="9966960" y="1636776"/>
            <a:ext cx="1554480" cy="38404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LHA 500 ppm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4572000" y="21945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作用深度 Depth of action</a:t>
            </a:r>
            <a:endParaRPr lang="en-US" sz="1200" dirty="0"/>
          </a:p>
        </p:txBody>
      </p:sp>
      <p:sp>
        <p:nvSpPr>
          <p:cNvPr id="11" name="depth seg 1.0"/>
          <p:cNvSpPr/>
          <p:nvPr/>
        </p:nvSpPr>
        <p:spPr>
          <a:xfrm>
            <a:off x="4572000" y="2441448"/>
            <a:ext cx="2331720" cy="365760"/>
          </a:xfrm>
          <a:prstGeom prst="rect">
            <a:avLst/>
          </a:prstGeom>
          <a:solidFill>
            <a:srgbClr val="D8B98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572000" y="2441448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B2A14"/>
                </a:solidFill>
              </a:rPr>
              <a:t>角质层 Stratum corneum</a:t>
            </a:r>
            <a:endParaRPr lang="en-US" sz="1100" dirty="0"/>
          </a:p>
        </p:txBody>
      </p:sp>
      <p:sp>
        <p:nvSpPr>
          <p:cNvPr id="13" name="depth seg 1.1"/>
          <p:cNvSpPr/>
          <p:nvPr/>
        </p:nvSpPr>
        <p:spPr>
          <a:xfrm>
            <a:off x="6903720" y="2441448"/>
            <a:ext cx="2331720" cy="365760"/>
          </a:xfrm>
          <a:prstGeom prst="rect">
            <a:avLst/>
          </a:prstGeom>
          <a:solidFill>
            <a:srgbClr val="F2C4A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903720" y="2441448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B2A14"/>
                </a:solidFill>
              </a:rPr>
              <a:t>表皮 Epidermis</a:t>
            </a:r>
            <a:endParaRPr lang="en-US" sz="1100" dirty="0"/>
          </a:p>
        </p:txBody>
      </p:sp>
      <p:sp>
        <p:nvSpPr>
          <p:cNvPr id="15" name="depth seg 1.2"/>
          <p:cNvSpPr/>
          <p:nvPr/>
        </p:nvSpPr>
        <p:spPr>
          <a:xfrm>
            <a:off x="9235440" y="2441448"/>
            <a:ext cx="2331720" cy="365760"/>
          </a:xfrm>
          <a:prstGeom prst="rect">
            <a:avLst/>
          </a:prstGeom>
          <a:solidFill>
            <a:srgbClr val="EDEFE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9235440" y="2441448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A948E"/>
                </a:solidFill>
              </a:rPr>
              <a:t>基底层 Basal layer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4572000" y="2926080"/>
            <a:ext cx="6949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打开皮肤通道</a:t>
            </a:r>
            <a:endParaRPr lang="en-US" sz="15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200" dirty="0">
                <a:solidFill>
                  <a:schemeClr val="accent6"/>
                </a:solidFill>
              </a:rPr>
              <a:t>Skin channel opening — prepares the skin for Ultra</a:t>
            </a:r>
            <a:endParaRPr lang="en-US" sz="1500" dirty="0"/>
          </a:p>
        </p:txBody>
      </p:sp>
      <p:sp>
        <p:nvSpPr>
          <p:cNvPr id="18" name="step panel 2"/>
          <p:cNvSpPr/>
          <p:nvPr/>
        </p:nvSpPr>
        <p:spPr>
          <a:xfrm>
            <a:off x="4389120" y="3703320"/>
            <a:ext cx="7315200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/>
        </p:spPr>
      </p:sp>
      <p:sp>
        <p:nvSpPr>
          <p:cNvPr id="19" name="num 2"/>
          <p:cNvSpPr txBox="1"/>
          <p:nvPr/>
        </p:nvSpPr>
        <p:spPr>
          <a:xfrm>
            <a:off x="4572000" y="3867912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20" name="Text 17"/>
          <p:cNvSpPr txBox="1"/>
          <p:nvPr/>
        </p:nvSpPr>
        <p:spPr>
          <a:xfrm>
            <a:off x="5212080" y="3867912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700" b="1" dirty="0">
                <a:solidFill>
                  <a:schemeClr val="tx2"/>
                </a:solidFill>
              </a:rPr>
              <a:t>二号液 Ultra Cell Enhancer</a:t>
            </a:r>
            <a:endParaRPr lang="en-US" sz="1700" dirty="0"/>
          </a:p>
        </p:txBody>
      </p:sp>
      <p:sp>
        <p:nvSpPr>
          <p:cNvPr id="21" name="ppm pill 2"/>
          <p:cNvSpPr txBox="1"/>
          <p:nvPr/>
        </p:nvSpPr>
        <p:spPr>
          <a:xfrm>
            <a:off x="9966960" y="3922776"/>
            <a:ext cx="1554480" cy="38404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LHA 1,000 ppm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4572000" y="44805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作用深度 Depth of action</a:t>
            </a:r>
            <a:endParaRPr lang="en-US" sz="1200" dirty="0"/>
          </a:p>
        </p:txBody>
      </p:sp>
      <p:sp>
        <p:nvSpPr>
          <p:cNvPr id="23" name="depth seg 2.0"/>
          <p:cNvSpPr/>
          <p:nvPr/>
        </p:nvSpPr>
        <p:spPr>
          <a:xfrm>
            <a:off x="4572000" y="4727448"/>
            <a:ext cx="2331720" cy="365760"/>
          </a:xfrm>
          <a:prstGeom prst="rect">
            <a:avLst/>
          </a:prstGeom>
          <a:solidFill>
            <a:srgbClr val="D8B98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4572000" y="4727448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B2A14"/>
                </a:solidFill>
              </a:rPr>
              <a:t>角质层 Stratum corneum</a:t>
            </a:r>
            <a:endParaRPr lang="en-US" sz="1100" dirty="0"/>
          </a:p>
        </p:txBody>
      </p:sp>
      <p:sp>
        <p:nvSpPr>
          <p:cNvPr id="25" name="depth seg 2.1"/>
          <p:cNvSpPr/>
          <p:nvPr/>
        </p:nvSpPr>
        <p:spPr>
          <a:xfrm>
            <a:off x="6903720" y="4727448"/>
            <a:ext cx="2331720" cy="365760"/>
          </a:xfrm>
          <a:prstGeom prst="rect">
            <a:avLst/>
          </a:prstGeom>
          <a:solidFill>
            <a:srgbClr val="F2C4A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6903720" y="4727448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B2A14"/>
                </a:solidFill>
              </a:rPr>
              <a:t>表皮 Epidermis</a:t>
            </a:r>
            <a:endParaRPr lang="en-US" sz="1100" dirty="0"/>
          </a:p>
        </p:txBody>
      </p:sp>
      <p:sp>
        <p:nvSpPr>
          <p:cNvPr id="27" name="depth seg 2.2"/>
          <p:cNvSpPr/>
          <p:nvPr/>
        </p:nvSpPr>
        <p:spPr>
          <a:xfrm>
            <a:off x="9235440" y="4727448"/>
            <a:ext cx="2331720" cy="365760"/>
          </a:xfrm>
          <a:prstGeom prst="rect">
            <a:avLst/>
          </a:prstGeom>
          <a:solidFill>
            <a:srgbClr val="E69D8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9235440" y="4727448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B2A14"/>
                </a:solidFill>
              </a:rPr>
              <a:t>基底层 Basal layer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4572000" y="5212080"/>
            <a:ext cx="6949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最大化吸收</a:t>
            </a:r>
            <a:endParaRPr lang="en-US" sz="15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200" dirty="0">
                <a:solidFill>
                  <a:schemeClr val="accent6"/>
                </a:solidFill>
              </a:rPr>
              <a:t>Maximised absorption — works down to the basal layer</a:t>
            </a:r>
            <a:endParaRPr lang="en-US" sz="1500" dirty="0"/>
          </a:p>
        </p:txBody>
      </p:sp>
      <p:sp>
        <p:nvSpPr>
          <p:cNvPr id="30" name="order note"/>
          <p:cNvSpPr/>
          <p:nvPr/>
        </p:nvSpPr>
        <p:spPr>
          <a:xfrm>
            <a:off x="4389120" y="5943600"/>
            <a:ext cx="7315200" cy="365760"/>
          </a:xfrm>
          <a:prstGeom prst="roundRect">
            <a:avLst>
              <a:gd name="adj" fmla="val 30000"/>
            </a:avLst>
          </a:prstGeom>
          <a:solidFill>
            <a:schemeClr val="accent5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4572000" y="5943600"/>
            <a:ext cx="7040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顺序：先 Basic，再叠加 Ultra（不需洗掉）  </a:t>
            </a:r>
            <a:pPr indent="0" marL="0">
              <a:buNone/>
            </a:pPr>
            <a:r>
              <a:rPr lang="en-US" sz="1200" dirty="0">
                <a:solidFill>
                  <a:srgbClr val="55665C"/>
                </a:solidFill>
              </a:rPr>
              <a:t>Order: Basic first, then layer Ultra — no rinsing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65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11247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核心成分</a:t>
            </a:r>
            <a:endParaRPr lang="en-US" sz="3000" dirty="0"/>
          </a:p>
          <a:p>
            <a:pPr algn="l" indent="0" marL="0">
              <a:buNone/>
            </a:pPr>
            <a:r>
              <a:rPr lang="en-US" sz="160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Ingredients</a:t>
            </a:r>
            <a:endParaRPr lang="en-US" sz="3000" dirty="0"/>
          </a:p>
        </p:txBody>
      </p:sp>
      <p:sp>
        <p:nvSpPr>
          <p:cNvPr id="3" name="ingredient card 1"/>
          <p:cNvSpPr/>
          <p:nvPr/>
        </p:nvSpPr>
        <p:spPr>
          <a:xfrm>
            <a:off x="457200" y="1417320"/>
            <a:ext cx="475488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/>
        </p:spPr>
      </p:sp>
      <p:sp>
        <p:nvSpPr>
          <p:cNvPr id="4" name="num 1"/>
          <p:cNvSpPr txBox="1"/>
          <p:nvPr/>
        </p:nvSpPr>
        <p:spPr>
          <a:xfrm>
            <a:off x="685800" y="16459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1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417320" y="1600200"/>
            <a:ext cx="365760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chemeClr val="tx2"/>
                </a:solidFill>
              </a:rPr>
              <a:t>LHA 脂羟基酸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accent6"/>
                </a:solidFill>
              </a:rPr>
              <a:t>水杨酸衍生物 · 欧莱雅 L'Oréal 研发 (BHA derivative)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000000"/>
                </a:solidFill>
              </a:rPr>
              <a:t>亲脂性，钻进毛孔溶解油脂、黑头、老废角质，疏通毛孔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accent6"/>
                </a:solidFill>
              </a:rPr>
              <a:t>Lipohydroxy Acid — lipophilic, skin‑friendly at pH 5.5: unclogs pores, dissolves sebum &amp; dead skin</a:t>
            </a:r>
            <a:endParaRPr lang="en-US" sz="1500" dirty="0"/>
          </a:p>
        </p:txBody>
      </p:sp>
      <p:sp>
        <p:nvSpPr>
          <p:cNvPr id="6" name="ingredient card 2"/>
          <p:cNvSpPr/>
          <p:nvPr/>
        </p:nvSpPr>
        <p:spPr>
          <a:xfrm>
            <a:off x="6976872" y="1417320"/>
            <a:ext cx="475488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/>
        </p:spPr>
      </p:sp>
      <p:sp>
        <p:nvSpPr>
          <p:cNvPr id="7" name="num 2"/>
          <p:cNvSpPr txBox="1"/>
          <p:nvPr/>
        </p:nvSpPr>
        <p:spPr>
          <a:xfrm>
            <a:off x="7205472" y="1645920"/>
            <a:ext cx="548640" cy="548640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2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7936992" y="1600200"/>
            <a:ext cx="365760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chemeClr val="tx2"/>
                </a:solidFill>
              </a:rPr>
              <a:t>Youth P‑Sol™ 专利成分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accent6"/>
                </a:solidFill>
              </a:rPr>
              <a:t>橄榄油、椰子油天然萃取 · 专利 Patent 10‑2103140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000000"/>
                </a:solidFill>
              </a:rPr>
              <a:t>降低酸类刺激，激活成纤维细胞，修护屏障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accent6"/>
                </a:solidFill>
              </a:rPr>
              <a:t>Olive &amp; coconut lipid extract — reduces irritation, boosts fibroblast activity, repairs the barrier</a:t>
            </a:r>
            <a:endParaRPr lang="en-US" sz="1500" dirty="0"/>
          </a:p>
        </p:txBody>
      </p:sp>
      <p:sp>
        <p:nvSpPr>
          <p:cNvPr id="9" name="ingredient card 3"/>
          <p:cNvSpPr/>
          <p:nvPr/>
        </p:nvSpPr>
        <p:spPr>
          <a:xfrm>
            <a:off x="457200" y="3657600"/>
            <a:ext cx="475488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/>
        </p:spPr>
      </p:sp>
      <p:sp>
        <p:nvSpPr>
          <p:cNvPr id="10" name="num 3"/>
          <p:cNvSpPr txBox="1"/>
          <p:nvPr/>
        </p:nvSpPr>
        <p:spPr>
          <a:xfrm>
            <a:off x="685800" y="3886200"/>
            <a:ext cx="548640" cy="548640"/>
          </a:xfrm>
          <a:prstGeom prst="ellipse">
            <a:avLst/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3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1417320" y="3840480"/>
            <a:ext cx="365760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chemeClr val="tx2"/>
                </a:solidFill>
              </a:rPr>
              <a:t>DactorTec™ KIS 益生菌发酵物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accent6"/>
                </a:solidFill>
              </a:rPr>
              <a:t>104 种乳酸菌（源自泡菜与酸菜）· 专利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000000"/>
                </a:solidFill>
              </a:rPr>
              <a:t>调理皮肤微生态，改善泛红、易敏肤质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accent6"/>
                </a:solidFill>
              </a:rPr>
              <a:t>Probiotic complex (104 Lactobacillus strains from kimchi &amp; sauerkraut) — balances the microbiome, reduces redness &amp; sensitivity</a:t>
            </a:r>
            <a:endParaRPr lang="en-US" sz="1500" dirty="0"/>
          </a:p>
        </p:txBody>
      </p:sp>
      <p:sp>
        <p:nvSpPr>
          <p:cNvPr id="12" name="ingredient card 4"/>
          <p:cNvSpPr/>
          <p:nvPr/>
        </p:nvSpPr>
        <p:spPr>
          <a:xfrm>
            <a:off x="6976872" y="3657600"/>
            <a:ext cx="475488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/>
        </p:spPr>
      </p:sp>
      <p:sp>
        <p:nvSpPr>
          <p:cNvPr id="13" name="num 4"/>
          <p:cNvSpPr txBox="1"/>
          <p:nvPr/>
        </p:nvSpPr>
        <p:spPr>
          <a:xfrm>
            <a:off x="7205472" y="3886200"/>
            <a:ext cx="548640" cy="548640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4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7936992" y="3840480"/>
            <a:ext cx="365760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chemeClr val="tx2"/>
                </a:solidFill>
              </a:rPr>
              <a:t>Rucinol 丁基间苯二酚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accent6"/>
                </a:solidFill>
              </a:rPr>
              <a:t>4‑Butylresorcinol · POLA 研发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000000"/>
                </a:solidFill>
              </a:rPr>
              <a:t>高效抑黑，改善暗沉、痘印、色素沉淀，提亮肤色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accent6"/>
                </a:solidFill>
              </a:rPr>
              <a:t>Powerful brightening: fades acne marks &amp; pigmentation</a:t>
            </a:r>
            <a:endParaRPr lang="en-US" sz="1500" dirty="0"/>
          </a:p>
        </p:txBody>
      </p:sp>
      <p:sp>
        <p:nvSpPr>
          <p:cNvPr id="15" name="hub"/>
          <p:cNvSpPr/>
          <p:nvPr/>
        </p:nvSpPr>
        <p:spPr>
          <a:xfrm>
            <a:off x="5413248" y="2880360"/>
            <a:ext cx="1371600" cy="1371600"/>
          </a:xfrm>
          <a:prstGeom prst="ellipse">
            <a:avLst/>
          </a:prstGeom>
          <a:solidFill>
            <a:schemeClr val="tx2"/>
          </a:solidFill>
          <a:ln w="508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13248" y="288036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XE‑LHA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Peel</a:t>
            </a:r>
            <a:endParaRPr lang="en-US" sz="1600" dirty="0"/>
          </a:p>
        </p:txBody>
      </p:sp>
      <p:sp>
        <p:nvSpPr>
          <p:cNvPr id="17" name="formula note"/>
          <p:cNvSpPr/>
          <p:nvPr/>
        </p:nvSpPr>
        <p:spPr>
          <a:xfrm>
            <a:off x="457200" y="5897880"/>
            <a:ext cx="11247120" cy="457200"/>
          </a:xfrm>
          <a:prstGeom prst="roundRect">
            <a:avLst>
              <a:gd name="adj" fmla="val 24000"/>
            </a:avLst>
          </a:prstGeom>
          <a:solidFill>
            <a:schemeClr val="accent5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40080" y="589788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配方特点：焕肤 + 修护二合一，不是单纯剥脱角质   </a:t>
            </a:r>
            <a:pPr indent="0" marL="0">
              <a:buNone/>
            </a:pPr>
            <a:r>
              <a:rPr lang="en-US" sz="1400" dirty="0">
                <a:solidFill>
                  <a:srgbClr val="55665C"/>
                </a:solidFill>
              </a:rPr>
              <a:t>Exfoliation + barrier repair in one step — not just peeling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65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11247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LHA｜第4代低刺激焕肤成分</a:t>
            </a:r>
            <a:endParaRPr lang="en-US" sz="3000" dirty="0"/>
          </a:p>
          <a:p>
            <a:pPr algn="l" indent="0" marL="0">
              <a:buNone/>
            </a:pPr>
            <a:r>
              <a:rPr lang="en-US" sz="160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Lipo Hydroxy Acid · 4th‑generation low‑irritation peeling ingredient</a:t>
            </a:r>
            <a:endParaRPr lang="en-US" sz="3000" dirty="0"/>
          </a:p>
        </p:txBody>
      </p:sp>
      <p:sp>
        <p:nvSpPr>
          <p:cNvPr id="3" name="lha row 1"/>
          <p:cNvSpPr/>
          <p:nvPr/>
        </p:nvSpPr>
        <p:spPr>
          <a:xfrm>
            <a:off x="457200" y="1417320"/>
            <a:ext cx="7406640" cy="621792"/>
          </a:xfrm>
          <a:prstGeom prst="roundRect">
            <a:avLst>
              <a:gd name="adj" fmla="val 17647"/>
            </a:avLst>
          </a:prstGeom>
          <a:solidFill>
            <a:schemeClr val="bg2"/>
          </a:solidFill>
          <a:ln/>
        </p:spPr>
      </p:sp>
      <p:sp>
        <p:nvSpPr>
          <p:cNvPr id="4" name="lha check 1 bg"/>
          <p:cNvSpPr/>
          <p:nvPr/>
        </p:nvSpPr>
        <p:spPr>
          <a:xfrm>
            <a:off x="594360" y="1508760"/>
            <a:ext cx="438912" cy="438912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lha check 1" descr="lha check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477" y="1622877"/>
            <a:ext cx="210678" cy="21067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234440" y="1417320"/>
            <a:ext cx="6492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欧莱雅 L'Oréal 研发的新型成分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Novel ingredient developed by L'Oréal</a:t>
            </a:r>
            <a:endParaRPr lang="en-US" sz="1400" dirty="0"/>
          </a:p>
        </p:txBody>
      </p:sp>
      <p:sp>
        <p:nvSpPr>
          <p:cNvPr id="7" name="lha row 2"/>
          <p:cNvSpPr/>
          <p:nvPr/>
        </p:nvSpPr>
        <p:spPr>
          <a:xfrm>
            <a:off x="457200" y="2130552"/>
            <a:ext cx="7406640" cy="621792"/>
          </a:xfrm>
          <a:prstGeom prst="roundRect">
            <a:avLst>
              <a:gd name="adj" fmla="val 17647"/>
            </a:avLst>
          </a:prstGeom>
          <a:solidFill>
            <a:schemeClr val="bg2"/>
          </a:solidFill>
          <a:ln/>
        </p:spPr>
      </p:sp>
      <p:sp>
        <p:nvSpPr>
          <p:cNvPr id="8" name="lha check 2 bg"/>
          <p:cNvSpPr/>
          <p:nvPr/>
        </p:nvSpPr>
        <p:spPr>
          <a:xfrm>
            <a:off x="594360" y="2221992"/>
            <a:ext cx="438912" cy="438912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9" name="lha check 2" descr="lha check 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477" y="2336109"/>
            <a:ext cx="210678" cy="21067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234440" y="2130552"/>
            <a:ext cx="6492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水杨酸（BHA）衍生物，8碳脂肪酸链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BHA derivative with an 8‑carbon fatty‑acid chain</a:t>
            </a:r>
            <a:endParaRPr lang="en-US" sz="1400" dirty="0"/>
          </a:p>
        </p:txBody>
      </p:sp>
      <p:sp>
        <p:nvSpPr>
          <p:cNvPr id="11" name="lha row 3"/>
          <p:cNvSpPr/>
          <p:nvPr/>
        </p:nvSpPr>
        <p:spPr>
          <a:xfrm>
            <a:off x="457200" y="2843784"/>
            <a:ext cx="7406640" cy="621792"/>
          </a:xfrm>
          <a:prstGeom prst="roundRect">
            <a:avLst>
              <a:gd name="adj" fmla="val 17647"/>
            </a:avLst>
          </a:prstGeom>
          <a:solidFill>
            <a:schemeClr val="bg2"/>
          </a:solidFill>
          <a:ln/>
        </p:spPr>
      </p:sp>
      <p:sp>
        <p:nvSpPr>
          <p:cNvPr id="12" name="lha check 3 bg"/>
          <p:cNvSpPr/>
          <p:nvPr/>
        </p:nvSpPr>
        <p:spPr>
          <a:xfrm>
            <a:off x="594360" y="2935224"/>
            <a:ext cx="438912" cy="438912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3" name="lha check 3" descr="lha check 3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477" y="3049341"/>
            <a:ext cx="210678" cy="210678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234440" y="2843784"/>
            <a:ext cx="6492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亲脂性，pH 5.5 下对肌肤友好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Lipophilic and skin‑friendly at pH 5.5</a:t>
            </a:r>
            <a:endParaRPr lang="en-US" sz="1400" dirty="0"/>
          </a:p>
        </p:txBody>
      </p:sp>
      <p:sp>
        <p:nvSpPr>
          <p:cNvPr id="15" name="lha row 4"/>
          <p:cNvSpPr/>
          <p:nvPr/>
        </p:nvSpPr>
        <p:spPr>
          <a:xfrm>
            <a:off x="457200" y="3557016"/>
            <a:ext cx="7406640" cy="621792"/>
          </a:xfrm>
          <a:prstGeom prst="roundRect">
            <a:avLst>
              <a:gd name="adj" fmla="val 17647"/>
            </a:avLst>
          </a:prstGeom>
          <a:solidFill>
            <a:schemeClr val="bg2"/>
          </a:solidFill>
          <a:ln/>
        </p:spPr>
      </p:sp>
      <p:sp>
        <p:nvSpPr>
          <p:cNvPr id="16" name="lha check 4 bg"/>
          <p:cNvSpPr/>
          <p:nvPr/>
        </p:nvSpPr>
        <p:spPr>
          <a:xfrm>
            <a:off x="594360" y="3648456"/>
            <a:ext cx="438912" cy="438912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7" name="lha check 4" descr="lha check 4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8477" y="3762573"/>
            <a:ext cx="210678" cy="210678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234440" y="3557016"/>
            <a:ext cx="6492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温和、低刺激的角质剥脱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Gentle, low‑irritation exfoliation</a:t>
            </a:r>
            <a:endParaRPr lang="en-US" sz="1400" dirty="0"/>
          </a:p>
        </p:txBody>
      </p:sp>
      <p:sp>
        <p:nvSpPr>
          <p:cNvPr id="19" name="lha row 5"/>
          <p:cNvSpPr/>
          <p:nvPr/>
        </p:nvSpPr>
        <p:spPr>
          <a:xfrm>
            <a:off x="457200" y="4270248"/>
            <a:ext cx="7406640" cy="621792"/>
          </a:xfrm>
          <a:prstGeom prst="roundRect">
            <a:avLst>
              <a:gd name="adj" fmla="val 17647"/>
            </a:avLst>
          </a:prstGeom>
          <a:solidFill>
            <a:schemeClr val="bg2"/>
          </a:solidFill>
          <a:ln/>
        </p:spPr>
      </p:sp>
      <p:sp>
        <p:nvSpPr>
          <p:cNvPr id="20" name="lha check 5 bg"/>
          <p:cNvSpPr/>
          <p:nvPr/>
        </p:nvSpPr>
        <p:spPr>
          <a:xfrm>
            <a:off x="594360" y="4361688"/>
            <a:ext cx="438912" cy="438912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1" name="lha check 5" descr="lha check 5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8477" y="4475805"/>
            <a:ext cx="210678" cy="210678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1234440" y="4270248"/>
            <a:ext cx="6492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促进毛孔角质更新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Promotes pore keratin renewal</a:t>
            </a:r>
            <a:endParaRPr lang="en-US" sz="1400" dirty="0"/>
          </a:p>
        </p:txBody>
      </p:sp>
      <p:sp>
        <p:nvSpPr>
          <p:cNvPr id="23" name="lha diagram frame"/>
          <p:cNvSpPr/>
          <p:nvPr/>
        </p:nvSpPr>
        <p:spPr>
          <a:xfrm>
            <a:off x="8138160" y="1417320"/>
            <a:ext cx="3566160" cy="34290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24" name="LHA loosens cell adhesion proteins diagram" descr="LHA loosens cell adhesion proteins diagram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78335" y="1481328"/>
            <a:ext cx="3085811" cy="2834640"/>
          </a:xfrm>
          <a:prstGeom prst="rect">
            <a:avLst/>
          </a:prstGeom>
        </p:spPr>
      </p:pic>
      <p:sp>
        <p:nvSpPr>
          <p:cNvPr id="25" name="Text 17"/>
          <p:cNvSpPr txBox="1"/>
          <p:nvPr/>
        </p:nvSpPr>
        <p:spPr>
          <a:xfrm>
            <a:off x="8138160" y="443484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chemeClr val="accent6"/>
                </a:solidFill>
              </a:rPr>
              <a:t>LHA 松解角质细胞粘连 · loosens cell adhesion</a:t>
            </a:r>
            <a:endParaRPr lang="en-US" sz="1100" dirty="0"/>
          </a:p>
        </p:txBody>
      </p:sp>
      <p:sp>
        <p:nvSpPr>
          <p:cNvPr id="26" name="Text 18"/>
          <p:cNvSpPr txBox="1"/>
          <p:nvPr/>
        </p:nvSpPr>
        <p:spPr>
          <a:xfrm>
            <a:off x="457200" y="5029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焕肤酸的演进  Evolution of peeling acids</a:t>
            </a:r>
            <a:endParaRPr lang="en-US" sz="1600" dirty="0"/>
          </a:p>
        </p:txBody>
      </p:sp>
      <p:sp>
        <p:nvSpPr>
          <p:cNvPr id="27" name="gen AHA"/>
          <p:cNvSpPr txBox="1"/>
          <p:nvPr/>
        </p:nvSpPr>
        <p:spPr>
          <a:xfrm>
            <a:off x="457200" y="5440680"/>
            <a:ext cx="2468880" cy="685800"/>
          </a:xfrm>
          <a:prstGeom prst="roundRect">
            <a:avLst>
              <a:gd name="adj" fmla="val 49333"/>
            </a:avLst>
          </a:prstGeom>
          <a:solidFill>
            <a:schemeClr val="bg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1st Gen  </a:t>
            </a:r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AHA</a:t>
            </a:r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  果酸</a:t>
            </a:r>
            <a:endParaRPr lang="en-US" sz="1200" dirty="0"/>
          </a:p>
        </p:txBody>
      </p:sp>
      <p:sp>
        <p:nvSpPr>
          <p:cNvPr id="28" name="gen arrow 1"/>
          <p:cNvSpPr/>
          <p:nvPr/>
        </p:nvSpPr>
        <p:spPr>
          <a:xfrm>
            <a:off x="2971800" y="5669280"/>
            <a:ext cx="274320" cy="228600"/>
          </a:xfrm>
          <a:prstGeom prst="rightArrow">
            <a:avLst/>
          </a:prstGeom>
          <a:solidFill>
            <a:schemeClr val="accent4"/>
          </a:solidFill>
          <a:ln/>
        </p:spPr>
      </p:sp>
      <p:sp>
        <p:nvSpPr>
          <p:cNvPr id="29" name="gen BHA"/>
          <p:cNvSpPr txBox="1"/>
          <p:nvPr/>
        </p:nvSpPr>
        <p:spPr>
          <a:xfrm>
            <a:off x="3291840" y="5440680"/>
            <a:ext cx="2468880" cy="685800"/>
          </a:xfrm>
          <a:prstGeom prst="roundRect">
            <a:avLst>
              <a:gd name="adj" fmla="val 49333"/>
            </a:avLst>
          </a:prstGeom>
          <a:solidFill>
            <a:schemeClr val="bg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2nd Gen  </a:t>
            </a:r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BHA</a:t>
            </a:r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  水杨酸</a:t>
            </a:r>
            <a:endParaRPr lang="en-US" sz="1200" dirty="0"/>
          </a:p>
        </p:txBody>
      </p:sp>
      <p:sp>
        <p:nvSpPr>
          <p:cNvPr id="30" name="gen arrow 2"/>
          <p:cNvSpPr/>
          <p:nvPr/>
        </p:nvSpPr>
        <p:spPr>
          <a:xfrm>
            <a:off x="5806440" y="5669280"/>
            <a:ext cx="274320" cy="228600"/>
          </a:xfrm>
          <a:prstGeom prst="rightArrow">
            <a:avLst/>
          </a:prstGeom>
          <a:solidFill>
            <a:schemeClr val="accent4"/>
          </a:solidFill>
          <a:ln/>
        </p:spPr>
      </p:sp>
      <p:sp>
        <p:nvSpPr>
          <p:cNvPr id="31" name="gen PHA"/>
          <p:cNvSpPr txBox="1"/>
          <p:nvPr/>
        </p:nvSpPr>
        <p:spPr>
          <a:xfrm>
            <a:off x="6126480" y="5440680"/>
            <a:ext cx="2468880" cy="685800"/>
          </a:xfrm>
          <a:prstGeom prst="roundRect">
            <a:avLst>
              <a:gd name="adj" fmla="val 49333"/>
            </a:avLst>
          </a:prstGeom>
          <a:solidFill>
            <a:schemeClr val="bg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3rd Gen  </a:t>
            </a:r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PHA</a:t>
            </a:r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  葡糖酸内酯</a:t>
            </a:r>
            <a:endParaRPr lang="en-US" sz="1200" dirty="0"/>
          </a:p>
        </p:txBody>
      </p:sp>
      <p:sp>
        <p:nvSpPr>
          <p:cNvPr id="32" name="gen arrow 3"/>
          <p:cNvSpPr/>
          <p:nvPr/>
        </p:nvSpPr>
        <p:spPr>
          <a:xfrm>
            <a:off x="8641080" y="5669280"/>
            <a:ext cx="274320" cy="228600"/>
          </a:xfrm>
          <a:prstGeom prst="rightArrow">
            <a:avLst/>
          </a:prstGeom>
          <a:solidFill>
            <a:schemeClr val="accent4"/>
          </a:solidFill>
          <a:ln/>
        </p:spPr>
      </p:sp>
      <p:sp>
        <p:nvSpPr>
          <p:cNvPr id="33" name="gen LHA"/>
          <p:cNvSpPr txBox="1"/>
          <p:nvPr/>
        </p:nvSpPr>
        <p:spPr>
          <a:xfrm>
            <a:off x="8961120" y="5440680"/>
            <a:ext cx="2468880" cy="685800"/>
          </a:xfrm>
          <a:prstGeom prst="roundRect">
            <a:avLst>
              <a:gd name="adj" fmla="val 49333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4th Gen  </a:t>
            </a:r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LHA</a:t>
            </a:r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  XE‑LHA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65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11247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作用原理</a:t>
            </a:r>
            <a:endParaRPr lang="en-US" sz="3000" dirty="0"/>
          </a:p>
          <a:p>
            <a:pPr algn="l" indent="0" marL="0">
              <a:buNone/>
            </a:pPr>
            <a:r>
              <a:rPr lang="en-US" sz="160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Principle</a:t>
            </a:r>
            <a:endParaRPr lang="en-US" sz="3000" dirty="0"/>
          </a:p>
        </p:txBody>
      </p:sp>
      <p:sp>
        <p:nvSpPr>
          <p:cNvPr id="3" name="layer stratum corneum"/>
          <p:cNvSpPr/>
          <p:nvPr/>
        </p:nvSpPr>
        <p:spPr>
          <a:xfrm>
            <a:off x="457200" y="1417320"/>
            <a:ext cx="4389120" cy="685800"/>
          </a:xfrm>
          <a:prstGeom prst="rect">
            <a:avLst/>
          </a:prstGeom>
          <a:solidFill>
            <a:srgbClr val="D8B98C"/>
          </a:solidFill>
          <a:ln/>
        </p:spPr>
      </p:sp>
      <p:sp>
        <p:nvSpPr>
          <p:cNvPr id="4" name="layer epidermis"/>
          <p:cNvSpPr/>
          <p:nvPr/>
        </p:nvSpPr>
        <p:spPr>
          <a:xfrm>
            <a:off x="457200" y="2103120"/>
            <a:ext cx="4389120" cy="1188720"/>
          </a:xfrm>
          <a:prstGeom prst="rect">
            <a:avLst/>
          </a:prstGeom>
          <a:solidFill>
            <a:srgbClr val="F2C4A8"/>
          </a:solidFill>
          <a:ln/>
        </p:spPr>
      </p:sp>
      <p:sp>
        <p:nvSpPr>
          <p:cNvPr id="5" name="layer dermis"/>
          <p:cNvSpPr/>
          <p:nvPr/>
        </p:nvSpPr>
        <p:spPr>
          <a:xfrm>
            <a:off x="457200" y="3291840"/>
            <a:ext cx="4389120" cy="1874520"/>
          </a:xfrm>
          <a:prstGeom prst="rect">
            <a:avLst/>
          </a:prstGeom>
          <a:solidFill>
            <a:srgbClr val="E69D8E"/>
          </a:solidFill>
          <a:ln/>
        </p:spPr>
      </p:sp>
      <p:sp>
        <p:nvSpPr>
          <p:cNvPr id="6" name="pore"/>
          <p:cNvSpPr/>
          <p:nvPr/>
        </p:nvSpPr>
        <p:spPr>
          <a:xfrm>
            <a:off x="3611880" y="1417320"/>
            <a:ext cx="502920" cy="2194560"/>
          </a:xfrm>
          <a:prstGeom prst="roundRect">
            <a:avLst>
              <a:gd name="adj" fmla="val 36364"/>
            </a:avLst>
          </a:prstGeom>
          <a:solidFill>
            <a:srgbClr val="FFF1B8"/>
          </a:solidFill>
          <a:ln w="19050">
            <a:solidFill>
              <a:schemeClr val="accent2"/>
            </a:solidFill>
            <a:prstDash val="solid"/>
          </a:ln>
        </p:spPr>
      </p:sp>
      <p:sp>
        <p:nvSpPr>
          <p:cNvPr id="7" name="sebum 0"/>
          <p:cNvSpPr/>
          <p:nvPr/>
        </p:nvSpPr>
        <p:spPr>
          <a:xfrm>
            <a:off x="3749040" y="1828800"/>
            <a:ext cx="201168" cy="20116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8" name="sebum 1"/>
          <p:cNvSpPr/>
          <p:nvPr/>
        </p:nvSpPr>
        <p:spPr>
          <a:xfrm>
            <a:off x="3840480" y="2377440"/>
            <a:ext cx="201168" cy="20116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9" name="sebum 2"/>
          <p:cNvSpPr/>
          <p:nvPr/>
        </p:nvSpPr>
        <p:spPr>
          <a:xfrm>
            <a:off x="3730752" y="2926080"/>
            <a:ext cx="201168" cy="20116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" y="150876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3B2A14"/>
                </a:solidFill>
              </a:rPr>
              <a:t>角质层 Stratum corneum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3B2A14"/>
                </a:solidFill>
              </a:rPr>
              <a:t>老废角质 · dead keratin (LHA 软化)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228600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3F2316"/>
                </a:solidFill>
              </a:rPr>
              <a:t>表皮层 Epidermis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3F2316"/>
                </a:solidFill>
              </a:rPr>
              <a:t>健康细胞不受伤害 · healthy cells protected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594360" y="3520440"/>
            <a:ext cx="4023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FFFFFF"/>
                </a:solidFill>
              </a:rPr>
              <a:t>真皮层 Dermis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FFFFFF"/>
                </a:solidFill>
              </a:rPr>
              <a:t>益生菌 + 美白营养导入 · probiotic &amp; brightening nutrients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FFFFFF"/>
                </a:solidFill>
              </a:rPr>
              <a:t>胶原新生 · collagen regeneration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4133088" y="246888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3B2A14"/>
                </a:solidFill>
              </a:rPr>
              <a:t>毛孔 Pore</a:t>
            </a:r>
            <a:endParaRPr lang="en-US" sz="1100" dirty="0"/>
          </a:p>
        </p:txBody>
      </p:sp>
      <p:sp>
        <p:nvSpPr>
          <p:cNvPr id="14" name="traditional peel box"/>
          <p:cNvSpPr/>
          <p:nvPr/>
        </p:nvSpPr>
        <p:spPr>
          <a:xfrm>
            <a:off x="5212080" y="1417320"/>
            <a:ext cx="6492240" cy="914400"/>
          </a:xfrm>
          <a:prstGeom prst="roundRect">
            <a:avLst>
              <a:gd name="adj" fmla="val 12000"/>
            </a:avLst>
          </a:prstGeom>
          <a:solidFill>
            <a:srgbClr val="FCEDE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394960" y="1481328"/>
            <a:ext cx="61264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传统焕肤：无差别腐蚀角质层 — 刺激大、脱皮、泛红、屏障易受损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chemeClr val="accent6"/>
                </a:solidFill>
              </a:rPr>
              <a:t>Traditional peel: non‑selective — heavy peeling, irritation, barrier damage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5212080" y="2450592"/>
            <a:ext cx="6492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XE‑LHA Peel 原理 Mechanism</a:t>
            </a:r>
            <a:endParaRPr lang="en-US" sz="1600" dirty="0"/>
          </a:p>
        </p:txBody>
      </p:sp>
      <p:sp>
        <p:nvSpPr>
          <p:cNvPr id="17" name="num 1"/>
          <p:cNvSpPr txBox="1"/>
          <p:nvPr/>
        </p:nvSpPr>
        <p:spPr>
          <a:xfrm>
            <a:off x="5212080" y="288036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5852160" y="2834640"/>
            <a:ext cx="5852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LHA 油脂亲和力高，只软化老化粘连的角质细胞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LHA selectively loosens only dead, aged keratin cells</a:t>
            </a:r>
            <a:endParaRPr lang="en-US" sz="1400" dirty="0"/>
          </a:p>
        </p:txBody>
      </p:sp>
      <p:sp>
        <p:nvSpPr>
          <p:cNvPr id="19" name="num 2"/>
          <p:cNvSpPr txBox="1"/>
          <p:nvPr/>
        </p:nvSpPr>
        <p:spPr>
          <a:xfrm>
            <a:off x="5212080" y="352044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2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5852160" y="3474720"/>
            <a:ext cx="5852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专利油脂成分包裹活性物，缓慢渗透，降低刺激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Lipid‑based patented carrier slows penetration &amp; minimises irritation</a:t>
            </a:r>
            <a:endParaRPr lang="en-US" sz="1400" dirty="0"/>
          </a:p>
        </p:txBody>
      </p:sp>
      <p:sp>
        <p:nvSpPr>
          <p:cNvPr id="21" name="num 3"/>
          <p:cNvSpPr txBox="1"/>
          <p:nvPr/>
        </p:nvSpPr>
        <p:spPr>
          <a:xfrm>
            <a:off x="5212080" y="416052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5852160" y="4114800"/>
            <a:ext cx="5852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益生菌 + 美白营养同步导入真皮浅层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Probiotic &amp; brightening nutrients reach the superficial dermis</a:t>
            </a:r>
            <a:endParaRPr lang="en-US" sz="1400" dirty="0"/>
          </a:p>
        </p:txBody>
      </p:sp>
      <p:sp>
        <p:nvSpPr>
          <p:cNvPr id="23" name="num 4"/>
          <p:cNvSpPr txBox="1"/>
          <p:nvPr/>
        </p:nvSpPr>
        <p:spPr>
          <a:xfrm>
            <a:off x="5212080" y="480060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4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5852160" y="4754880"/>
            <a:ext cx="5852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加速皮肤自然新陈代谢，促进胶原新生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Speeds up natural skin turnover &amp; collagen regeneration</a:t>
            </a:r>
            <a:endParaRPr lang="en-US" sz="1400" dirty="0"/>
          </a:p>
        </p:txBody>
      </p:sp>
      <p:sp>
        <p:nvSpPr>
          <p:cNvPr id="25" name="outcome banner"/>
          <p:cNvSpPr/>
          <p:nvPr/>
        </p:nvSpPr>
        <p:spPr>
          <a:xfrm>
            <a:off x="457200" y="5440680"/>
            <a:ext cx="11247120" cy="82296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1520" y="5440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chemeClr val="bg1"/>
                </a:solidFill>
              </a:rPr>
              <a:t>结果：毛孔干净、肤质细腻透亮，皮肤屏障反而变强，越做越不容易敏感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CFE0D2"/>
                </a:solidFill>
              </a:rPr>
              <a:t>Outcome: clean pores, smooth glowing texture, a stronger barrier and less long‑term sensitivity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65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11247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功效｜可改善的皮肤问题</a:t>
            </a:r>
            <a:endParaRPr lang="en-US" sz="3000" dirty="0"/>
          </a:p>
          <a:p>
            <a:pPr algn="l" indent="0" marL="0">
              <a:buNone/>
            </a:pPr>
            <a:r>
              <a:rPr lang="en-US" sz="160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Skin Benefits</a:t>
            </a:r>
            <a:endParaRPr lang="en-US" sz="3000" dirty="0"/>
          </a:p>
        </p:txBody>
      </p:sp>
      <p:sp>
        <p:nvSpPr>
          <p:cNvPr id="3" name="benefit card 1"/>
          <p:cNvSpPr/>
          <p:nvPr/>
        </p:nvSpPr>
        <p:spPr>
          <a:xfrm>
            <a:off x="457200" y="1417320"/>
            <a:ext cx="3566160" cy="178308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/>
        </p:spPr>
      </p:sp>
      <p:sp>
        <p:nvSpPr>
          <p:cNvPr id="4" name="benefit icon 1 bg"/>
          <p:cNvSpPr/>
          <p:nvPr/>
        </p:nvSpPr>
        <p:spPr>
          <a:xfrm>
            <a:off x="640080" y="1600200"/>
            <a:ext cx="594360" cy="5943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benefit icon 1" descr="benefit icon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4614" y="1754734"/>
            <a:ext cx="285293" cy="285293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17320" y="1581912"/>
            <a:ext cx="24688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改善毛孔粗大、黑头粉刺、油脂分泌旺盛（新加坡湿热出油肌首选）</a:t>
            </a:r>
            <a:endParaRPr lang="en-US" sz="14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chemeClr val="accent6"/>
                </a:solidFill>
              </a:rPr>
              <a:t>Minimises large pores, blackheads &amp; excess sebum — ideal for Singapore's humid, oily skin</a:t>
            </a:r>
            <a:endParaRPr lang="en-US" sz="1400" dirty="0"/>
          </a:p>
        </p:txBody>
      </p:sp>
      <p:sp>
        <p:nvSpPr>
          <p:cNvPr id="7" name="benefit card 2"/>
          <p:cNvSpPr/>
          <p:nvPr/>
        </p:nvSpPr>
        <p:spPr>
          <a:xfrm>
            <a:off x="4297680" y="1417320"/>
            <a:ext cx="3566160" cy="178308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/>
        </p:spPr>
      </p:sp>
      <p:sp>
        <p:nvSpPr>
          <p:cNvPr id="8" name="benefit icon 2 bg"/>
          <p:cNvSpPr/>
          <p:nvPr/>
        </p:nvSpPr>
        <p:spPr>
          <a:xfrm>
            <a:off x="4480560" y="1600200"/>
            <a:ext cx="594360" cy="5943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9" name="benefit icon 2" descr="benefit icon 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5094" y="1754734"/>
            <a:ext cx="285293" cy="285293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5257800" y="1581912"/>
            <a:ext cx="24688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肤色暗沉、发黄、粗糙无光</a:t>
            </a:r>
            <a:endParaRPr lang="en-US" sz="14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chemeClr val="accent6"/>
                </a:solidFill>
              </a:rPr>
              <a:t>Dull, sallow, rough skin texture</a:t>
            </a:r>
            <a:endParaRPr lang="en-US" sz="1400" dirty="0"/>
          </a:p>
        </p:txBody>
      </p:sp>
      <p:sp>
        <p:nvSpPr>
          <p:cNvPr id="11" name="benefit card 3"/>
          <p:cNvSpPr/>
          <p:nvPr/>
        </p:nvSpPr>
        <p:spPr>
          <a:xfrm>
            <a:off x="8138160" y="1417320"/>
            <a:ext cx="3566160" cy="178308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/>
        </p:spPr>
      </p:sp>
      <p:sp>
        <p:nvSpPr>
          <p:cNvPr id="12" name="benefit icon 3 bg"/>
          <p:cNvSpPr/>
          <p:nvPr/>
        </p:nvSpPr>
        <p:spPr>
          <a:xfrm>
            <a:off x="8321040" y="1600200"/>
            <a:ext cx="594360" cy="5943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3" name="benefit icon 3" descr="benefit icon 3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75574" y="1754734"/>
            <a:ext cx="285293" cy="285293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9098280" y="1581912"/>
            <a:ext cx="24688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痘痘肌、闭口、红色褐色痘印</a:t>
            </a:r>
            <a:endParaRPr lang="en-US" sz="14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chemeClr val="accent6"/>
                </a:solidFill>
              </a:rPr>
              <a:t>Acne, clogged comedones, red &amp; brown post‑acne marks</a:t>
            </a:r>
            <a:endParaRPr lang="en-US" sz="1400" dirty="0"/>
          </a:p>
        </p:txBody>
      </p:sp>
      <p:sp>
        <p:nvSpPr>
          <p:cNvPr id="15" name="benefit card 4"/>
          <p:cNvSpPr/>
          <p:nvPr/>
        </p:nvSpPr>
        <p:spPr>
          <a:xfrm>
            <a:off x="457200" y="3337560"/>
            <a:ext cx="3566160" cy="178308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/>
        </p:spPr>
      </p:sp>
      <p:sp>
        <p:nvSpPr>
          <p:cNvPr id="16" name="benefit icon 4 bg"/>
          <p:cNvSpPr/>
          <p:nvPr/>
        </p:nvSpPr>
        <p:spPr>
          <a:xfrm>
            <a:off x="640080" y="3520440"/>
            <a:ext cx="594360" cy="5943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7" name="benefit icon 4" descr="benefit icon 4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4614" y="3674974"/>
            <a:ext cx="285293" cy="285293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417320" y="3502152"/>
            <a:ext cx="24688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轻度色素沉着、晒后暗沉</a:t>
            </a:r>
            <a:endParaRPr lang="en-US" sz="14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chemeClr val="accent6"/>
                </a:solidFill>
              </a:rPr>
              <a:t>Mild pigmentation &amp; sun‑related dullness</a:t>
            </a:r>
            <a:endParaRPr lang="en-US" sz="1400" dirty="0"/>
          </a:p>
        </p:txBody>
      </p:sp>
      <p:sp>
        <p:nvSpPr>
          <p:cNvPr id="19" name="benefit card 5"/>
          <p:cNvSpPr/>
          <p:nvPr/>
        </p:nvSpPr>
        <p:spPr>
          <a:xfrm>
            <a:off x="4297680" y="3337560"/>
            <a:ext cx="3566160" cy="178308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/>
        </p:spPr>
      </p:sp>
      <p:sp>
        <p:nvSpPr>
          <p:cNvPr id="20" name="benefit icon 5 bg"/>
          <p:cNvSpPr/>
          <p:nvPr/>
        </p:nvSpPr>
        <p:spPr>
          <a:xfrm>
            <a:off x="4480560" y="3520440"/>
            <a:ext cx="594360" cy="5943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1" name="benefit icon 5" descr="benefit icon 5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35094" y="3674974"/>
            <a:ext cx="285293" cy="285293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5257800" y="3502152"/>
            <a:ext cx="24688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肌肤屏障脆弱、反复轻微泛红、肤质粗糙</a:t>
            </a:r>
            <a:endParaRPr lang="en-US" sz="14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chemeClr val="accent6"/>
                </a:solidFill>
              </a:rPr>
              <a:t>Fragile skin barrier, mild recurring redness, rough texture</a:t>
            </a:r>
            <a:endParaRPr lang="en-US" sz="1400" dirty="0"/>
          </a:p>
        </p:txBody>
      </p:sp>
      <p:sp>
        <p:nvSpPr>
          <p:cNvPr id="23" name="benefit card 6"/>
          <p:cNvSpPr/>
          <p:nvPr/>
        </p:nvSpPr>
        <p:spPr>
          <a:xfrm>
            <a:off x="8138160" y="3337560"/>
            <a:ext cx="3566160" cy="178308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/>
        </p:spPr>
      </p:sp>
      <p:sp>
        <p:nvSpPr>
          <p:cNvPr id="24" name="benefit icon 6 bg"/>
          <p:cNvSpPr/>
          <p:nvPr/>
        </p:nvSpPr>
        <p:spPr>
          <a:xfrm>
            <a:off x="8321040" y="3520440"/>
            <a:ext cx="594360" cy="5943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5" name="benefit icon 6" descr="benefit icon 6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75574" y="3674974"/>
            <a:ext cx="285293" cy="285293"/>
          </a:xfrm>
          <a:prstGeom prst="rect">
            <a:avLst/>
          </a:prstGeom>
        </p:spPr>
      </p:pic>
      <p:sp>
        <p:nvSpPr>
          <p:cNvPr id="26" name="Text 18"/>
          <p:cNvSpPr txBox="1"/>
          <p:nvPr/>
        </p:nvSpPr>
        <p:spPr>
          <a:xfrm>
            <a:off x="9098280" y="3502152"/>
            <a:ext cx="24688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改善表层干纹，提升水润光泽度</a:t>
            </a:r>
            <a:endParaRPr lang="en-US" sz="14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chemeClr val="accent6"/>
                </a:solidFill>
              </a:rPr>
              <a:t>Softens fine superficial lines; boosts hydration &amp; radiance</a:t>
            </a:r>
            <a:endParaRPr lang="en-US" sz="1400" dirty="0"/>
          </a:p>
        </p:txBody>
      </p:sp>
      <p:sp>
        <p:nvSpPr>
          <p:cNvPr id="27" name="note banner"/>
          <p:cNvSpPr/>
          <p:nvPr/>
        </p:nvSpPr>
        <p:spPr>
          <a:xfrm>
            <a:off x="457200" y="5349240"/>
            <a:ext cx="11247120" cy="868680"/>
          </a:xfrm>
          <a:prstGeom prst="roundRect">
            <a:avLst>
              <a:gd name="adj" fmla="val 12632"/>
            </a:avLst>
          </a:prstGeom>
          <a:solidFill>
            <a:srgbClr val="FBF1D6"/>
          </a:solidFill>
          <a:ln/>
        </p:spPr>
      </p:sp>
      <p:sp>
        <p:nvSpPr>
          <p:cNvPr id="28" name="note icon bg"/>
          <p:cNvSpPr/>
          <p:nvPr/>
        </p:nvSpPr>
        <p:spPr>
          <a:xfrm>
            <a:off x="685800" y="5550408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29" name="note icon" descr="note ico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4672" y="5669280"/>
            <a:ext cx="219456" cy="219456"/>
          </a:xfrm>
          <a:prstGeom prst="rect">
            <a:avLst/>
          </a:prstGeom>
        </p:spPr>
      </p:pic>
      <p:sp>
        <p:nvSpPr>
          <p:cNvPr id="30" name="Text 21"/>
          <p:cNvSpPr txBox="1"/>
          <p:nvPr/>
        </p:nvSpPr>
        <p:spPr>
          <a:xfrm>
            <a:off x="1371600" y="5349240"/>
            <a:ext cx="10058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000000"/>
                </a:solidFill>
              </a:rPr>
              <a:t>注意：重度痘坑、深层色斑无法单次根治，需要疗程搭配其他仪器项目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chemeClr val="accent6"/>
                </a:solidFill>
              </a:rPr>
              <a:t>Note: severe acne scars &amp; deep pigmentation cannot be fully solved by a single peel — a combined treatment plan is needed.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65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11247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临床数据｜Clinical Evidence</a:t>
            </a:r>
            <a:endParaRPr lang="en-US" sz="3000" dirty="0"/>
          </a:p>
          <a:p>
            <a:pPr algn="l" indent="0" marL="0">
              <a:buNone/>
            </a:pPr>
            <a:r>
              <a:rPr lang="en-US" sz="160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reported by the brand's clinical studies</a:t>
            </a:r>
            <a:endParaRPr lang="en-US" sz="3000" dirty="0"/>
          </a:p>
        </p:txBody>
      </p:sp>
      <p:sp>
        <p:nvSpPr>
          <p:cNvPr id="3" name="irritation banner"/>
          <p:cNvSpPr/>
          <p:nvPr/>
        </p:nvSpPr>
        <p:spPr>
          <a:xfrm>
            <a:off x="457200" y="1417320"/>
            <a:ext cx="11247120" cy="914400"/>
          </a:xfrm>
          <a:prstGeom prst="roundRect">
            <a:avLst>
              <a:gd name="adj" fmla="val 12000"/>
            </a:avLst>
          </a:prstGeom>
          <a:solidFill>
            <a:schemeClr val="tx2"/>
          </a:solidFill>
          <a:ln/>
        </p:spPr>
      </p:sp>
      <p:sp>
        <p:nvSpPr>
          <p:cNvPr id="4" name="irritation icon bg"/>
          <p:cNvSpPr/>
          <p:nvPr/>
        </p:nvSpPr>
        <p:spPr>
          <a:xfrm>
            <a:off x="731520" y="164592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irritation icon" descr="irritation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392" y="1764792"/>
            <a:ext cx="219456" cy="21945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71600" y="1417320"/>
            <a:ext cx="10149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bg1"/>
                </a:solidFill>
              </a:rPr>
              <a:t>人体皮肤刺激测试：判定为无刺激（0.00% 刺激）— 无红肿、灼热、瘙痒、刺痛、紧绷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CFE0D2"/>
                </a:solidFill>
              </a:rPr>
              <a:t>Human skin irritation test: classified non‑irritating — no redness, swelling, burning, itching, stinging or tightness observed</a:t>
            </a:r>
            <a:endParaRPr lang="en-US" sz="1400" dirty="0"/>
          </a:p>
        </p:txBody>
      </p:sp>
      <p:sp>
        <p:nvSpPr>
          <p:cNvPr id="7" name="clinical tile 1"/>
          <p:cNvSpPr/>
          <p:nvPr/>
        </p:nvSpPr>
        <p:spPr>
          <a:xfrm>
            <a:off x="457200" y="2514600"/>
            <a:ext cx="3566160" cy="155448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48640" y="2514600"/>
            <a:ext cx="15087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50%</a:t>
            </a:r>
            <a:endParaRPr lang="en-US" sz="2600" dirty="0"/>
          </a:p>
        </p:txBody>
      </p:sp>
      <p:sp>
        <p:nvSpPr>
          <p:cNvPr id="9" name="Text 6"/>
          <p:cNvSpPr txBox="1"/>
          <p:nvPr/>
        </p:nvSpPr>
        <p:spPr>
          <a:xfrm>
            <a:off x="2103120" y="2606040"/>
            <a:ext cx="1828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角质剥脱改善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accent6"/>
                </a:solidFill>
              </a:rPr>
              <a:t>Improved exfoliation · 3 sessions, 1‑week intervals</a:t>
            </a:r>
            <a:endParaRPr lang="en-US" sz="1400" dirty="0"/>
          </a:p>
        </p:txBody>
      </p:sp>
      <p:sp>
        <p:nvSpPr>
          <p:cNvPr id="10" name="clinical tile 2"/>
          <p:cNvSpPr/>
          <p:nvPr/>
        </p:nvSpPr>
        <p:spPr>
          <a:xfrm>
            <a:off x="4297680" y="2514600"/>
            <a:ext cx="3566160" cy="155448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389120" y="2514600"/>
            <a:ext cx="15087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13.85%</a:t>
            </a:r>
            <a:endParaRPr lang="en-US" sz="2600" dirty="0"/>
          </a:p>
        </p:txBody>
      </p:sp>
      <p:sp>
        <p:nvSpPr>
          <p:cNvPr id="12" name="Text 9"/>
          <p:cNvSpPr txBox="1"/>
          <p:nvPr/>
        </p:nvSpPr>
        <p:spPr>
          <a:xfrm>
            <a:off x="5943600" y="2606040"/>
            <a:ext cx="1828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毛孔面积改善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accent6"/>
                </a:solidFill>
              </a:rPr>
              <a:t>Pore area improvement</a:t>
            </a:r>
            <a:endParaRPr lang="en-US" sz="1400" dirty="0"/>
          </a:p>
        </p:txBody>
      </p:sp>
      <p:sp>
        <p:nvSpPr>
          <p:cNvPr id="13" name="clinical tile 3"/>
          <p:cNvSpPr/>
          <p:nvPr/>
        </p:nvSpPr>
        <p:spPr>
          <a:xfrm>
            <a:off x="8138160" y="2514600"/>
            <a:ext cx="3566160" cy="155448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8229600" y="2514600"/>
            <a:ext cx="15087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9.48%</a:t>
            </a:r>
            <a:endParaRPr lang="en-US" sz="2600" dirty="0"/>
          </a:p>
        </p:txBody>
      </p:sp>
      <p:sp>
        <p:nvSpPr>
          <p:cNvPr id="15" name="Text 12"/>
          <p:cNvSpPr txBox="1"/>
          <p:nvPr/>
        </p:nvSpPr>
        <p:spPr>
          <a:xfrm>
            <a:off x="9784080" y="2606040"/>
            <a:ext cx="1828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皮肤密度改善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accent6"/>
                </a:solidFill>
              </a:rPr>
              <a:t>Skin density improvement</a:t>
            </a:r>
            <a:endParaRPr lang="en-US" sz="1400" dirty="0"/>
          </a:p>
        </p:txBody>
      </p:sp>
      <p:sp>
        <p:nvSpPr>
          <p:cNvPr id="16" name="clinical tile 4"/>
          <p:cNvSpPr/>
          <p:nvPr/>
        </p:nvSpPr>
        <p:spPr>
          <a:xfrm>
            <a:off x="457200" y="4206240"/>
            <a:ext cx="3566160" cy="155448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548640" y="4206240"/>
            <a:ext cx="15087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10.83%</a:t>
            </a:r>
            <a:endParaRPr lang="en-US" sz="2600" dirty="0"/>
          </a:p>
        </p:txBody>
      </p:sp>
      <p:sp>
        <p:nvSpPr>
          <p:cNvPr id="18" name="Text 15"/>
          <p:cNvSpPr txBox="1"/>
          <p:nvPr/>
        </p:nvSpPr>
        <p:spPr>
          <a:xfrm>
            <a:off x="2103120" y="4297680"/>
            <a:ext cx="1828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外界刺激后的舒缓效果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accent6"/>
                </a:solidFill>
              </a:rPr>
              <a:t>Soothing effect after external irritation</a:t>
            </a:r>
            <a:endParaRPr lang="en-US" sz="1400" dirty="0"/>
          </a:p>
        </p:txBody>
      </p:sp>
      <p:sp>
        <p:nvSpPr>
          <p:cNvPr id="19" name="clinical tile 5"/>
          <p:cNvSpPr/>
          <p:nvPr/>
        </p:nvSpPr>
        <p:spPr>
          <a:xfrm>
            <a:off x="4297680" y="4206240"/>
            <a:ext cx="3566160" cy="155448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4389120" y="4206240"/>
            <a:ext cx="15087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4.96%</a:t>
            </a:r>
            <a:endParaRPr lang="en-US" sz="2600" dirty="0"/>
          </a:p>
        </p:txBody>
      </p:sp>
      <p:sp>
        <p:nvSpPr>
          <p:cNvPr id="21" name="Text 18"/>
          <p:cNvSpPr txBox="1"/>
          <p:nvPr/>
        </p:nvSpPr>
        <p:spPr>
          <a:xfrm>
            <a:off x="5943600" y="4297680"/>
            <a:ext cx="1828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色素沉着改善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accent6"/>
                </a:solidFill>
              </a:rPr>
              <a:t>Pigmentation improvement · 3 sessions, 1‑week intervals</a:t>
            </a:r>
            <a:endParaRPr lang="en-US" sz="1400" dirty="0"/>
          </a:p>
        </p:txBody>
      </p:sp>
      <p:sp>
        <p:nvSpPr>
          <p:cNvPr id="22" name="clinical tile 6"/>
          <p:cNvSpPr/>
          <p:nvPr/>
        </p:nvSpPr>
        <p:spPr>
          <a:xfrm>
            <a:off x="8138160" y="4206240"/>
            <a:ext cx="3566160" cy="155448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8229600" y="4206240"/>
            <a:ext cx="15087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6.73%</a:t>
            </a:r>
            <a:endParaRPr lang="en-US" sz="2600" dirty="0"/>
          </a:p>
        </p:txBody>
      </p:sp>
      <p:sp>
        <p:nvSpPr>
          <p:cNvPr id="24" name="Text 21"/>
          <p:cNvSpPr txBox="1"/>
          <p:nvPr/>
        </p:nvSpPr>
        <p:spPr>
          <a:xfrm>
            <a:off x="9784080" y="4297680"/>
            <a:ext cx="1828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皱纹与弹性改善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accent6"/>
                </a:solidFill>
              </a:rPr>
              <a:t>Wrinkle &amp; elasticity improvement · Youth P‑Sol™ study, 113 adults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457200" y="594360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chemeClr val="accent6"/>
                </a:solidFill>
              </a:rPr>
              <a:t>资料来源 Source: XE‑LHA Brand Introduction (YSmedi, 2026). 个体效果因人而异，请勿向客人承诺相同结果 · Individual results vary — never promise identical outcomes.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65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11247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标准操作流程 (1/2)｜60分钟疗程</a:t>
            </a:r>
            <a:endParaRPr lang="en-US" sz="3000" dirty="0"/>
          </a:p>
          <a:p>
            <a:pPr algn="l" indent="0" marL="0">
              <a:buNone/>
            </a:pPr>
            <a:r>
              <a:rPr lang="en-US" sz="160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Operating Procedure (1/2) · 60 minutes · monitor skin reaction at all times 全程观察皮肤反应</a:t>
            </a:r>
            <a:endParaRPr lang="en-US" sz="3000" dirty="0"/>
          </a:p>
        </p:txBody>
      </p:sp>
      <p:sp>
        <p:nvSpPr>
          <p:cNvPr id="3" name="step card 1"/>
          <p:cNvSpPr/>
          <p:nvPr/>
        </p:nvSpPr>
        <p:spPr>
          <a:xfrm>
            <a:off x="457200" y="1417320"/>
            <a:ext cx="2697480" cy="4069080"/>
          </a:xfrm>
          <a:prstGeom prst="roundRect">
            <a:avLst>
              <a:gd name="adj" fmla="val 4068"/>
            </a:avLst>
          </a:prstGeom>
          <a:solidFill>
            <a:schemeClr val="bg2"/>
          </a:solidFill>
          <a:ln/>
        </p:spPr>
      </p:sp>
      <p:sp>
        <p:nvSpPr>
          <p:cNvPr id="4" name="num 1"/>
          <p:cNvSpPr txBox="1"/>
          <p:nvPr/>
        </p:nvSpPr>
        <p:spPr>
          <a:xfrm>
            <a:off x="640080" y="1600200"/>
            <a:ext cx="566928" cy="56692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1</a:t>
            </a:r>
            <a:endParaRPr lang="en-US" sz="2000" dirty="0"/>
          </a:p>
        </p:txBody>
      </p:sp>
      <p:sp>
        <p:nvSpPr>
          <p:cNvPr id="5" name="time pill 1"/>
          <p:cNvSpPr txBox="1"/>
          <p:nvPr/>
        </p:nvSpPr>
        <p:spPr>
          <a:xfrm>
            <a:off x="1828800" y="1719072"/>
            <a:ext cx="1143000" cy="329184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10 min 分钟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377440"/>
            <a:ext cx="2377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卸妆清洁</a:t>
            </a:r>
            <a:endParaRPr lang="en-US" sz="16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300" dirty="0">
                <a:solidFill>
                  <a:schemeClr val="accent1"/>
                </a:solidFill>
              </a:rPr>
              <a:t>Double Cleanse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3291840"/>
            <a:ext cx="23774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彻底卸妆；用 XE‑LHA Foam 配专用洁面刷起泡温和清洁，擦干皮肤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accent6"/>
                </a:solidFill>
              </a:rPr>
              <a:t>Remove makeup; cleanse with XE‑LHA Foam and the dedicated cleansing brush; pat skin dry</a:t>
            </a:r>
            <a:endParaRPr lang="en-US" sz="1400" dirty="0"/>
          </a:p>
        </p:txBody>
      </p:sp>
      <p:sp>
        <p:nvSpPr>
          <p:cNvPr id="8" name="step card 2"/>
          <p:cNvSpPr/>
          <p:nvPr/>
        </p:nvSpPr>
        <p:spPr>
          <a:xfrm>
            <a:off x="3310128" y="1417320"/>
            <a:ext cx="2697480" cy="4069080"/>
          </a:xfrm>
          <a:prstGeom prst="roundRect">
            <a:avLst>
              <a:gd name="adj" fmla="val 4068"/>
            </a:avLst>
          </a:prstGeom>
          <a:solidFill>
            <a:schemeClr val="bg2"/>
          </a:solidFill>
          <a:ln/>
        </p:spPr>
      </p:sp>
      <p:sp>
        <p:nvSpPr>
          <p:cNvPr id="9" name="num 2"/>
          <p:cNvSpPr txBox="1"/>
          <p:nvPr/>
        </p:nvSpPr>
        <p:spPr>
          <a:xfrm>
            <a:off x="3493008" y="1600200"/>
            <a:ext cx="566928" cy="56692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2</a:t>
            </a:r>
            <a:endParaRPr lang="en-US" sz="2000" dirty="0"/>
          </a:p>
        </p:txBody>
      </p:sp>
      <p:sp>
        <p:nvSpPr>
          <p:cNvPr id="10" name="time pill 2"/>
          <p:cNvSpPr txBox="1"/>
          <p:nvPr/>
        </p:nvSpPr>
        <p:spPr>
          <a:xfrm>
            <a:off x="4681728" y="1719072"/>
            <a:ext cx="1143000" cy="329184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5 min 分钟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3493008" y="2377440"/>
            <a:ext cx="2377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皮肤评估</a:t>
            </a:r>
            <a:endParaRPr lang="en-US" sz="16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300" dirty="0">
                <a:solidFill>
                  <a:schemeClr val="accent1"/>
                </a:solidFill>
              </a:rPr>
              <a:t>Skin Assessment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3493008" y="3291840"/>
            <a:ext cx="23774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检查泛红、破损、伤口，确认适合操作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accent6"/>
                </a:solidFill>
              </a:rPr>
              <a:t>Check redness, cuts, wounds &amp; active inflammation; confirm client is suitable</a:t>
            </a:r>
            <a:endParaRPr lang="en-US" sz="1400" dirty="0"/>
          </a:p>
        </p:txBody>
      </p:sp>
      <p:sp>
        <p:nvSpPr>
          <p:cNvPr id="13" name="step card 3"/>
          <p:cNvSpPr/>
          <p:nvPr/>
        </p:nvSpPr>
        <p:spPr>
          <a:xfrm>
            <a:off x="6163056" y="1417320"/>
            <a:ext cx="2697480" cy="4069080"/>
          </a:xfrm>
          <a:prstGeom prst="roundRect">
            <a:avLst>
              <a:gd name="adj" fmla="val 4068"/>
            </a:avLst>
          </a:prstGeom>
          <a:solidFill>
            <a:schemeClr val="bg2"/>
          </a:solidFill>
          <a:ln/>
        </p:spPr>
      </p:sp>
      <p:sp>
        <p:nvSpPr>
          <p:cNvPr id="14" name="num 3"/>
          <p:cNvSpPr txBox="1"/>
          <p:nvPr/>
        </p:nvSpPr>
        <p:spPr>
          <a:xfrm>
            <a:off x="6345936" y="1600200"/>
            <a:ext cx="566928" cy="56692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3</a:t>
            </a:r>
            <a:endParaRPr lang="en-US" sz="2000" dirty="0"/>
          </a:p>
        </p:txBody>
      </p:sp>
      <p:sp>
        <p:nvSpPr>
          <p:cNvPr id="15" name="time pill 3"/>
          <p:cNvSpPr txBox="1"/>
          <p:nvPr/>
        </p:nvSpPr>
        <p:spPr>
          <a:xfrm>
            <a:off x="7534656" y="1719072"/>
            <a:ext cx="1143000" cy="329184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3‑5 min 分钟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345936" y="2377440"/>
            <a:ext cx="2377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一号液 Basic</a:t>
            </a:r>
            <a:endParaRPr lang="en-US" sz="16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300" dirty="0">
                <a:solidFill>
                  <a:schemeClr val="accent1"/>
                </a:solidFill>
              </a:rPr>
              <a:t>XE‑LHA Basic (LHA 500 ppm)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345936" y="3291840"/>
            <a:ext cx="23774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专用焕肤刷Z字型薄刷全脸（勿用普通刷），避开眼周、嘴唇。刺痛明显立即提前擦拭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accent6"/>
                </a:solidFill>
              </a:rPr>
              <a:t>Thin zig‑zag strokes with the dedicated peeling brush; avoid eye &amp; lip area. Stop early if stinging is severe</a:t>
            </a:r>
            <a:endParaRPr lang="en-US" sz="1400" dirty="0"/>
          </a:p>
        </p:txBody>
      </p:sp>
      <p:sp>
        <p:nvSpPr>
          <p:cNvPr id="18" name="step card 4"/>
          <p:cNvSpPr/>
          <p:nvPr/>
        </p:nvSpPr>
        <p:spPr>
          <a:xfrm>
            <a:off x="9015984" y="1417320"/>
            <a:ext cx="2697480" cy="4069080"/>
          </a:xfrm>
          <a:prstGeom prst="roundRect">
            <a:avLst>
              <a:gd name="adj" fmla="val 4068"/>
            </a:avLst>
          </a:prstGeom>
          <a:solidFill>
            <a:schemeClr val="bg2"/>
          </a:solidFill>
          <a:ln/>
        </p:spPr>
      </p:sp>
      <p:sp>
        <p:nvSpPr>
          <p:cNvPr id="19" name="num 4"/>
          <p:cNvSpPr txBox="1"/>
          <p:nvPr/>
        </p:nvSpPr>
        <p:spPr>
          <a:xfrm>
            <a:off x="9198864" y="1600200"/>
            <a:ext cx="566928" cy="56692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4</a:t>
            </a:r>
            <a:endParaRPr lang="en-US" sz="2000" dirty="0"/>
          </a:p>
        </p:txBody>
      </p:sp>
      <p:sp>
        <p:nvSpPr>
          <p:cNvPr id="20" name="time pill 4"/>
          <p:cNvSpPr txBox="1"/>
          <p:nvPr/>
        </p:nvSpPr>
        <p:spPr>
          <a:xfrm>
            <a:off x="10387584" y="1719072"/>
            <a:ext cx="1143000" cy="329184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5‑8 min 分钟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9198864" y="2377440"/>
            <a:ext cx="2377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二号液 Ultra</a:t>
            </a:r>
            <a:endParaRPr lang="en-US" sz="16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300" dirty="0">
                <a:solidFill>
                  <a:schemeClr val="accent1"/>
                </a:solidFill>
              </a:rPr>
              <a:t>XE‑LHA Ultra (LHA 1,000 ppm)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9198864" y="3291840"/>
            <a:ext cx="23774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不需洗掉一号液，直接叠加二号液，均匀涂刷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accent6"/>
                </a:solidFill>
              </a:rPr>
              <a:t>Do not rinse Basic. Layer Ultra evenly on top</a:t>
            </a:r>
            <a:endParaRPr lang="en-US" sz="1400" dirty="0"/>
          </a:p>
        </p:txBody>
      </p:sp>
      <p:sp>
        <p:nvSpPr>
          <p:cNvPr id="23" name="tip bar"/>
          <p:cNvSpPr/>
          <p:nvPr/>
        </p:nvSpPr>
        <p:spPr>
          <a:xfrm>
            <a:off x="457200" y="5623560"/>
            <a:ext cx="11247120" cy="640080"/>
          </a:xfrm>
          <a:prstGeom prst="roundRect">
            <a:avLst>
              <a:gd name="adj" fmla="val 17143"/>
            </a:avLst>
          </a:prstGeom>
          <a:solidFill>
            <a:srgbClr val="FBF1D6"/>
          </a:solidFill>
          <a:ln/>
        </p:spPr>
      </p:sp>
      <p:sp>
        <p:nvSpPr>
          <p:cNvPr id="24" name="tip icon bg"/>
          <p:cNvSpPr/>
          <p:nvPr/>
        </p:nvSpPr>
        <p:spPr>
          <a:xfrm>
            <a:off x="640080" y="5715000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25" name="tip icon" descr="tip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8952" y="5833872"/>
            <a:ext cx="219456" cy="219456"/>
          </a:xfrm>
          <a:prstGeom prst="rect">
            <a:avLst/>
          </a:prstGeom>
        </p:spPr>
      </p:pic>
      <p:sp>
        <p:nvSpPr>
          <p:cNvPr id="26" name="Text 23"/>
          <p:cNvSpPr txBox="1"/>
          <p:nvPr/>
        </p:nvSpPr>
        <p:spPr>
          <a:xfrm>
            <a:off x="1280160" y="5623560"/>
            <a:ext cx="10241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</a:rPr>
              <a:t>新手美疗师请缩短停留时间；敏感肌总停留时间不超过6分钟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Trainee therapists: shorten dwell time. Sensitive skin: maximum 6 minutes in total.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65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11247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标准操作流程 (2/2)｜收尾与护理</a:t>
            </a:r>
            <a:endParaRPr lang="en-US" sz="3000" dirty="0"/>
          </a:p>
          <a:p>
            <a:pPr algn="l" indent="0" marL="0">
              <a:buNone/>
            </a:pPr>
            <a:r>
              <a:rPr lang="en-US" sz="160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Operating Procedure (2/2) · removal, soothing &amp; finishing</a:t>
            </a:r>
            <a:endParaRPr lang="en-US" sz="3000" dirty="0"/>
          </a:p>
        </p:txBody>
      </p:sp>
      <p:sp>
        <p:nvSpPr>
          <p:cNvPr id="3" name="step card 5"/>
          <p:cNvSpPr/>
          <p:nvPr/>
        </p:nvSpPr>
        <p:spPr>
          <a:xfrm>
            <a:off x="457200" y="1417320"/>
            <a:ext cx="2697480" cy="4069080"/>
          </a:xfrm>
          <a:prstGeom prst="roundRect">
            <a:avLst>
              <a:gd name="adj" fmla="val 4068"/>
            </a:avLst>
          </a:prstGeom>
          <a:solidFill>
            <a:schemeClr val="bg2"/>
          </a:solidFill>
          <a:ln/>
        </p:spPr>
      </p:sp>
      <p:sp>
        <p:nvSpPr>
          <p:cNvPr id="4" name="num 5"/>
          <p:cNvSpPr txBox="1"/>
          <p:nvPr/>
        </p:nvSpPr>
        <p:spPr>
          <a:xfrm>
            <a:off x="640080" y="1600200"/>
            <a:ext cx="566928" cy="56692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5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377440"/>
            <a:ext cx="2377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擦拭清洁</a:t>
            </a:r>
            <a:endParaRPr lang="en-US" sz="16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300" dirty="0">
                <a:solidFill>
                  <a:schemeClr val="accent1"/>
                </a:solidFill>
              </a:rPr>
              <a:t>Remove Solution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291840"/>
            <a:ext cx="23774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用常温纱布/化妆棉蘸凉清水，轻柔擦净焕肤液。禁止热水冲洗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accent6"/>
                </a:solidFill>
              </a:rPr>
              <a:t>Wipe off all peel solution gently with cool damp gauze. NO HOT WATER</a:t>
            </a:r>
            <a:endParaRPr lang="en-US" sz="1400" dirty="0"/>
          </a:p>
        </p:txBody>
      </p:sp>
      <p:sp>
        <p:nvSpPr>
          <p:cNvPr id="7" name="step card 6"/>
          <p:cNvSpPr/>
          <p:nvPr/>
        </p:nvSpPr>
        <p:spPr>
          <a:xfrm>
            <a:off x="3310128" y="1417320"/>
            <a:ext cx="2697480" cy="4069080"/>
          </a:xfrm>
          <a:prstGeom prst="roundRect">
            <a:avLst>
              <a:gd name="adj" fmla="val 4068"/>
            </a:avLst>
          </a:prstGeom>
          <a:solidFill>
            <a:schemeClr val="bg2"/>
          </a:solidFill>
          <a:ln/>
        </p:spPr>
      </p:sp>
      <p:sp>
        <p:nvSpPr>
          <p:cNvPr id="8" name="num 6"/>
          <p:cNvSpPr txBox="1"/>
          <p:nvPr/>
        </p:nvSpPr>
        <p:spPr>
          <a:xfrm>
            <a:off x="3493008" y="1600200"/>
            <a:ext cx="566928" cy="56692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6</a:t>
            </a:r>
            <a:endParaRPr lang="en-US" sz="2000" dirty="0"/>
          </a:p>
        </p:txBody>
      </p:sp>
      <p:sp>
        <p:nvSpPr>
          <p:cNvPr id="9" name="time pill 6"/>
          <p:cNvSpPr txBox="1"/>
          <p:nvPr/>
        </p:nvSpPr>
        <p:spPr>
          <a:xfrm>
            <a:off x="4681728" y="1719072"/>
            <a:ext cx="1143000" cy="329184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10 min 分钟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3493008" y="2377440"/>
            <a:ext cx="2377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舒缓镇静</a:t>
            </a:r>
            <a:endParaRPr lang="en-US" sz="16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300" dirty="0">
                <a:solidFill>
                  <a:schemeClr val="accent1"/>
                </a:solidFill>
              </a:rPr>
              <a:t>Soothe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3493008" y="3291840"/>
            <a:ext cx="23774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导入舒缓补水修护精华 / 冷喷镇静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accent6"/>
                </a:solidFill>
              </a:rPr>
              <a:t>Soothing, hydrating repair serum + cool mist</a:t>
            </a:r>
            <a:endParaRPr lang="en-US" sz="1400" dirty="0"/>
          </a:p>
        </p:txBody>
      </p:sp>
      <p:sp>
        <p:nvSpPr>
          <p:cNvPr id="12" name="step card 7"/>
          <p:cNvSpPr/>
          <p:nvPr/>
        </p:nvSpPr>
        <p:spPr>
          <a:xfrm>
            <a:off x="6163056" y="1417320"/>
            <a:ext cx="2697480" cy="4069080"/>
          </a:xfrm>
          <a:prstGeom prst="roundRect">
            <a:avLst>
              <a:gd name="adj" fmla="val 4068"/>
            </a:avLst>
          </a:prstGeom>
          <a:solidFill>
            <a:schemeClr val="bg2"/>
          </a:solidFill>
          <a:ln/>
        </p:spPr>
      </p:sp>
      <p:sp>
        <p:nvSpPr>
          <p:cNvPr id="13" name="num 7"/>
          <p:cNvSpPr txBox="1"/>
          <p:nvPr/>
        </p:nvSpPr>
        <p:spPr>
          <a:xfrm>
            <a:off x="6345936" y="1600200"/>
            <a:ext cx="566928" cy="56692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7</a:t>
            </a:r>
            <a:endParaRPr lang="en-US" sz="2000" dirty="0"/>
          </a:p>
        </p:txBody>
      </p:sp>
      <p:sp>
        <p:nvSpPr>
          <p:cNvPr id="14" name="time pill 7"/>
          <p:cNvSpPr txBox="1"/>
          <p:nvPr/>
        </p:nvSpPr>
        <p:spPr>
          <a:xfrm>
            <a:off x="7534656" y="1719072"/>
            <a:ext cx="1143000" cy="329184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15 min 分钟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345936" y="2377440"/>
            <a:ext cx="2377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修护面膜</a:t>
            </a:r>
            <a:endParaRPr lang="en-US" sz="16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300" dirty="0">
                <a:solidFill>
                  <a:schemeClr val="accent1"/>
                </a:solidFill>
              </a:rPr>
              <a:t>Repair Mask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6345936" y="3291840"/>
            <a:ext cx="23774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厚敷修护补水面膜（如 XE‑LHA Mask 微生态修护面膜）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accent6"/>
                </a:solidFill>
              </a:rPr>
              <a:t>Apply a thick layer of nourishing repair mask (e.g. XE‑LHA Mask)</a:t>
            </a:r>
            <a:endParaRPr lang="en-US" sz="1400" dirty="0"/>
          </a:p>
        </p:txBody>
      </p:sp>
      <p:sp>
        <p:nvSpPr>
          <p:cNvPr id="17" name="step card 8"/>
          <p:cNvSpPr/>
          <p:nvPr/>
        </p:nvSpPr>
        <p:spPr>
          <a:xfrm>
            <a:off x="9015984" y="1417320"/>
            <a:ext cx="2697480" cy="4069080"/>
          </a:xfrm>
          <a:prstGeom prst="roundRect">
            <a:avLst>
              <a:gd name="adj" fmla="val 4068"/>
            </a:avLst>
          </a:prstGeom>
          <a:solidFill>
            <a:schemeClr val="bg2"/>
          </a:solidFill>
          <a:ln/>
        </p:spPr>
      </p:sp>
      <p:sp>
        <p:nvSpPr>
          <p:cNvPr id="18" name="num 8"/>
          <p:cNvSpPr txBox="1"/>
          <p:nvPr/>
        </p:nvSpPr>
        <p:spPr>
          <a:xfrm>
            <a:off x="9198864" y="1600200"/>
            <a:ext cx="566928" cy="56692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8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9198864" y="2377440"/>
            <a:ext cx="2377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收尾</a:t>
            </a:r>
            <a:endParaRPr lang="en-US" sz="16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300" dirty="0">
                <a:solidFill>
                  <a:schemeClr val="accent1"/>
                </a:solidFill>
              </a:rPr>
              <a:t>Finish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9198864" y="3291840"/>
            <a:ext cx="23774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涂保湿乳、物理防晒，并向客人讲解居家护理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accent6"/>
                </a:solidFill>
              </a:rPr>
              <a:t>Moisturiser, broad‑spectrum (physical) sunscreen, then brief the client on home care</a:t>
            </a:r>
            <a:endParaRPr lang="en-US" sz="1400" dirty="0"/>
          </a:p>
        </p:txBody>
      </p:sp>
      <p:sp>
        <p:nvSpPr>
          <p:cNvPr id="21" name="tip bar"/>
          <p:cNvSpPr/>
          <p:nvPr/>
        </p:nvSpPr>
        <p:spPr>
          <a:xfrm>
            <a:off x="457200" y="5623560"/>
            <a:ext cx="11247120" cy="640080"/>
          </a:xfrm>
          <a:prstGeom prst="roundRect">
            <a:avLst>
              <a:gd name="adj" fmla="val 17143"/>
            </a:avLst>
          </a:prstGeom>
          <a:solidFill>
            <a:srgbClr val="FBF1D6"/>
          </a:solidFill>
          <a:ln/>
        </p:spPr>
      </p:sp>
      <p:sp>
        <p:nvSpPr>
          <p:cNvPr id="22" name="tip icon bg"/>
          <p:cNvSpPr/>
          <p:nvPr/>
        </p:nvSpPr>
        <p:spPr>
          <a:xfrm>
            <a:off x="640080" y="5715000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23" name="tip icon" descr="tip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8952" y="5833872"/>
            <a:ext cx="219456" cy="219456"/>
          </a:xfrm>
          <a:prstGeom prst="rect">
            <a:avLst/>
          </a:prstGeom>
        </p:spPr>
      </p:pic>
      <p:sp>
        <p:nvSpPr>
          <p:cNvPr id="24" name="Text 21"/>
          <p:cNvSpPr txBox="1"/>
          <p:nvPr/>
        </p:nvSpPr>
        <p:spPr>
          <a:xfrm>
            <a:off x="1280160" y="5623560"/>
            <a:ext cx="10241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</a:rPr>
              <a:t>操作提示：全程不要来回大力反复涂刷，容易过度刺激皮肤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Tip: never scrub or brush back and forth with force — it over‑irritates the skin.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65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11247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疗程周期与维护</a:t>
            </a:r>
            <a:endParaRPr lang="en-US" sz="3000" dirty="0"/>
          </a:p>
          <a:p>
            <a:pPr algn="l" indent="0" marL="0">
              <a:buNone/>
            </a:pPr>
            <a:r>
              <a:rPr lang="en-US" sz="160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Treatment Cycle &amp; Maintenance</a:t>
            </a:r>
            <a:endParaRPr lang="en-US" sz="3000" dirty="0"/>
          </a:p>
        </p:txBody>
      </p:sp>
      <p:sp>
        <p:nvSpPr>
          <p:cNvPr id="3" name="stat card 1"/>
          <p:cNvSpPr/>
          <p:nvPr/>
        </p:nvSpPr>
        <p:spPr>
          <a:xfrm>
            <a:off x="457200" y="1417320"/>
            <a:ext cx="3566160" cy="1280160"/>
          </a:xfrm>
          <a:prstGeom prst="roundRect">
            <a:avLst>
              <a:gd name="adj" fmla="val 8571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94360" y="1417320"/>
            <a:ext cx="1371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4‑6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2011680" y="1463040"/>
            <a:ext cx="1920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次为1个完整疗程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accent6"/>
                </a:solidFill>
              </a:rPr>
              <a:t>sessions per full course</a:t>
            </a:r>
            <a:endParaRPr lang="en-US" sz="1400" dirty="0"/>
          </a:p>
        </p:txBody>
      </p:sp>
      <p:sp>
        <p:nvSpPr>
          <p:cNvPr id="6" name="stat card 2"/>
          <p:cNvSpPr/>
          <p:nvPr/>
        </p:nvSpPr>
        <p:spPr>
          <a:xfrm>
            <a:off x="4297680" y="1417320"/>
            <a:ext cx="3566160" cy="1280160"/>
          </a:xfrm>
          <a:prstGeom prst="roundRect">
            <a:avLst>
              <a:gd name="adj" fmla="val 8571"/>
            </a:avLst>
          </a:prstGeom>
          <a:solidFill>
            <a:schemeClr val="bg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4434840" y="1417320"/>
            <a:ext cx="1371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2‑3</a:t>
            </a:r>
            <a:endParaRPr lang="en-US" sz="3600" dirty="0"/>
          </a:p>
        </p:txBody>
      </p:sp>
      <p:sp>
        <p:nvSpPr>
          <p:cNvPr id="8" name="Text 6"/>
          <p:cNvSpPr txBox="1"/>
          <p:nvPr/>
        </p:nvSpPr>
        <p:spPr>
          <a:xfrm>
            <a:off x="5852160" y="1463040"/>
            <a:ext cx="1920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周操作1次（新加坡湿热肌建议2周）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accent6"/>
                </a:solidFill>
              </a:rPr>
              <a:t>weeks between sessions (2 weeks preferred for Singapore humid skin)</a:t>
            </a:r>
            <a:endParaRPr lang="en-US" sz="1400" dirty="0"/>
          </a:p>
        </p:txBody>
      </p:sp>
      <p:sp>
        <p:nvSpPr>
          <p:cNvPr id="9" name="stat card 3"/>
          <p:cNvSpPr/>
          <p:nvPr/>
        </p:nvSpPr>
        <p:spPr>
          <a:xfrm>
            <a:off x="8138160" y="1417320"/>
            <a:ext cx="3566160" cy="1280160"/>
          </a:xfrm>
          <a:prstGeom prst="roundRect">
            <a:avLst>
              <a:gd name="adj" fmla="val 8571"/>
            </a:avLst>
          </a:prstGeom>
          <a:solidFill>
            <a:schemeClr val="bg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275320" y="1417320"/>
            <a:ext cx="1371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1‑2</a:t>
            </a:r>
            <a:endParaRPr lang="en-US" sz="3600" dirty="0"/>
          </a:p>
        </p:txBody>
      </p:sp>
      <p:sp>
        <p:nvSpPr>
          <p:cNvPr id="11" name="Text 9"/>
          <p:cNvSpPr txBox="1"/>
          <p:nvPr/>
        </p:nvSpPr>
        <p:spPr>
          <a:xfrm>
            <a:off x="9692640" y="1463040"/>
            <a:ext cx="1920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周：单次即时提亮维持时间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accent6"/>
                </a:solidFill>
              </a:rPr>
              <a:t>weeks: how long the instant glow lasts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2834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700" b="1" dirty="0">
                <a:solidFill>
                  <a:schemeClr val="tx2"/>
                </a:solidFill>
              </a:rPr>
              <a:t>效果变化  Progress Timeline</a:t>
            </a:r>
            <a:endParaRPr lang="en-US" sz="1700" dirty="0"/>
          </a:p>
        </p:txBody>
      </p:sp>
      <p:sp>
        <p:nvSpPr>
          <p:cNvPr id="13" name="timeline card 1"/>
          <p:cNvSpPr/>
          <p:nvPr/>
        </p:nvSpPr>
        <p:spPr>
          <a:xfrm>
            <a:off x="457200" y="3246120"/>
            <a:ext cx="356616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9050">
            <a:solidFill>
              <a:schemeClr val="accent4"/>
            </a:solidFill>
            <a:prstDash val="solid"/>
          </a:ln>
        </p:spPr>
      </p:sp>
      <p:sp>
        <p:nvSpPr>
          <p:cNvPr id="14" name="phase pill 1"/>
          <p:cNvSpPr txBox="1"/>
          <p:nvPr/>
        </p:nvSpPr>
        <p:spPr>
          <a:xfrm>
            <a:off x="640080" y="3364992"/>
            <a:ext cx="2377440" cy="347472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第1‑2次 Sessions 1‑2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640080" y="3794760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出油减少，皮肤透亮，黑头改善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accent6"/>
                </a:solidFill>
              </a:rPr>
              <a:t>Less oily, brighter complexion, improved blackheads</a:t>
            </a:r>
            <a:endParaRPr lang="en-US" sz="1400" dirty="0"/>
          </a:p>
        </p:txBody>
      </p:sp>
      <p:sp>
        <p:nvSpPr>
          <p:cNvPr id="16" name="chevron 1"/>
          <p:cNvSpPr/>
          <p:nvPr/>
        </p:nvSpPr>
        <p:spPr>
          <a:xfrm>
            <a:off x="4069080" y="3840480"/>
            <a:ext cx="182880" cy="365760"/>
          </a:xfrm>
          <a:prstGeom prst="chevron">
            <a:avLst/>
          </a:prstGeom>
          <a:solidFill>
            <a:schemeClr val="accent4"/>
          </a:solidFill>
          <a:ln/>
        </p:spPr>
      </p:sp>
      <p:sp>
        <p:nvSpPr>
          <p:cNvPr id="17" name="timeline card 2"/>
          <p:cNvSpPr/>
          <p:nvPr/>
        </p:nvSpPr>
        <p:spPr>
          <a:xfrm>
            <a:off x="4297680" y="3246120"/>
            <a:ext cx="356616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9050">
            <a:solidFill>
              <a:schemeClr val="accent4"/>
            </a:solidFill>
            <a:prstDash val="solid"/>
          </a:ln>
        </p:spPr>
      </p:sp>
      <p:sp>
        <p:nvSpPr>
          <p:cNvPr id="18" name="phase pill 2"/>
          <p:cNvSpPr txBox="1"/>
          <p:nvPr/>
        </p:nvSpPr>
        <p:spPr>
          <a:xfrm>
            <a:off x="4480560" y="3364992"/>
            <a:ext cx="2377440" cy="347472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第3‑4次 Sessions 3‑4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4480560" y="3794760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毛孔细腻，痘印淡化，屏障逐步稳定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accent6"/>
                </a:solidFill>
              </a:rPr>
              <a:t>Finer pores, faded acne marks, barrier gradually stabilises</a:t>
            </a:r>
            <a:endParaRPr lang="en-US" sz="1400" dirty="0"/>
          </a:p>
        </p:txBody>
      </p:sp>
      <p:sp>
        <p:nvSpPr>
          <p:cNvPr id="20" name="chevron 2"/>
          <p:cNvSpPr/>
          <p:nvPr/>
        </p:nvSpPr>
        <p:spPr>
          <a:xfrm>
            <a:off x="7909560" y="3840480"/>
            <a:ext cx="182880" cy="365760"/>
          </a:xfrm>
          <a:prstGeom prst="chevron">
            <a:avLst/>
          </a:prstGeom>
          <a:solidFill>
            <a:schemeClr val="accent4"/>
          </a:solidFill>
          <a:ln/>
        </p:spPr>
      </p:sp>
      <p:sp>
        <p:nvSpPr>
          <p:cNvPr id="21" name="timeline card 3"/>
          <p:cNvSpPr/>
          <p:nvPr/>
        </p:nvSpPr>
        <p:spPr>
          <a:xfrm>
            <a:off x="8138160" y="3246120"/>
            <a:ext cx="356616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9050">
            <a:solidFill>
              <a:schemeClr val="accent4"/>
            </a:solidFill>
            <a:prstDash val="solid"/>
          </a:ln>
        </p:spPr>
      </p:sp>
      <p:sp>
        <p:nvSpPr>
          <p:cNvPr id="22" name="phase pill 3"/>
          <p:cNvSpPr txBox="1"/>
          <p:nvPr/>
        </p:nvSpPr>
        <p:spPr>
          <a:xfrm>
            <a:off x="8321040" y="3364992"/>
            <a:ext cx="2377440" cy="347472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第5‑6次 Sessions 5‑6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8321040" y="3794760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肤质整体改善，肤色均匀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accent6"/>
                </a:solidFill>
              </a:rPr>
              <a:t>Overall refined texture, even skin tone</a:t>
            </a:r>
            <a:endParaRPr lang="en-US" sz="1400" dirty="0"/>
          </a:p>
        </p:txBody>
      </p:sp>
      <p:sp>
        <p:nvSpPr>
          <p:cNvPr id="24" name="interval note"/>
          <p:cNvSpPr/>
          <p:nvPr/>
        </p:nvSpPr>
        <p:spPr>
          <a:xfrm>
            <a:off x="457200" y="4892040"/>
            <a:ext cx="11247120" cy="548640"/>
          </a:xfrm>
          <a:prstGeom prst="roundRect">
            <a:avLst>
              <a:gd name="adj" fmla="val 20000"/>
            </a:avLst>
          </a:prstGeom>
          <a:solidFill>
            <a:srgbClr val="FBF1D6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40080" y="489204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说明：品牌临床研究采用每周1次、共3‑5次；本店标准方案为每2‑3周1次，请按培训师指引操作。  </a:t>
            </a:r>
            <a:pPr indent="0" marL="0">
              <a:buNone/>
            </a:pPr>
            <a:r>
              <a:rPr lang="en-US" sz="1200" dirty="0">
                <a:solidFill>
                  <a:srgbClr val="55665C"/>
                </a:solidFill>
              </a:rPr>
              <a:t>Brand studies used weekly sessions (3–5); our salon protocol is every 2–3 weeks.</a:t>
            </a:r>
            <a:endParaRPr lang="en-US" sz="1200" dirty="0"/>
          </a:p>
        </p:txBody>
      </p:sp>
      <p:sp>
        <p:nvSpPr>
          <p:cNvPr id="26" name="maintenance banner"/>
          <p:cNvSpPr/>
          <p:nvPr/>
        </p:nvSpPr>
        <p:spPr>
          <a:xfrm>
            <a:off x="457200" y="5577840"/>
            <a:ext cx="11247120" cy="731520"/>
          </a:xfrm>
          <a:prstGeom prst="roundRect">
            <a:avLst>
              <a:gd name="adj" fmla="val 15000"/>
            </a:avLst>
          </a:prstGeom>
          <a:solidFill>
            <a:schemeClr val="tx2"/>
          </a:solidFill>
          <a:ln/>
        </p:spPr>
      </p:sp>
      <p:sp>
        <p:nvSpPr>
          <p:cNvPr id="27" name="maintenance icon bg"/>
          <p:cNvSpPr/>
          <p:nvPr/>
        </p:nvSpPr>
        <p:spPr>
          <a:xfrm>
            <a:off x="731520" y="5705856"/>
            <a:ext cx="475488" cy="475488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28" name="maintenance icon" descr="maintenance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5147" y="5829483"/>
            <a:ext cx="228234" cy="228234"/>
          </a:xfrm>
          <a:prstGeom prst="rect">
            <a:avLst/>
          </a:prstGeom>
        </p:spPr>
      </p:pic>
      <p:sp>
        <p:nvSpPr>
          <p:cNvPr id="29" name="Text 26"/>
          <p:cNvSpPr txBox="1"/>
          <p:nvPr/>
        </p:nvSpPr>
        <p:spPr>
          <a:xfrm>
            <a:off x="1463040" y="557784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400" b="1" dirty="0">
                <a:solidFill>
                  <a:schemeClr val="bg1"/>
                </a:solidFill>
              </a:rPr>
              <a:t>保养维持：疗程结束后每4‑6周1次，长期维稳，防止油脂、毛孔问题复发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200" dirty="0">
                <a:solidFill>
                  <a:srgbClr val="CFE0D2"/>
                </a:solidFill>
              </a:rPr>
              <a:t>Maintenance: once every 4–6 weeks after the full course to keep skin stable and prevent oil &amp; pore problems returning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65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11247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术前禁忌症｜绝对不能操作的客人</a:t>
            </a:r>
            <a:endParaRPr lang="en-US" sz="3000" dirty="0"/>
          </a:p>
          <a:p>
            <a:pPr algn="l" indent="0" marL="0">
              <a:buNone/>
            </a:pPr>
            <a:r>
              <a:rPr lang="en-US" sz="160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Pre‑treatment Contraindications · clients we must NOT treat</a:t>
            </a:r>
            <a:endParaRPr lang="en-US" sz="3000" dirty="0"/>
          </a:p>
        </p:txBody>
      </p:sp>
      <p:sp>
        <p:nvSpPr>
          <p:cNvPr id="3" name="contraindication card 1"/>
          <p:cNvSpPr/>
          <p:nvPr/>
        </p:nvSpPr>
        <p:spPr>
          <a:xfrm>
            <a:off x="457200" y="1417320"/>
            <a:ext cx="5486400" cy="1143000"/>
          </a:xfrm>
          <a:prstGeom prst="roundRect">
            <a:avLst>
              <a:gd name="adj" fmla="val 9600"/>
            </a:avLst>
          </a:prstGeom>
          <a:solidFill>
            <a:srgbClr val="FCEDE8"/>
          </a:solidFill>
          <a:ln/>
        </p:spPr>
      </p:sp>
      <p:sp>
        <p:nvSpPr>
          <p:cNvPr id="4" name="no icon 1 bg"/>
          <p:cNvSpPr/>
          <p:nvPr/>
        </p:nvSpPr>
        <p:spPr>
          <a:xfrm>
            <a:off x="640080" y="1719072"/>
            <a:ext cx="530352" cy="530352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5" name="no icon 1" descr="no icon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972" y="1856964"/>
            <a:ext cx="254569" cy="254569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71600" y="1508760"/>
            <a:ext cx="4434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面部有伤口、破皮、疱疹、严重急性皮炎、大面积湿疹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accent6"/>
                </a:solidFill>
              </a:rPr>
              <a:t>Open wounds, cold sores, severe active dermatitis or eczema on the face</a:t>
            </a:r>
            <a:endParaRPr lang="en-US" sz="1400" dirty="0"/>
          </a:p>
        </p:txBody>
      </p:sp>
      <p:sp>
        <p:nvSpPr>
          <p:cNvPr id="7" name="contraindication card 2"/>
          <p:cNvSpPr/>
          <p:nvPr/>
        </p:nvSpPr>
        <p:spPr>
          <a:xfrm>
            <a:off x="6217920" y="1417320"/>
            <a:ext cx="5486400" cy="1143000"/>
          </a:xfrm>
          <a:prstGeom prst="roundRect">
            <a:avLst>
              <a:gd name="adj" fmla="val 9600"/>
            </a:avLst>
          </a:prstGeom>
          <a:solidFill>
            <a:srgbClr val="FCEDE8"/>
          </a:solidFill>
          <a:ln/>
        </p:spPr>
      </p:sp>
      <p:sp>
        <p:nvSpPr>
          <p:cNvPr id="8" name="no icon 2 bg"/>
          <p:cNvSpPr/>
          <p:nvPr/>
        </p:nvSpPr>
        <p:spPr>
          <a:xfrm>
            <a:off x="6400800" y="1719072"/>
            <a:ext cx="530352" cy="530352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9" name="no icon 2" descr="no icon 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8692" y="1856964"/>
            <a:ext cx="254569" cy="254569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7132320" y="1508760"/>
            <a:ext cx="4434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近2周做过热玛吉、皮秒、点阵激光、微针，皮肤屏障破损期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accent6"/>
                </a:solidFill>
              </a:rPr>
              <a:t>Within 2 weeks of heat (RF) treatment, pico laser, fractional laser or microneedling</a:t>
            </a:r>
            <a:endParaRPr lang="en-US" sz="1400" dirty="0"/>
          </a:p>
        </p:txBody>
      </p:sp>
      <p:sp>
        <p:nvSpPr>
          <p:cNvPr id="11" name="contraindication card 3"/>
          <p:cNvSpPr/>
          <p:nvPr/>
        </p:nvSpPr>
        <p:spPr>
          <a:xfrm>
            <a:off x="457200" y="2697480"/>
            <a:ext cx="5486400" cy="1143000"/>
          </a:xfrm>
          <a:prstGeom prst="roundRect">
            <a:avLst>
              <a:gd name="adj" fmla="val 9600"/>
            </a:avLst>
          </a:prstGeom>
          <a:solidFill>
            <a:srgbClr val="FCEDE8"/>
          </a:solidFill>
          <a:ln/>
        </p:spPr>
      </p:sp>
      <p:sp>
        <p:nvSpPr>
          <p:cNvPr id="12" name="no icon 3 bg"/>
          <p:cNvSpPr/>
          <p:nvPr/>
        </p:nvSpPr>
        <p:spPr>
          <a:xfrm>
            <a:off x="640080" y="2999232"/>
            <a:ext cx="530352" cy="530352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3" name="no icon 3" descr="no icon 3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972" y="3137124"/>
            <a:ext cx="254569" cy="254569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371600" y="2788920"/>
            <a:ext cx="4434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孕期、哺乳期女性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accent6"/>
                </a:solidFill>
              </a:rPr>
              <a:t>Pregnant &amp; breastfeeding clients</a:t>
            </a:r>
            <a:endParaRPr lang="en-US" sz="1400" dirty="0"/>
          </a:p>
        </p:txBody>
      </p:sp>
      <p:sp>
        <p:nvSpPr>
          <p:cNvPr id="15" name="contraindication card 4"/>
          <p:cNvSpPr/>
          <p:nvPr/>
        </p:nvSpPr>
        <p:spPr>
          <a:xfrm>
            <a:off x="6217920" y="2697480"/>
            <a:ext cx="5486400" cy="1143000"/>
          </a:xfrm>
          <a:prstGeom prst="roundRect">
            <a:avLst>
              <a:gd name="adj" fmla="val 9600"/>
            </a:avLst>
          </a:prstGeom>
          <a:solidFill>
            <a:srgbClr val="FCEDE8"/>
          </a:solidFill>
          <a:ln/>
        </p:spPr>
      </p:sp>
      <p:sp>
        <p:nvSpPr>
          <p:cNvPr id="16" name="no icon 4 bg"/>
          <p:cNvSpPr/>
          <p:nvPr/>
        </p:nvSpPr>
        <p:spPr>
          <a:xfrm>
            <a:off x="6400800" y="2999232"/>
            <a:ext cx="530352" cy="530352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7" name="no icon 4" descr="no icon 4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38692" y="3137124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7132320" y="2788920"/>
            <a:ext cx="4434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严重玫瑰痤疮急性爆发期、皮肤持续红肿刺痛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accent6"/>
                </a:solidFill>
              </a:rPr>
              <a:t>Severe active rosacea with constant redness &amp; stinging</a:t>
            </a:r>
            <a:endParaRPr lang="en-US" sz="1400" dirty="0"/>
          </a:p>
        </p:txBody>
      </p:sp>
      <p:sp>
        <p:nvSpPr>
          <p:cNvPr id="19" name="contraindication card 5"/>
          <p:cNvSpPr/>
          <p:nvPr/>
        </p:nvSpPr>
        <p:spPr>
          <a:xfrm>
            <a:off x="457200" y="3977640"/>
            <a:ext cx="5486400" cy="1143000"/>
          </a:xfrm>
          <a:prstGeom prst="roundRect">
            <a:avLst>
              <a:gd name="adj" fmla="val 9600"/>
            </a:avLst>
          </a:prstGeom>
          <a:solidFill>
            <a:srgbClr val="FCEDE8"/>
          </a:solidFill>
          <a:ln/>
        </p:spPr>
      </p:sp>
      <p:sp>
        <p:nvSpPr>
          <p:cNvPr id="20" name="no icon 5 bg"/>
          <p:cNvSpPr/>
          <p:nvPr/>
        </p:nvSpPr>
        <p:spPr>
          <a:xfrm>
            <a:off x="640080" y="4279392"/>
            <a:ext cx="530352" cy="530352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21" name="no icon 5" descr="no icon 5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972" y="4417284"/>
            <a:ext cx="254569" cy="254569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1371600" y="4069080"/>
            <a:ext cx="4434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近期大量暴晒、晒伤脱皮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accent6"/>
                </a:solidFill>
              </a:rPr>
              <a:t>Recent heavy sun exposure, sunburn &amp; peeling skin</a:t>
            </a:r>
            <a:endParaRPr lang="en-US" sz="1400" dirty="0"/>
          </a:p>
        </p:txBody>
      </p:sp>
      <p:sp>
        <p:nvSpPr>
          <p:cNvPr id="23" name="contraindication card 6"/>
          <p:cNvSpPr/>
          <p:nvPr/>
        </p:nvSpPr>
        <p:spPr>
          <a:xfrm>
            <a:off x="6217920" y="3977640"/>
            <a:ext cx="5486400" cy="1143000"/>
          </a:xfrm>
          <a:prstGeom prst="roundRect">
            <a:avLst>
              <a:gd name="adj" fmla="val 9600"/>
            </a:avLst>
          </a:prstGeom>
          <a:solidFill>
            <a:srgbClr val="FCEDE8"/>
          </a:solidFill>
          <a:ln/>
        </p:spPr>
      </p:sp>
      <p:sp>
        <p:nvSpPr>
          <p:cNvPr id="24" name="no icon 6 bg"/>
          <p:cNvSpPr/>
          <p:nvPr/>
        </p:nvSpPr>
        <p:spPr>
          <a:xfrm>
            <a:off x="6400800" y="4279392"/>
            <a:ext cx="530352" cy="530352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25" name="no icon 6" descr="no icon 6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38692" y="4417284"/>
            <a:ext cx="254569" cy="254569"/>
          </a:xfrm>
          <a:prstGeom prst="rect">
            <a:avLst/>
          </a:prstGeom>
        </p:spPr>
      </p:pic>
      <p:sp>
        <p:nvSpPr>
          <p:cNvPr id="26" name="Text 18"/>
          <p:cNvSpPr txBox="1"/>
          <p:nvPr/>
        </p:nvSpPr>
        <p:spPr>
          <a:xfrm>
            <a:off x="7132320" y="4069080"/>
            <a:ext cx="4434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对水杨酸、酸类护肤品严重过敏体质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accent6"/>
                </a:solidFill>
              </a:rPr>
              <a:t>Severe known allergy to salicylic acid / acid skincare</a:t>
            </a:r>
            <a:endParaRPr lang="en-US" sz="1400" dirty="0"/>
          </a:p>
        </p:txBody>
      </p:sp>
      <p:sp>
        <p:nvSpPr>
          <p:cNvPr id="27" name="patch test banner"/>
          <p:cNvSpPr/>
          <p:nvPr/>
        </p:nvSpPr>
        <p:spPr>
          <a:xfrm>
            <a:off x="457200" y="5349240"/>
            <a:ext cx="11247120" cy="868680"/>
          </a:xfrm>
          <a:prstGeom prst="roundRect">
            <a:avLst>
              <a:gd name="adj" fmla="val 12632"/>
            </a:avLst>
          </a:prstGeom>
          <a:solidFill>
            <a:srgbClr val="FBF1D6"/>
          </a:solidFill>
          <a:ln/>
        </p:spPr>
      </p:sp>
      <p:sp>
        <p:nvSpPr>
          <p:cNvPr id="28" name="caution icon bg"/>
          <p:cNvSpPr/>
          <p:nvPr/>
        </p:nvSpPr>
        <p:spPr>
          <a:xfrm>
            <a:off x="685800" y="5550408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29" name="caution icon" descr="caution ico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4672" y="5669280"/>
            <a:ext cx="219456" cy="219456"/>
          </a:xfrm>
          <a:prstGeom prst="rect">
            <a:avLst/>
          </a:prstGeom>
        </p:spPr>
      </p:pic>
      <p:sp>
        <p:nvSpPr>
          <p:cNvPr id="30" name="Text 21"/>
          <p:cNvSpPr txBox="1"/>
          <p:nvPr/>
        </p:nvSpPr>
        <p:spPr>
          <a:xfrm>
            <a:off x="1371600" y="5349240"/>
            <a:ext cx="10058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000000"/>
                </a:solidFill>
              </a:rPr>
              <a:t>谨慎操作：重度敏感肌请先做耳后皮试，再做全脸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chemeClr val="accent6"/>
                </a:solidFill>
              </a:rPr>
              <a:t>Caution: for extremely sensitive skin, do a patch test (behind the ear) before full‑face treatment.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65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11247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术后居家护理指南</a:t>
            </a:r>
            <a:endParaRPr lang="en-US" sz="3000" dirty="0"/>
          </a:p>
          <a:p>
            <a:pPr algn="l" indent="0" marL="0">
              <a:buNone/>
            </a:pPr>
            <a:r>
              <a:rPr lang="en-US" sz="160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After‑care Home Instructions · give to every client</a:t>
            </a:r>
            <a:endParaRPr lang="en-US" sz="3000" dirty="0"/>
          </a:p>
        </p:txBody>
      </p:sp>
      <p:sp>
        <p:nvSpPr>
          <p:cNvPr id="3" name="key rule banner"/>
          <p:cNvSpPr/>
          <p:nvPr/>
        </p:nvSpPr>
        <p:spPr>
          <a:xfrm>
            <a:off x="457200" y="1417320"/>
            <a:ext cx="11247120" cy="777240"/>
          </a:xfrm>
          <a:prstGeom prst="roundRect">
            <a:avLst>
              <a:gd name="adj" fmla="val 14118"/>
            </a:avLst>
          </a:prstGeom>
          <a:solidFill>
            <a:schemeClr val="tx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141732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500" b="1" dirty="0">
                <a:solidFill>
                  <a:schemeClr val="bg1"/>
                </a:solidFill>
              </a:rPr>
              <a:t>7天核心守则：充分保湿 + 严格防晒！新加坡紫外线强，防晒重中之重</a:t>
            </a:r>
            <a:endParaRPr lang="en-US" sz="15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200" dirty="0">
                <a:solidFill>
                  <a:srgbClr val="CFE0D2"/>
                </a:solidFill>
              </a:rPr>
              <a:t>Key rule for the first 7 days: heavy hydration + strict sun protection (strong UV in Singapore)</a:t>
            </a:r>
            <a:endParaRPr lang="en-US" sz="1500" dirty="0"/>
          </a:p>
        </p:txBody>
      </p:sp>
      <p:sp>
        <p:nvSpPr>
          <p:cNvPr id="5" name="aftercare row 1"/>
          <p:cNvSpPr/>
          <p:nvPr/>
        </p:nvSpPr>
        <p:spPr>
          <a:xfrm>
            <a:off x="457200" y="2377440"/>
            <a:ext cx="7223760" cy="658368"/>
          </a:xfrm>
          <a:prstGeom prst="roundRect">
            <a:avLst>
              <a:gd name="adj" fmla="val 16667"/>
            </a:avLst>
          </a:prstGeom>
          <a:solidFill>
            <a:schemeClr val="bg2"/>
          </a:solidFill>
          <a:ln/>
        </p:spPr>
      </p:sp>
      <p:sp>
        <p:nvSpPr>
          <p:cNvPr id="6" name="num 1"/>
          <p:cNvSpPr txBox="1"/>
          <p:nvPr/>
        </p:nvSpPr>
        <p:spPr>
          <a:xfrm>
            <a:off x="594360" y="2468880"/>
            <a:ext cx="475488" cy="47548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2377440"/>
            <a:ext cx="6355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治疗当天：不要热水洗脸、蒸桑拿、剧烈大量出汗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Day of treatment: no hot water, sauna or heavy sweating</a:t>
            </a:r>
            <a:endParaRPr lang="en-US" sz="1400" dirty="0"/>
          </a:p>
        </p:txBody>
      </p:sp>
      <p:sp>
        <p:nvSpPr>
          <p:cNvPr id="8" name="aftercare row 2"/>
          <p:cNvSpPr/>
          <p:nvPr/>
        </p:nvSpPr>
        <p:spPr>
          <a:xfrm>
            <a:off x="457200" y="3145536"/>
            <a:ext cx="7223760" cy="658368"/>
          </a:xfrm>
          <a:prstGeom prst="roundRect">
            <a:avLst>
              <a:gd name="adj" fmla="val 16667"/>
            </a:avLst>
          </a:prstGeom>
          <a:solidFill>
            <a:schemeClr val="bg2"/>
          </a:solidFill>
          <a:ln/>
        </p:spPr>
      </p:sp>
      <p:sp>
        <p:nvSpPr>
          <p:cNvPr id="9" name="num 2"/>
          <p:cNvSpPr txBox="1"/>
          <p:nvPr/>
        </p:nvSpPr>
        <p:spPr>
          <a:xfrm>
            <a:off x="594360" y="3236976"/>
            <a:ext cx="475488" cy="47548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3145536"/>
            <a:ext cx="6355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3‑7天内：停用A醇、高浓度维C、果酸、去角质磨砂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Days 3–7: stop retinol, high‑dose vitamin C, acid exfoliants &amp; scrubs</a:t>
            </a:r>
            <a:endParaRPr lang="en-US" sz="1400" dirty="0"/>
          </a:p>
        </p:txBody>
      </p:sp>
      <p:sp>
        <p:nvSpPr>
          <p:cNvPr id="11" name="aftercare row 3"/>
          <p:cNvSpPr/>
          <p:nvPr/>
        </p:nvSpPr>
        <p:spPr>
          <a:xfrm>
            <a:off x="457200" y="3913632"/>
            <a:ext cx="7223760" cy="658368"/>
          </a:xfrm>
          <a:prstGeom prst="roundRect">
            <a:avLst>
              <a:gd name="adj" fmla="val 16667"/>
            </a:avLst>
          </a:prstGeom>
          <a:solidFill>
            <a:schemeClr val="bg2"/>
          </a:solidFill>
          <a:ln/>
        </p:spPr>
      </p:sp>
      <p:sp>
        <p:nvSpPr>
          <p:cNvPr id="12" name="num 3"/>
          <p:cNvSpPr txBox="1"/>
          <p:nvPr/>
        </p:nvSpPr>
        <p:spPr>
          <a:xfrm>
            <a:off x="594360" y="4005072"/>
            <a:ext cx="475488" cy="47548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234440" y="3913632"/>
            <a:ext cx="6355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早晚使用修护精华、面霜，精简护肤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Keep it simple: repair serum &amp; moisturiser, morning and night</a:t>
            </a:r>
            <a:endParaRPr lang="en-US" sz="1400" dirty="0"/>
          </a:p>
        </p:txBody>
      </p:sp>
      <p:sp>
        <p:nvSpPr>
          <p:cNvPr id="14" name="aftercare row 4"/>
          <p:cNvSpPr/>
          <p:nvPr/>
        </p:nvSpPr>
        <p:spPr>
          <a:xfrm>
            <a:off x="457200" y="4681728"/>
            <a:ext cx="7223760" cy="658368"/>
          </a:xfrm>
          <a:prstGeom prst="roundRect">
            <a:avLst>
              <a:gd name="adj" fmla="val 16667"/>
            </a:avLst>
          </a:prstGeom>
          <a:solidFill>
            <a:schemeClr val="bg2"/>
          </a:solidFill>
          <a:ln/>
        </p:spPr>
      </p:sp>
      <p:sp>
        <p:nvSpPr>
          <p:cNvPr id="15" name="num 4"/>
          <p:cNvSpPr txBox="1"/>
          <p:nvPr/>
        </p:nvSpPr>
        <p:spPr>
          <a:xfrm>
            <a:off x="594360" y="4773168"/>
            <a:ext cx="475488" cy="47548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234440" y="4681728"/>
            <a:ext cx="6355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白天必须涂 SPF50+ 防晒霜，并配合帽子、遮阳伞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Daily SPF50+ sunscreen, plus a hat &amp; umbrella outdoors</a:t>
            </a:r>
            <a:endParaRPr lang="en-US" sz="1400" dirty="0"/>
          </a:p>
        </p:txBody>
      </p:sp>
      <p:sp>
        <p:nvSpPr>
          <p:cNvPr id="17" name="aftercare row 5"/>
          <p:cNvSpPr/>
          <p:nvPr/>
        </p:nvSpPr>
        <p:spPr>
          <a:xfrm>
            <a:off x="457200" y="5449824"/>
            <a:ext cx="7223760" cy="658368"/>
          </a:xfrm>
          <a:prstGeom prst="roundRect">
            <a:avLst>
              <a:gd name="adj" fmla="val 16667"/>
            </a:avLst>
          </a:prstGeom>
          <a:solidFill>
            <a:schemeClr val="bg2"/>
          </a:solidFill>
          <a:ln/>
        </p:spPr>
      </p:sp>
      <p:sp>
        <p:nvSpPr>
          <p:cNvPr id="18" name="num 5"/>
          <p:cNvSpPr txBox="1"/>
          <p:nvPr/>
        </p:nvSpPr>
        <p:spPr>
          <a:xfrm>
            <a:off x="594360" y="5541264"/>
            <a:ext cx="475488" cy="47548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1234440" y="5449824"/>
            <a:ext cx="6355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轻微紧绷、微微泛红属正常，2‑3天自行消退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Mild tightness &amp; a slight pink flush are normal — fades in 2–3 days</a:t>
            </a:r>
            <a:endParaRPr lang="en-US" sz="1400" dirty="0"/>
          </a:p>
        </p:txBody>
      </p:sp>
      <p:sp>
        <p:nvSpPr>
          <p:cNvPr id="20" name="avoid panel"/>
          <p:cNvSpPr/>
          <p:nvPr/>
        </p:nvSpPr>
        <p:spPr>
          <a:xfrm>
            <a:off x="7955280" y="2377440"/>
            <a:ext cx="3749040" cy="3730752"/>
          </a:xfrm>
          <a:prstGeom prst="roundRect">
            <a:avLst>
              <a:gd name="adj" fmla="val 2941"/>
            </a:avLst>
          </a:prstGeom>
          <a:solidFill>
            <a:srgbClr val="FCEDE8"/>
          </a:solidFill>
          <a:ln/>
        </p:spPr>
      </p:sp>
      <p:sp>
        <p:nvSpPr>
          <p:cNvPr id="21" name="avoid icon bg"/>
          <p:cNvSpPr/>
          <p:nvPr/>
        </p:nvSpPr>
        <p:spPr>
          <a:xfrm>
            <a:off x="8183880" y="2560320"/>
            <a:ext cx="548640" cy="54864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22" name="avoid icon" descr="avoid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26526" y="2702966"/>
            <a:ext cx="263347" cy="263347"/>
          </a:xfrm>
          <a:prstGeom prst="rect">
            <a:avLst/>
          </a:prstGeom>
        </p:spPr>
      </p:pic>
      <p:sp>
        <p:nvSpPr>
          <p:cNvPr id="23" name="Text 20"/>
          <p:cNvSpPr txBox="1"/>
          <p:nvPr/>
        </p:nvSpPr>
        <p:spPr>
          <a:xfrm>
            <a:off x="8915400" y="256032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禁止</a:t>
            </a:r>
            <a:endParaRPr lang="en-US" sz="18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Avoid</a:t>
            </a:r>
            <a:endParaRPr lang="en-US" sz="1800" dirty="0"/>
          </a:p>
        </p:txBody>
      </p:sp>
      <p:sp>
        <p:nvSpPr>
          <p:cNvPr id="24" name="Text 21"/>
          <p:cNvSpPr txBox="1"/>
          <p:nvPr/>
        </p:nvSpPr>
        <p:spPr>
          <a:xfrm>
            <a:off x="8229600" y="3337560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去海边暴晒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Beach sun‑tanning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8229600" y="4023360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游泳（海水刺激）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Swimming in seawater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8229600" y="4709160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热敷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Hot compress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8229600" y="5394960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频繁敷功效面膜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Frequent intensive masks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65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11247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异常状况与应急处理</a:t>
            </a:r>
            <a:endParaRPr lang="en-US" sz="3000" dirty="0"/>
          </a:p>
          <a:p>
            <a:pPr algn="l" indent="0" marL="0">
              <a:buNone/>
            </a:pPr>
            <a:r>
              <a:rPr lang="en-US" sz="160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Adverse Reaction Management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3716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chemeClr val="accent3"/>
                </a:solidFill>
              </a:rPr>
              <a:t>情况 Situation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5852160" y="13716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chemeClr val="accent1"/>
                </a:solidFill>
              </a:rPr>
              <a:t>处理 Action</a:t>
            </a:r>
            <a:endParaRPr lang="en-US" sz="1300" dirty="0"/>
          </a:p>
        </p:txBody>
      </p:sp>
      <p:sp>
        <p:nvSpPr>
          <p:cNvPr id="5" name="situation 1"/>
          <p:cNvSpPr/>
          <p:nvPr/>
        </p:nvSpPr>
        <p:spPr>
          <a:xfrm>
            <a:off x="457200" y="1691640"/>
            <a:ext cx="5120640" cy="1051560"/>
          </a:xfrm>
          <a:prstGeom prst="roundRect">
            <a:avLst>
              <a:gd name="adj" fmla="val 10435"/>
            </a:avLst>
          </a:prstGeom>
          <a:solidFill>
            <a:srgbClr val="FCEDE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1737360"/>
            <a:ext cx="4754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操作中持续明显刺痛、灼烧感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chemeClr val="accent6"/>
                </a:solidFill>
              </a:rPr>
              <a:t>Severe, persistent stinging or burning during treatment</a:t>
            </a:r>
            <a:endParaRPr lang="en-US" sz="1400" dirty="0"/>
          </a:p>
        </p:txBody>
      </p:sp>
      <p:sp>
        <p:nvSpPr>
          <p:cNvPr id="7" name="arrow 1"/>
          <p:cNvSpPr/>
          <p:nvPr/>
        </p:nvSpPr>
        <p:spPr>
          <a:xfrm>
            <a:off x="5650992" y="2011680"/>
            <a:ext cx="457200" cy="411480"/>
          </a:xfrm>
          <a:prstGeom prst="rightArrow">
            <a:avLst/>
          </a:prstGeom>
          <a:solidFill>
            <a:schemeClr val="accent4"/>
          </a:solidFill>
          <a:ln/>
        </p:spPr>
      </p:sp>
      <p:sp>
        <p:nvSpPr>
          <p:cNvPr id="8" name="action 1"/>
          <p:cNvSpPr/>
          <p:nvPr/>
        </p:nvSpPr>
        <p:spPr>
          <a:xfrm>
            <a:off x="6181344" y="1691640"/>
            <a:ext cx="5522976" cy="1051560"/>
          </a:xfrm>
          <a:prstGeom prst="roundRect">
            <a:avLst>
              <a:gd name="adj" fmla="val 10435"/>
            </a:avLst>
          </a:prstGeom>
          <a:solidFill>
            <a:schemeClr val="bg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364224" y="1737360"/>
            <a:ext cx="5166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立刻全部擦拭干净，冷喷降温；下次缩短停留时间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chemeClr val="accent6"/>
                </a:solidFill>
              </a:rPr>
              <a:t>Wipe off all solution immediately, apply cool mist; reduce dwell time next visit</a:t>
            </a:r>
            <a:endParaRPr lang="en-US" sz="1400" dirty="0"/>
          </a:p>
        </p:txBody>
      </p:sp>
      <p:sp>
        <p:nvSpPr>
          <p:cNvPr id="10" name="situation 2"/>
          <p:cNvSpPr/>
          <p:nvPr/>
        </p:nvSpPr>
        <p:spPr>
          <a:xfrm>
            <a:off x="457200" y="2880360"/>
            <a:ext cx="5120640" cy="1051560"/>
          </a:xfrm>
          <a:prstGeom prst="roundRect">
            <a:avLst>
              <a:gd name="adj" fmla="val 10435"/>
            </a:avLst>
          </a:prstGeom>
          <a:solidFill>
            <a:srgbClr val="FCEDE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40080" y="2926080"/>
            <a:ext cx="4754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术后持续泛红超过3天不退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chemeClr val="accent6"/>
                </a:solidFill>
              </a:rPr>
              <a:t>Redness persisting beyond 3 days</a:t>
            </a:r>
            <a:endParaRPr lang="en-US" sz="1400" dirty="0"/>
          </a:p>
        </p:txBody>
      </p:sp>
      <p:sp>
        <p:nvSpPr>
          <p:cNvPr id="12" name="arrow 2"/>
          <p:cNvSpPr/>
          <p:nvPr/>
        </p:nvSpPr>
        <p:spPr>
          <a:xfrm>
            <a:off x="5650992" y="3200400"/>
            <a:ext cx="457200" cy="411480"/>
          </a:xfrm>
          <a:prstGeom prst="rightArrow">
            <a:avLst/>
          </a:prstGeom>
          <a:solidFill>
            <a:schemeClr val="accent4"/>
          </a:solidFill>
          <a:ln/>
        </p:spPr>
      </p:sp>
      <p:sp>
        <p:nvSpPr>
          <p:cNvPr id="13" name="action 2"/>
          <p:cNvSpPr/>
          <p:nvPr/>
        </p:nvSpPr>
        <p:spPr>
          <a:xfrm>
            <a:off x="6181344" y="2880360"/>
            <a:ext cx="5522976" cy="1051560"/>
          </a:xfrm>
          <a:prstGeom prst="roundRect">
            <a:avLst>
              <a:gd name="adj" fmla="val 10435"/>
            </a:avLst>
          </a:prstGeom>
          <a:solidFill>
            <a:schemeClr val="bg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364224" y="2926080"/>
            <a:ext cx="5166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安排免费舒缓修护护理；居家只用简单修护产品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chemeClr val="accent6"/>
                </a:solidFill>
              </a:rPr>
              <a:t>Complimentary soothing repair facial; ultra‑gentle home skincare only</a:t>
            </a:r>
            <a:endParaRPr lang="en-US" sz="1400" dirty="0"/>
          </a:p>
        </p:txBody>
      </p:sp>
      <p:sp>
        <p:nvSpPr>
          <p:cNvPr id="15" name="situation 3"/>
          <p:cNvSpPr/>
          <p:nvPr/>
        </p:nvSpPr>
        <p:spPr>
          <a:xfrm>
            <a:off x="457200" y="4069080"/>
            <a:ext cx="5120640" cy="1051560"/>
          </a:xfrm>
          <a:prstGeom prst="roundRect">
            <a:avLst>
              <a:gd name="adj" fmla="val 10435"/>
            </a:avLst>
          </a:prstGeom>
          <a:solidFill>
            <a:srgbClr val="FCEDE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0080" y="4114800"/>
            <a:ext cx="4754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极少情况轻微干燥起皮（非结痂脱皮）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chemeClr val="accent6"/>
                </a:solidFill>
              </a:rPr>
              <a:t>Rare mild dry flaking (not heavy peeling)</a:t>
            </a:r>
            <a:endParaRPr lang="en-US" sz="1400" dirty="0"/>
          </a:p>
        </p:txBody>
      </p:sp>
      <p:sp>
        <p:nvSpPr>
          <p:cNvPr id="17" name="arrow 3"/>
          <p:cNvSpPr/>
          <p:nvPr/>
        </p:nvSpPr>
        <p:spPr>
          <a:xfrm>
            <a:off x="5650992" y="4389120"/>
            <a:ext cx="457200" cy="411480"/>
          </a:xfrm>
          <a:prstGeom prst="rightArrow">
            <a:avLst/>
          </a:prstGeom>
          <a:solidFill>
            <a:schemeClr val="accent4"/>
          </a:solidFill>
          <a:ln/>
        </p:spPr>
      </p:sp>
      <p:sp>
        <p:nvSpPr>
          <p:cNvPr id="18" name="action 3"/>
          <p:cNvSpPr/>
          <p:nvPr/>
        </p:nvSpPr>
        <p:spPr>
          <a:xfrm>
            <a:off x="6181344" y="4069080"/>
            <a:ext cx="5522976" cy="1051560"/>
          </a:xfrm>
          <a:prstGeom prst="roundRect">
            <a:avLst>
              <a:gd name="adj" fmla="val 10435"/>
            </a:avLst>
          </a:prstGeom>
          <a:solidFill>
            <a:schemeClr val="bg2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364224" y="4114800"/>
            <a:ext cx="5166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加强保湿，禁止撕皮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chemeClr val="accent6"/>
                </a:solidFill>
              </a:rPr>
              <a:t>Intensify moisturiser; never pick or peel the skin manually</a:t>
            </a:r>
            <a:endParaRPr lang="en-US" sz="1400" dirty="0"/>
          </a:p>
        </p:txBody>
      </p:sp>
      <p:sp>
        <p:nvSpPr>
          <p:cNvPr id="20" name="key point banner"/>
          <p:cNvSpPr/>
          <p:nvPr/>
        </p:nvSpPr>
        <p:spPr>
          <a:xfrm>
            <a:off x="457200" y="5349240"/>
            <a:ext cx="11247120" cy="868680"/>
          </a:xfrm>
          <a:prstGeom prst="roundRect">
            <a:avLst>
              <a:gd name="adj" fmla="val 12632"/>
            </a:avLst>
          </a:prstGeom>
          <a:solidFill>
            <a:schemeClr val="tx2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31520" y="5349240"/>
            <a:ext cx="10698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bg1"/>
                </a:solidFill>
              </a:rPr>
              <a:t>重点：规范操作后不会大面积脱皮。明显脱皮代表停留时间过长或刺激过度，美疗师需要复盘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CFE0D2"/>
                </a:solidFill>
              </a:rPr>
              <a:t>Key point: a proper XE‑LHA Peel should NOT cause heavy peeling. Heavy peeling means over‑exfoliation — review your technique.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65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11247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客户案例｜前后对比</a:t>
            </a:r>
            <a:endParaRPr lang="en-US" sz="3000" dirty="0"/>
          </a:p>
          <a:p>
            <a:pPr algn="l" indent="0" marL="0">
              <a:buNone/>
            </a:pPr>
            <a:r>
              <a:rPr lang="en-US" sz="160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&amp; After Gallery · clinical cases from the XE‑LHA brand deck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371600"/>
            <a:ext cx="3566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色素沉着与干燥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Pigmentation &amp; dryness (body)  ·  5 sessions · weekly</a:t>
            </a:r>
            <a:endParaRPr lang="en-US" sz="1500" dirty="0"/>
          </a:p>
        </p:txBody>
      </p:sp>
      <p:pic>
        <p:nvPicPr>
          <p:cNvPr id="4" name="Pigmentation &amp; dryness (body) before" descr="Pigmentation &amp; dryness (body) befor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2013624"/>
            <a:ext cx="3566160" cy="1669464"/>
          </a:xfrm>
          <a:prstGeom prst="rect">
            <a:avLst/>
          </a:prstGeom>
        </p:spPr>
      </p:pic>
      <p:pic>
        <p:nvPicPr>
          <p:cNvPr id="5" name="Pigmentation &amp; dryness (body) after" descr="Pigmentation &amp; dryness (body) aft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750984"/>
            <a:ext cx="3566160" cy="1669464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4297680" y="1371600"/>
            <a:ext cx="3566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色素沉着与黄褐斑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Pigmentation &amp; melasma  ·  5 sessions · weekly</a:t>
            </a:r>
            <a:endParaRPr lang="en-US" sz="1500" dirty="0"/>
          </a:p>
        </p:txBody>
      </p:sp>
      <p:pic>
        <p:nvPicPr>
          <p:cNvPr id="7" name="Pigmentation &amp; melasma before" descr="Pigmentation &amp; melasma befor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7680" y="2013624"/>
            <a:ext cx="3566160" cy="1669464"/>
          </a:xfrm>
          <a:prstGeom prst="rect">
            <a:avLst/>
          </a:prstGeom>
        </p:spPr>
      </p:pic>
      <p:pic>
        <p:nvPicPr>
          <p:cNvPr id="8" name="Pigmentation &amp; melasma after" descr="Pigmentation &amp; melasma aft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7680" y="3750984"/>
            <a:ext cx="3566160" cy="1669464"/>
          </a:xfrm>
          <a:prstGeom prst="rect">
            <a:avLst/>
          </a:prstGeom>
        </p:spPr>
      </p:pic>
      <p:sp>
        <p:nvSpPr>
          <p:cNvPr id="9" name="Text 3"/>
          <p:cNvSpPr txBox="1"/>
          <p:nvPr/>
        </p:nvSpPr>
        <p:spPr>
          <a:xfrm>
            <a:off x="8138160" y="1371600"/>
            <a:ext cx="3566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痘痘肌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Acne‑prone skin  ·  3 sessions · weekly</a:t>
            </a:r>
            <a:endParaRPr lang="en-US" sz="1500" dirty="0"/>
          </a:p>
        </p:txBody>
      </p:sp>
      <p:pic>
        <p:nvPicPr>
          <p:cNvPr id="10" name="Acne‑prone skin before" descr="Acne‑prone skin befor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38160" y="2013624"/>
            <a:ext cx="3566160" cy="1669464"/>
          </a:xfrm>
          <a:prstGeom prst="rect">
            <a:avLst/>
          </a:prstGeom>
        </p:spPr>
      </p:pic>
      <p:pic>
        <p:nvPicPr>
          <p:cNvPr id="11" name="Acne‑prone skin after" descr="Acne‑prone skin after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38160" y="3750984"/>
            <a:ext cx="3566160" cy="1669464"/>
          </a:xfrm>
          <a:prstGeom prst="rect">
            <a:avLst/>
          </a:prstGeom>
        </p:spPr>
      </p:pic>
      <p:sp>
        <p:nvSpPr>
          <p:cNvPr id="12" name="disclaimer"/>
          <p:cNvSpPr/>
          <p:nvPr/>
        </p:nvSpPr>
        <p:spPr>
          <a:xfrm>
            <a:off x="457200" y="5532120"/>
            <a:ext cx="11247120" cy="777240"/>
          </a:xfrm>
          <a:prstGeom prst="roundRect">
            <a:avLst>
              <a:gd name="adj" fmla="val 14118"/>
            </a:avLst>
          </a:prstGeom>
          <a:solidFill>
            <a:srgbClr val="FCEDE8"/>
          </a:solidFill>
          <a:ln/>
        </p:spPr>
      </p:sp>
      <p:sp>
        <p:nvSpPr>
          <p:cNvPr id="13" name="Text 5"/>
          <p:cNvSpPr txBox="1"/>
          <p:nvPr/>
        </p:nvSpPr>
        <p:spPr>
          <a:xfrm>
            <a:off x="640080" y="553212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000000"/>
                </a:solidFill>
              </a:rPr>
              <a:t>提示：每位客人原始肤质不同，效果存在个体差异，不能承诺100%相同效果。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chemeClr val="accent6"/>
                </a:solidFill>
              </a:rPr>
              <a:t>Disclaimer: individual results vary — never promise identical outcomes. Source: XE‑LHA brand clinical cases (YSmedi). Replace with our own client photos when available.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65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11247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常见问答 FAQ (1/2)</a:t>
            </a:r>
            <a:endParaRPr lang="en-US" sz="3000" dirty="0"/>
          </a:p>
          <a:p>
            <a:pPr algn="l" indent="0" marL="0">
              <a:buNone/>
            </a:pPr>
            <a:r>
              <a:rPr lang="en-US" sz="160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Frequently Asked Questions · learn these answers by heart 美疗师必背</a:t>
            </a:r>
            <a:endParaRPr lang="en-US" sz="3000" dirty="0"/>
          </a:p>
        </p:txBody>
      </p:sp>
      <p:sp>
        <p:nvSpPr>
          <p:cNvPr id="3" name="question card 1"/>
          <p:cNvSpPr/>
          <p:nvPr/>
        </p:nvSpPr>
        <p:spPr>
          <a:xfrm>
            <a:off x="457200" y="1463040"/>
            <a:ext cx="4023360" cy="2286000"/>
          </a:xfrm>
          <a:prstGeom prst="roundRect">
            <a:avLst>
              <a:gd name="adj" fmla="val 4800"/>
            </a:avLst>
          </a:prstGeom>
          <a:solidFill>
            <a:schemeClr val="tx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164592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4"/>
                </a:solidFill>
              </a:rPr>
              <a:t>Q1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2148840"/>
            <a:ext cx="35661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chemeClr val="bg1"/>
                </a:solidFill>
              </a:rPr>
              <a:t>做完会脱皮吗？恢复期多久？</a:t>
            </a:r>
            <a:endParaRPr lang="en-US" sz="17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CFE0D2"/>
                </a:solidFill>
              </a:rPr>
              <a:t>Will my skin peel? How long is the downtime?</a:t>
            </a:r>
            <a:endParaRPr lang="en-US" sz="1700" dirty="0"/>
          </a:p>
        </p:txBody>
      </p:sp>
      <p:sp>
        <p:nvSpPr>
          <p:cNvPr id="6" name="answer card 1"/>
          <p:cNvSpPr/>
          <p:nvPr/>
        </p:nvSpPr>
        <p:spPr>
          <a:xfrm>
            <a:off x="4617720" y="1463040"/>
            <a:ext cx="7086600" cy="2286000"/>
          </a:xfrm>
          <a:prstGeom prst="roundRect">
            <a:avLst>
              <a:gd name="adj" fmla="val 4800"/>
            </a:avLst>
          </a:prstGeom>
          <a:solidFill>
            <a:schemeClr val="bg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4846320" y="16459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A  答 Answer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4846320" y="2103120"/>
            <a:ext cx="66294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000000"/>
                </a:solidFill>
              </a:rPr>
              <a:t>规范操作几乎不会明显脱皮，少数人微微干燥紧绷，可以正常上班、化妆，几乎零恢复期，非常适合新加坡上班族。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chemeClr val="accent6"/>
                </a:solidFill>
              </a:rPr>
              <a:t>Proper treatment causes almost no visible peeling. Mild dryness or tightness is possible. Clients can work and wear makeup as normal — near‑zero downtime, perfect for busy Singapore working clients.</a:t>
            </a:r>
            <a:endParaRPr lang="en-US" sz="1600" dirty="0"/>
          </a:p>
        </p:txBody>
      </p:sp>
      <p:sp>
        <p:nvSpPr>
          <p:cNvPr id="9" name="question card 2"/>
          <p:cNvSpPr/>
          <p:nvPr/>
        </p:nvSpPr>
        <p:spPr>
          <a:xfrm>
            <a:off x="457200" y="3931920"/>
            <a:ext cx="4023360" cy="2286000"/>
          </a:xfrm>
          <a:prstGeom prst="roundRect">
            <a:avLst>
              <a:gd name="adj" fmla="val 4800"/>
            </a:avLst>
          </a:prstGeom>
          <a:solidFill>
            <a:schemeClr val="tx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85800" y="411480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4"/>
                </a:solidFill>
              </a:rPr>
              <a:t>Q2</a:t>
            </a:r>
            <a:endParaRPr lang="en-US" sz="240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4617720"/>
            <a:ext cx="35661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chemeClr val="bg1"/>
                </a:solidFill>
              </a:rPr>
              <a:t>多久才看得见效果？</a:t>
            </a:r>
            <a:endParaRPr lang="en-US" sz="17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CFE0D2"/>
                </a:solidFill>
              </a:rPr>
              <a:t>When will I see visible improvement?</a:t>
            </a:r>
            <a:endParaRPr lang="en-US" sz="1700" dirty="0"/>
          </a:p>
        </p:txBody>
      </p:sp>
      <p:sp>
        <p:nvSpPr>
          <p:cNvPr id="12" name="answer card 2"/>
          <p:cNvSpPr/>
          <p:nvPr/>
        </p:nvSpPr>
        <p:spPr>
          <a:xfrm>
            <a:off x="4617720" y="3931920"/>
            <a:ext cx="7086600" cy="2286000"/>
          </a:xfrm>
          <a:prstGeom prst="roundRect">
            <a:avLst>
              <a:gd name="adj" fmla="val 4800"/>
            </a:avLst>
          </a:prstGeom>
          <a:solidFill>
            <a:schemeClr val="bg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846320" y="41148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A  答 Answer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4846320" y="4572000"/>
            <a:ext cx="66294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000000"/>
                </a:solidFill>
              </a:rPr>
              <a:t>单次做完立刻提亮；2‑3次后毛孔、出油明显改善；整套6次肤质根本性改善。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chemeClr val="accent6"/>
                </a:solidFill>
              </a:rPr>
              <a:t>Instant glow after one session; better oil control &amp; pores after 2–3 sessions; long‑term skin improvement after the full 6‑session course.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65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11247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常见问答 FAQ (2/2)</a:t>
            </a:r>
            <a:endParaRPr lang="en-US" sz="3000" dirty="0"/>
          </a:p>
          <a:p>
            <a:pPr algn="l" indent="0" marL="0">
              <a:buNone/>
            </a:pPr>
            <a:r>
              <a:rPr lang="en-US" sz="160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Frequently Asked Questions · learn these answers by heart 美疗师必背</a:t>
            </a:r>
            <a:endParaRPr lang="en-US" sz="3000" dirty="0"/>
          </a:p>
        </p:txBody>
      </p:sp>
      <p:sp>
        <p:nvSpPr>
          <p:cNvPr id="3" name="question card 3"/>
          <p:cNvSpPr/>
          <p:nvPr/>
        </p:nvSpPr>
        <p:spPr>
          <a:xfrm>
            <a:off x="457200" y="1463040"/>
            <a:ext cx="4023360" cy="2286000"/>
          </a:xfrm>
          <a:prstGeom prst="roundRect">
            <a:avLst>
              <a:gd name="adj" fmla="val 4800"/>
            </a:avLst>
          </a:prstGeom>
          <a:solidFill>
            <a:schemeClr val="tx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164592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4"/>
                </a:solidFill>
              </a:rPr>
              <a:t>Q3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2148840"/>
            <a:ext cx="35661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chemeClr val="bg1"/>
                </a:solidFill>
              </a:rPr>
              <a:t>敏感肌肤可以做焕肤吗？</a:t>
            </a:r>
            <a:endParaRPr lang="en-US" sz="17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CFE0D2"/>
                </a:solidFill>
              </a:rPr>
              <a:t>Is it safe for sensitive skin?</a:t>
            </a:r>
            <a:endParaRPr lang="en-US" sz="1700" dirty="0"/>
          </a:p>
        </p:txBody>
      </p:sp>
      <p:sp>
        <p:nvSpPr>
          <p:cNvPr id="6" name="answer card 3"/>
          <p:cNvSpPr/>
          <p:nvPr/>
        </p:nvSpPr>
        <p:spPr>
          <a:xfrm>
            <a:off x="4617720" y="1463040"/>
            <a:ext cx="7086600" cy="2286000"/>
          </a:xfrm>
          <a:prstGeom prst="roundRect">
            <a:avLst>
              <a:gd name="adj" fmla="val 4800"/>
            </a:avLst>
          </a:prstGeom>
          <a:solidFill>
            <a:schemeClr val="bg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4846320" y="16459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A  答 Answer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4846320" y="2103120"/>
            <a:ext cx="66294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000000"/>
                </a:solidFill>
              </a:rPr>
              <a:t>可以！这款焕肤一边代谢角质一边修护屏障，是酸类焕肤里温和度很高的一款。第一次需要缩短操作时间，并先评估皮肤状态。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chemeClr val="accent6"/>
                </a:solidFill>
              </a:rPr>
              <a:t>Yes. It exfoliates while repairing the barrier and is one of the mildest peeling treatments. Reduce dwell time for first‑time sensitive‑skin clients and assess the skin first.</a:t>
            </a:r>
            <a:endParaRPr lang="en-US" sz="1600" dirty="0"/>
          </a:p>
        </p:txBody>
      </p:sp>
      <p:sp>
        <p:nvSpPr>
          <p:cNvPr id="9" name="question card 4"/>
          <p:cNvSpPr/>
          <p:nvPr/>
        </p:nvSpPr>
        <p:spPr>
          <a:xfrm>
            <a:off x="457200" y="3931920"/>
            <a:ext cx="4023360" cy="2286000"/>
          </a:xfrm>
          <a:prstGeom prst="roundRect">
            <a:avLst>
              <a:gd name="adj" fmla="val 4800"/>
            </a:avLst>
          </a:prstGeom>
          <a:solidFill>
            <a:schemeClr val="tx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85800" y="411480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4"/>
                </a:solidFill>
              </a:rPr>
              <a:t>Q4</a:t>
            </a:r>
            <a:endParaRPr lang="en-US" sz="240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4617720"/>
            <a:ext cx="35661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chemeClr val="bg1"/>
                </a:solidFill>
              </a:rPr>
              <a:t>可以搭配什么项目一起做？</a:t>
            </a:r>
            <a:endParaRPr lang="en-US" sz="17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CFE0D2"/>
                </a:solidFill>
              </a:rPr>
              <a:t>What can we combine with XE‑LHA Peel?</a:t>
            </a:r>
            <a:endParaRPr lang="en-US" sz="1700" dirty="0"/>
          </a:p>
        </p:txBody>
      </p:sp>
      <p:sp>
        <p:nvSpPr>
          <p:cNvPr id="12" name="answer card 4"/>
          <p:cNvSpPr/>
          <p:nvPr/>
        </p:nvSpPr>
        <p:spPr>
          <a:xfrm>
            <a:off x="4617720" y="3931920"/>
            <a:ext cx="7086600" cy="2286000"/>
          </a:xfrm>
          <a:prstGeom prst="roundRect">
            <a:avLst>
              <a:gd name="adj" fmla="val 4800"/>
            </a:avLst>
          </a:prstGeom>
          <a:solidFill>
            <a:schemeClr val="bg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846320" y="41148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A  答 Answer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4846320" y="4572000"/>
            <a:ext cx="66294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000000"/>
                </a:solidFill>
              </a:rPr>
              <a:t>补水导入、LED光疗。⚠ 不可与破皮类项目同期操作，需间隔2周以上。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chemeClr val="accent6"/>
                </a:solidFill>
              </a:rPr>
              <a:t>Hydration infusion, LED light therapy. Avoid invasive needling / laser within a 2‑week window.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65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47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重点回顾</a:t>
            </a:r>
            <a:endParaRPr lang="en-US" sz="30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CFE0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Takeaways for Every Therapist</a:t>
            </a:r>
            <a:endParaRPr lang="en-US" sz="3000" dirty="0"/>
          </a:p>
        </p:txBody>
      </p:sp>
      <p:sp>
        <p:nvSpPr>
          <p:cNvPr id="3" name="takeaway card 1"/>
          <p:cNvSpPr/>
          <p:nvPr/>
        </p:nvSpPr>
        <p:spPr>
          <a:xfrm>
            <a:off x="457200" y="1645920"/>
            <a:ext cx="3566160" cy="2011680"/>
          </a:xfrm>
          <a:prstGeom prst="roundRect">
            <a:avLst>
              <a:gd name="adj" fmla="val 5455"/>
            </a:avLst>
          </a:prstGeom>
          <a:solidFill>
            <a:srgbClr val="3D5F4A"/>
          </a:solidFill>
          <a:ln/>
        </p:spPr>
      </p:sp>
      <p:sp>
        <p:nvSpPr>
          <p:cNvPr id="4" name="takeaway icon 1 bg"/>
          <p:cNvSpPr/>
          <p:nvPr/>
        </p:nvSpPr>
        <p:spPr>
          <a:xfrm>
            <a:off x="731520" y="192024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takeaway icon 1" descr="takeaway icon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1715" y="2110435"/>
            <a:ext cx="351130" cy="35113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31520" y="283464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800" b="1" dirty="0">
                <a:solidFill>
                  <a:schemeClr val="bg1"/>
                </a:solidFill>
              </a:rPr>
              <a:t>先评估，再操作</a:t>
            </a:r>
            <a:endParaRPr lang="en-US" sz="18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rgbClr val="CFE0D2"/>
                </a:solidFill>
              </a:rPr>
              <a:t>Assess skin &amp; check contraindications first</a:t>
            </a:r>
            <a:endParaRPr lang="en-US" sz="1800" dirty="0"/>
          </a:p>
        </p:txBody>
      </p:sp>
      <p:sp>
        <p:nvSpPr>
          <p:cNvPr id="7" name="takeaway card 2"/>
          <p:cNvSpPr/>
          <p:nvPr/>
        </p:nvSpPr>
        <p:spPr>
          <a:xfrm>
            <a:off x="4297680" y="1645920"/>
            <a:ext cx="3566160" cy="2011680"/>
          </a:xfrm>
          <a:prstGeom prst="roundRect">
            <a:avLst>
              <a:gd name="adj" fmla="val 5455"/>
            </a:avLst>
          </a:prstGeom>
          <a:solidFill>
            <a:srgbClr val="3D5F4A"/>
          </a:solidFill>
          <a:ln/>
        </p:spPr>
      </p:sp>
      <p:sp>
        <p:nvSpPr>
          <p:cNvPr id="8" name="takeaway icon 2 bg"/>
          <p:cNvSpPr/>
          <p:nvPr/>
        </p:nvSpPr>
        <p:spPr>
          <a:xfrm>
            <a:off x="4572000" y="192024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9" name="takeaway icon 2" descr="takeaway icon 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2195" y="2110435"/>
            <a:ext cx="351130" cy="35113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572000" y="283464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800" b="1" dirty="0">
                <a:solidFill>
                  <a:schemeClr val="bg1"/>
                </a:solidFill>
              </a:rPr>
              <a:t>避开眼周、嘴唇</a:t>
            </a:r>
            <a:endParaRPr lang="en-US" sz="18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rgbClr val="CFE0D2"/>
                </a:solidFill>
              </a:rPr>
              <a:t>Avoid the eye &amp; lip area</a:t>
            </a:r>
            <a:endParaRPr lang="en-US" sz="1800" dirty="0"/>
          </a:p>
        </p:txBody>
      </p:sp>
      <p:sp>
        <p:nvSpPr>
          <p:cNvPr id="11" name="takeaway card 3"/>
          <p:cNvSpPr/>
          <p:nvPr/>
        </p:nvSpPr>
        <p:spPr>
          <a:xfrm>
            <a:off x="8138160" y="1645920"/>
            <a:ext cx="3566160" cy="2011680"/>
          </a:xfrm>
          <a:prstGeom prst="roundRect">
            <a:avLst>
              <a:gd name="adj" fmla="val 5455"/>
            </a:avLst>
          </a:prstGeom>
          <a:solidFill>
            <a:srgbClr val="3D5F4A"/>
          </a:solidFill>
          <a:ln/>
        </p:spPr>
      </p:sp>
      <p:sp>
        <p:nvSpPr>
          <p:cNvPr id="12" name="takeaway icon 3 bg"/>
          <p:cNvSpPr/>
          <p:nvPr/>
        </p:nvSpPr>
        <p:spPr>
          <a:xfrm>
            <a:off x="8412480" y="192024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3" name="takeaway icon 3" descr="takeaway icon 3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2675" y="2110435"/>
            <a:ext cx="351130" cy="35113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8412480" y="283464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800" b="1" dirty="0">
                <a:solidFill>
                  <a:schemeClr val="bg1"/>
                </a:solidFill>
              </a:rPr>
              <a:t>控制停留时间</a:t>
            </a:r>
            <a:endParaRPr lang="en-US" sz="18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rgbClr val="CFE0D2"/>
                </a:solidFill>
              </a:rPr>
              <a:t>Watch dwell time — sensitive skin max 6 mins in total</a:t>
            </a:r>
            <a:endParaRPr lang="en-US" sz="1800" dirty="0"/>
          </a:p>
        </p:txBody>
      </p:sp>
      <p:sp>
        <p:nvSpPr>
          <p:cNvPr id="15" name="takeaway card 4"/>
          <p:cNvSpPr/>
          <p:nvPr/>
        </p:nvSpPr>
        <p:spPr>
          <a:xfrm>
            <a:off x="457200" y="3886200"/>
            <a:ext cx="3566160" cy="2011680"/>
          </a:xfrm>
          <a:prstGeom prst="roundRect">
            <a:avLst>
              <a:gd name="adj" fmla="val 5455"/>
            </a:avLst>
          </a:prstGeom>
          <a:solidFill>
            <a:srgbClr val="3D5F4A"/>
          </a:solidFill>
          <a:ln/>
        </p:spPr>
      </p:sp>
      <p:sp>
        <p:nvSpPr>
          <p:cNvPr id="16" name="takeaway icon 4 bg"/>
          <p:cNvSpPr/>
          <p:nvPr/>
        </p:nvSpPr>
        <p:spPr>
          <a:xfrm>
            <a:off x="731520" y="416052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7" name="takeaway icon 4" descr="takeaway icon 4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1715" y="4350715"/>
            <a:ext cx="351130" cy="35113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731520" y="507492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800" b="1" dirty="0">
                <a:solidFill>
                  <a:schemeClr val="bg1"/>
                </a:solidFill>
              </a:rPr>
              <a:t>只用凉水擦拭</a:t>
            </a:r>
            <a:endParaRPr lang="en-US" sz="18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rgbClr val="CFE0D2"/>
                </a:solidFill>
              </a:rPr>
              <a:t>Cool water only — never hot</a:t>
            </a:r>
            <a:endParaRPr lang="en-US" sz="1800" dirty="0"/>
          </a:p>
        </p:txBody>
      </p:sp>
      <p:sp>
        <p:nvSpPr>
          <p:cNvPr id="19" name="takeaway card 5"/>
          <p:cNvSpPr/>
          <p:nvPr/>
        </p:nvSpPr>
        <p:spPr>
          <a:xfrm>
            <a:off x="4297680" y="3886200"/>
            <a:ext cx="3566160" cy="2011680"/>
          </a:xfrm>
          <a:prstGeom prst="roundRect">
            <a:avLst>
              <a:gd name="adj" fmla="val 5455"/>
            </a:avLst>
          </a:prstGeom>
          <a:solidFill>
            <a:srgbClr val="3D5F4A"/>
          </a:solidFill>
          <a:ln/>
        </p:spPr>
      </p:sp>
      <p:sp>
        <p:nvSpPr>
          <p:cNvPr id="20" name="takeaway icon 5 bg"/>
          <p:cNvSpPr/>
          <p:nvPr/>
        </p:nvSpPr>
        <p:spPr>
          <a:xfrm>
            <a:off x="4572000" y="416052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1" name="takeaway icon 5" descr="takeaway icon 5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62195" y="4350715"/>
            <a:ext cx="351130" cy="351130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4572000" y="507492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800" b="1" dirty="0">
                <a:solidFill>
                  <a:schemeClr val="bg1"/>
                </a:solidFill>
              </a:rPr>
              <a:t>不应大面积脱皮</a:t>
            </a:r>
            <a:endParaRPr lang="en-US" sz="18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rgbClr val="CFE0D2"/>
                </a:solidFill>
              </a:rPr>
              <a:t>Heavy peeling = technique error, review it</a:t>
            </a:r>
            <a:endParaRPr lang="en-US" sz="1800" dirty="0"/>
          </a:p>
        </p:txBody>
      </p:sp>
      <p:sp>
        <p:nvSpPr>
          <p:cNvPr id="23" name="takeaway card 6"/>
          <p:cNvSpPr/>
          <p:nvPr/>
        </p:nvSpPr>
        <p:spPr>
          <a:xfrm>
            <a:off x="8138160" y="3886200"/>
            <a:ext cx="3566160" cy="2011680"/>
          </a:xfrm>
          <a:prstGeom prst="roundRect">
            <a:avLst>
              <a:gd name="adj" fmla="val 5455"/>
            </a:avLst>
          </a:prstGeom>
          <a:solidFill>
            <a:srgbClr val="3D5F4A"/>
          </a:solidFill>
          <a:ln/>
        </p:spPr>
      </p:sp>
      <p:sp>
        <p:nvSpPr>
          <p:cNvPr id="24" name="takeaway icon 6 bg"/>
          <p:cNvSpPr/>
          <p:nvPr/>
        </p:nvSpPr>
        <p:spPr>
          <a:xfrm>
            <a:off x="8412480" y="416052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5" name="takeaway icon 6" descr="takeaway icon 6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02675" y="4350715"/>
            <a:ext cx="351130" cy="351130"/>
          </a:xfrm>
          <a:prstGeom prst="rect">
            <a:avLst/>
          </a:prstGeom>
        </p:spPr>
      </p:pic>
      <p:sp>
        <p:nvSpPr>
          <p:cNvPr id="26" name="Text 18"/>
          <p:cNvSpPr txBox="1"/>
          <p:nvPr/>
        </p:nvSpPr>
        <p:spPr>
          <a:xfrm>
            <a:off x="8412480" y="507492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800" b="1" dirty="0">
                <a:solidFill>
                  <a:schemeClr val="bg1"/>
                </a:solidFill>
              </a:rPr>
              <a:t>严格防晒 SPF50+</a:t>
            </a:r>
            <a:endParaRPr lang="en-US" sz="18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rgbClr val="CFE0D2"/>
                </a:solidFill>
              </a:rPr>
              <a:t>Strict sun protection &amp; hydration at home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0D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XE-LHA Training">
  <a:themeElements>
    <a:clrScheme name="XE-LHA Training">
      <a:dk1>
        <a:srgbClr val="1F2D26"/>
      </a:dk1>
      <a:lt1>
        <a:srgbClr val="FFFFFF"/>
      </a:lt1>
      <a:dk2>
        <a:srgbClr val="2F4A3A"/>
      </a:dk2>
      <a:lt2>
        <a:srgbClr val="EEF4EC"/>
      </a:lt2>
      <a:accent1>
        <a:srgbClr val="4F8559"/>
      </a:accent1>
      <a:accent2>
        <a:srgbClr val="B8923A"/>
      </a:accent2>
      <a:accent3>
        <a:srgbClr val="D9694B"/>
      </a:accent3>
      <a:accent4>
        <a:srgbClr val="8FB996"/>
      </a:accent4>
      <a:accent5>
        <a:srgbClr val="F4E6C3"/>
      </a:accent5>
      <a:accent6>
        <a:srgbClr val="55665C"/>
      </a:accent6>
      <a:hlink>
        <a:srgbClr val="4F8559"/>
      </a:hlink>
      <a:folHlink>
        <a:srgbClr val="55665C"/>
      </a:folHlink>
    </a:clrScheme>
    <a:fontScheme name="XE-LHA Training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XE-LHA Peel Staff Training</dc:title>
  <dc:subject>PptxGenJS Presentation</dc:subject>
  <dc:creator>Salon Training</dc:creator>
  <cp:lastModifiedBy>Salon Training</cp:lastModifiedBy>
  <cp:revision>1</cp:revision>
  <dcterms:created xsi:type="dcterms:W3CDTF">2026-10-08T07:14:27Z</dcterms:created>
  <dcterms:modified xsi:type="dcterms:W3CDTF">2026-10-08T07:14:27Z</dcterms:modified>
</cp:coreProperties>
</file>